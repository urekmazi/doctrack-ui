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5" r:id="rId11"/>
    <p:sldId id="267" r:id="rId12"/>
    <p:sldId id="268" r:id="rId13"/>
    <p:sldId id="271" r:id="rId14"/>
    <p:sldId id="270" r:id="rId15"/>
    <p:sldId id="269" r:id="rId16"/>
    <p:sldId id="272" r:id="rId17"/>
    <p:sldId id="273" r:id="rId18"/>
    <p:sldId id="274" r:id="rId19"/>
    <p:sldId id="275" r:id="rId20"/>
    <p:sldId id="278" r:id="rId21"/>
    <p:sldId id="277" r:id="rId22"/>
    <p:sldId id="276" r:id="rId23"/>
    <p:sldId id="279" r:id="rId24"/>
    <p:sldId id="266" r:id="rId25"/>
  </p:sldIdLst>
  <p:sldSz cx="12192000" cy="68580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7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8656A96-7178-4BD3-A87C-5FC0C97AAFF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1CFDE2A2-A695-4F34-9B98-E0A136EDAFD1}">
      <dgm:prSet/>
      <dgm:spPr/>
      <dgm:t>
        <a:bodyPr/>
        <a:lstStyle/>
        <a:p>
          <a:r>
            <a:rPr lang="en-PH" b="1" i="0"/>
            <a:t>Key System Interactions</a:t>
          </a:r>
          <a:r>
            <a:rPr lang="en-PH" b="0" i="0"/>
            <a:t>:</a:t>
          </a:r>
          <a:endParaRPr lang="en-US"/>
        </a:p>
      </dgm:t>
    </dgm:pt>
    <dgm:pt modelId="{3C20A87E-12E3-4075-BF28-345C39E5F35E}" type="parTrans" cxnId="{CC40306D-D09A-4CE1-B899-6FA9FD904332}">
      <dgm:prSet/>
      <dgm:spPr/>
      <dgm:t>
        <a:bodyPr/>
        <a:lstStyle/>
        <a:p>
          <a:endParaRPr lang="en-US"/>
        </a:p>
      </dgm:t>
    </dgm:pt>
    <dgm:pt modelId="{9FA1CDC4-C487-4BDE-ADD0-99328A2EFCCA}" type="sibTrans" cxnId="{CC40306D-D09A-4CE1-B899-6FA9FD904332}">
      <dgm:prSet/>
      <dgm:spPr/>
      <dgm:t>
        <a:bodyPr/>
        <a:lstStyle/>
        <a:p>
          <a:endParaRPr lang="en-US"/>
        </a:p>
      </dgm:t>
    </dgm:pt>
    <dgm:pt modelId="{7EEDD94A-93A6-48EE-9B89-332C40945155}">
      <dgm:prSet/>
      <dgm:spPr/>
      <dgm:t>
        <a:bodyPr/>
        <a:lstStyle/>
        <a:p>
          <a:r>
            <a:rPr lang="en-PH" b="1" i="0" dirty="0"/>
            <a:t>Document Reception</a:t>
          </a:r>
          <a:r>
            <a:rPr lang="en-PH" b="0" i="0" dirty="0"/>
            <a:t>: Physical document arrives; operator initiates process in system.</a:t>
          </a:r>
          <a:endParaRPr lang="en-US" dirty="0"/>
        </a:p>
      </dgm:t>
    </dgm:pt>
    <dgm:pt modelId="{C625ACDB-724C-4A36-B21C-FABEE3F0E3A0}" type="parTrans" cxnId="{61D8AD2D-0A6F-4E70-B950-7F254C035D0A}">
      <dgm:prSet/>
      <dgm:spPr/>
      <dgm:t>
        <a:bodyPr/>
        <a:lstStyle/>
        <a:p>
          <a:endParaRPr lang="en-US"/>
        </a:p>
      </dgm:t>
    </dgm:pt>
    <dgm:pt modelId="{128699B6-D7B9-496E-B175-888011924ECA}" type="sibTrans" cxnId="{61D8AD2D-0A6F-4E70-B950-7F254C035D0A}">
      <dgm:prSet/>
      <dgm:spPr/>
      <dgm:t>
        <a:bodyPr/>
        <a:lstStyle/>
        <a:p>
          <a:endParaRPr lang="en-US"/>
        </a:p>
      </dgm:t>
    </dgm:pt>
    <dgm:pt modelId="{D5513BDF-EE06-462B-93F6-5B4113E0760C}">
      <dgm:prSet/>
      <dgm:spPr/>
      <dgm:t>
        <a:bodyPr/>
        <a:lstStyle/>
        <a:p>
          <a:r>
            <a:rPr lang="en-PH" b="1" i="0"/>
            <a:t>Timestamp</a:t>
          </a:r>
          <a:r>
            <a:rPr lang="en-PH" b="0" i="0"/>
            <a:t>: Automatic recording of date/time received.</a:t>
          </a:r>
          <a:endParaRPr lang="en-US"/>
        </a:p>
      </dgm:t>
    </dgm:pt>
    <dgm:pt modelId="{5F20A53E-AF50-48E0-BCE9-ED01772B85C8}" type="parTrans" cxnId="{096BE92E-7D66-4B84-B797-4DB276A339F6}">
      <dgm:prSet/>
      <dgm:spPr/>
      <dgm:t>
        <a:bodyPr/>
        <a:lstStyle/>
        <a:p>
          <a:endParaRPr lang="en-US"/>
        </a:p>
      </dgm:t>
    </dgm:pt>
    <dgm:pt modelId="{997985F6-AF2F-4C15-B40F-0E6F0BD642B5}" type="sibTrans" cxnId="{096BE92E-7D66-4B84-B797-4DB276A339F6}">
      <dgm:prSet/>
      <dgm:spPr/>
      <dgm:t>
        <a:bodyPr/>
        <a:lstStyle/>
        <a:p>
          <a:endParaRPr lang="en-US"/>
        </a:p>
      </dgm:t>
    </dgm:pt>
    <dgm:pt modelId="{B4670889-24A4-4ABB-8123-811594B9E846}">
      <dgm:prSet/>
      <dgm:spPr/>
      <dgm:t>
        <a:bodyPr/>
        <a:lstStyle/>
        <a:p>
          <a:r>
            <a:rPr lang="en-PH" b="1" i="0" dirty="0"/>
            <a:t>Scanner Integration</a:t>
          </a:r>
          <a:r>
            <a:rPr lang="en-PH" b="0" i="0" dirty="0"/>
            <a:t>: Network scanner sends </a:t>
          </a:r>
          <a:r>
            <a:rPr lang="en-PH" i="0" dirty="0"/>
            <a:t>images directly to </a:t>
          </a:r>
          <a:r>
            <a:rPr lang="en-PH" b="0" i="0" dirty="0"/>
            <a:t>the system.</a:t>
          </a:r>
          <a:endParaRPr lang="en-US" dirty="0"/>
        </a:p>
      </dgm:t>
    </dgm:pt>
    <dgm:pt modelId="{A13B1E13-C05B-4F0F-99AA-33856AB29FFD}" type="parTrans" cxnId="{77000191-5D2F-4F9A-BE30-A5FFC54E7DFB}">
      <dgm:prSet/>
      <dgm:spPr/>
      <dgm:t>
        <a:bodyPr/>
        <a:lstStyle/>
        <a:p>
          <a:endParaRPr lang="en-US"/>
        </a:p>
      </dgm:t>
    </dgm:pt>
    <dgm:pt modelId="{2D9A3DC2-7FF9-4BCB-B60E-843655C9879B}" type="sibTrans" cxnId="{77000191-5D2F-4F9A-BE30-A5FFC54E7DFB}">
      <dgm:prSet/>
      <dgm:spPr/>
      <dgm:t>
        <a:bodyPr/>
        <a:lstStyle/>
        <a:p>
          <a:endParaRPr lang="en-US"/>
        </a:p>
      </dgm:t>
    </dgm:pt>
    <dgm:pt modelId="{B4367AFA-282B-4C19-889F-906E5C4831DE}">
      <dgm:prSet/>
      <dgm:spPr/>
      <dgm:t>
        <a:bodyPr/>
        <a:lstStyle/>
        <a:p>
          <a:r>
            <a:rPr lang="en-PH" b="1" i="0" dirty="0"/>
            <a:t>OCR Engine</a:t>
          </a:r>
          <a:r>
            <a:rPr lang="en-PH" b="0" i="0" dirty="0"/>
            <a:t>: Extracts text from scanned documents for auto-population.</a:t>
          </a:r>
          <a:endParaRPr lang="en-US" dirty="0"/>
        </a:p>
      </dgm:t>
    </dgm:pt>
    <dgm:pt modelId="{92842025-E11F-41D2-A437-4B39ED651443}" type="parTrans" cxnId="{0523B476-061C-4F72-8639-59E75A210E71}">
      <dgm:prSet/>
      <dgm:spPr/>
      <dgm:t>
        <a:bodyPr/>
        <a:lstStyle/>
        <a:p>
          <a:endParaRPr lang="en-US"/>
        </a:p>
      </dgm:t>
    </dgm:pt>
    <dgm:pt modelId="{C013F67A-AE8F-422F-A37A-DB94B810D79B}" type="sibTrans" cxnId="{0523B476-061C-4F72-8639-59E75A210E71}">
      <dgm:prSet/>
      <dgm:spPr/>
      <dgm:t>
        <a:bodyPr/>
        <a:lstStyle/>
        <a:p>
          <a:endParaRPr lang="en-US"/>
        </a:p>
      </dgm:t>
    </dgm:pt>
    <dgm:pt modelId="{19598EEE-6247-493F-9E03-21E3AB60066A}">
      <dgm:prSet/>
      <dgm:spPr/>
      <dgm:t>
        <a:bodyPr/>
        <a:lstStyle/>
        <a:p>
          <a:r>
            <a:rPr lang="en-PH" b="1" i="0"/>
            <a:t>Database</a:t>
          </a:r>
          <a:r>
            <a:rPr lang="en-PH" b="0" i="0"/>
            <a:t>: Stores all metadata, file paths, and routing history.</a:t>
          </a:r>
          <a:endParaRPr lang="en-US"/>
        </a:p>
      </dgm:t>
    </dgm:pt>
    <dgm:pt modelId="{701E2591-33F1-49D1-A9A9-F795695B1458}" type="parTrans" cxnId="{92D33459-6038-4512-8B9F-82A2BEB176AC}">
      <dgm:prSet/>
      <dgm:spPr/>
      <dgm:t>
        <a:bodyPr/>
        <a:lstStyle/>
        <a:p>
          <a:endParaRPr lang="en-US"/>
        </a:p>
      </dgm:t>
    </dgm:pt>
    <dgm:pt modelId="{19BA014F-559B-4133-894B-7F6FA83E414E}" type="sibTrans" cxnId="{92D33459-6038-4512-8B9F-82A2BEB176AC}">
      <dgm:prSet/>
      <dgm:spPr/>
      <dgm:t>
        <a:bodyPr/>
        <a:lstStyle/>
        <a:p>
          <a:endParaRPr lang="en-US"/>
        </a:p>
      </dgm:t>
    </dgm:pt>
    <dgm:pt modelId="{2F17B672-64BA-434B-805B-5DA2D99E3534}">
      <dgm:prSet/>
      <dgm:spPr/>
      <dgm:t>
        <a:bodyPr/>
        <a:lstStyle/>
        <a:p>
          <a:r>
            <a:rPr lang="en-PH" b="1" i="0"/>
            <a:t>Excel Log</a:t>
          </a:r>
          <a:r>
            <a:rPr lang="en-PH" b="0" i="0"/>
            <a:t>: Real-time updates for monitoring purposes (optional, as database is primary).</a:t>
          </a:r>
          <a:endParaRPr lang="en-US"/>
        </a:p>
      </dgm:t>
    </dgm:pt>
    <dgm:pt modelId="{55716157-A827-4C2A-97A9-782C3B3BCAAA}" type="parTrans" cxnId="{549866F5-1197-4243-AB52-92E101EC8D24}">
      <dgm:prSet/>
      <dgm:spPr/>
      <dgm:t>
        <a:bodyPr/>
        <a:lstStyle/>
        <a:p>
          <a:endParaRPr lang="en-US"/>
        </a:p>
      </dgm:t>
    </dgm:pt>
    <dgm:pt modelId="{70F64F36-7311-41E8-A19F-DBC4D4FFA8A7}" type="sibTrans" cxnId="{549866F5-1197-4243-AB52-92E101EC8D24}">
      <dgm:prSet/>
      <dgm:spPr/>
      <dgm:t>
        <a:bodyPr/>
        <a:lstStyle/>
        <a:p>
          <a:endParaRPr lang="en-US"/>
        </a:p>
      </dgm:t>
    </dgm:pt>
    <dgm:pt modelId="{C48F698B-94B2-4B3F-B5FA-3E94D72E7E60}">
      <dgm:prSet/>
      <dgm:spPr/>
      <dgm:t>
        <a:bodyPr/>
        <a:lstStyle/>
        <a:p>
          <a:r>
            <a:rPr lang="en-PH" b="1" i="0"/>
            <a:t>Print Service</a:t>
          </a:r>
          <a:r>
            <a:rPr lang="en-PH" b="0" i="0"/>
            <a:t>: Generates transmittal slips and control number stickers.</a:t>
          </a:r>
          <a:endParaRPr lang="en-US"/>
        </a:p>
      </dgm:t>
    </dgm:pt>
    <dgm:pt modelId="{B973F7DE-F3E0-40A1-903F-977D4D212BEE}" type="parTrans" cxnId="{0E009B47-5A33-4C17-A3BE-BA8BF269D271}">
      <dgm:prSet/>
      <dgm:spPr/>
      <dgm:t>
        <a:bodyPr/>
        <a:lstStyle/>
        <a:p>
          <a:endParaRPr lang="en-US"/>
        </a:p>
      </dgm:t>
    </dgm:pt>
    <dgm:pt modelId="{E982EDCB-7D21-4D85-A920-19BFCACC32DD}" type="sibTrans" cxnId="{0E009B47-5A33-4C17-A3BE-BA8BF269D271}">
      <dgm:prSet/>
      <dgm:spPr/>
      <dgm:t>
        <a:bodyPr/>
        <a:lstStyle/>
        <a:p>
          <a:endParaRPr lang="en-US"/>
        </a:p>
      </dgm:t>
    </dgm:pt>
    <dgm:pt modelId="{841F970C-FE0B-4AFF-9C6D-0C664DF0881C}">
      <dgm:prSet/>
      <dgm:spPr/>
      <dgm:t>
        <a:bodyPr/>
        <a:lstStyle/>
        <a:p>
          <a:r>
            <a:rPr lang="en-PH" b="1" i="0"/>
            <a:t>Digital Routing</a:t>
          </a:r>
          <a:r>
            <a:rPr lang="en-PH" b="0" i="0"/>
            <a:t>: EDMS handles permissions and notifications for digital endorsement.</a:t>
          </a:r>
          <a:endParaRPr lang="en-US"/>
        </a:p>
      </dgm:t>
    </dgm:pt>
    <dgm:pt modelId="{5CBD28D5-E679-48F2-B5A6-44D4539A4B28}" type="parTrans" cxnId="{5AB2FE67-6207-4C9F-89B2-6627A4AA6746}">
      <dgm:prSet/>
      <dgm:spPr/>
      <dgm:t>
        <a:bodyPr/>
        <a:lstStyle/>
        <a:p>
          <a:endParaRPr lang="en-US"/>
        </a:p>
      </dgm:t>
    </dgm:pt>
    <dgm:pt modelId="{E7519F60-4EEB-48E8-9DAC-58272FACD37B}" type="sibTrans" cxnId="{5AB2FE67-6207-4C9F-89B2-6627A4AA6746}">
      <dgm:prSet/>
      <dgm:spPr/>
      <dgm:t>
        <a:bodyPr/>
        <a:lstStyle/>
        <a:p>
          <a:endParaRPr lang="en-US"/>
        </a:p>
      </dgm:t>
    </dgm:pt>
    <dgm:pt modelId="{1547FF3E-D8FA-4D84-9ECF-CC3E102D6ECB}" type="pres">
      <dgm:prSet presAssocID="{18656A96-7178-4BD3-A87C-5FC0C97AAFFF}" presName="linear" presStyleCnt="0">
        <dgm:presLayoutVars>
          <dgm:animLvl val="lvl"/>
          <dgm:resizeHandles val="exact"/>
        </dgm:presLayoutVars>
      </dgm:prSet>
      <dgm:spPr/>
    </dgm:pt>
    <dgm:pt modelId="{E440199C-1849-4A0F-92EA-EAC53EDE502E}" type="pres">
      <dgm:prSet presAssocID="{1CFDE2A2-A695-4F34-9B98-E0A136EDAFD1}" presName="parentText" presStyleLbl="node1" presStyleIdx="0" presStyleCnt="9">
        <dgm:presLayoutVars>
          <dgm:chMax val="0"/>
          <dgm:bulletEnabled val="1"/>
        </dgm:presLayoutVars>
      </dgm:prSet>
      <dgm:spPr/>
    </dgm:pt>
    <dgm:pt modelId="{8B853820-03AA-4E35-B192-48EB644E2E4F}" type="pres">
      <dgm:prSet presAssocID="{9FA1CDC4-C487-4BDE-ADD0-99328A2EFCCA}" presName="spacer" presStyleCnt="0"/>
      <dgm:spPr/>
    </dgm:pt>
    <dgm:pt modelId="{840EBFBA-BDB1-4F3B-99FF-158F2056EB90}" type="pres">
      <dgm:prSet presAssocID="{7EEDD94A-93A6-48EE-9B89-332C40945155}" presName="parentText" presStyleLbl="node1" presStyleIdx="1" presStyleCnt="9">
        <dgm:presLayoutVars>
          <dgm:chMax val="0"/>
          <dgm:bulletEnabled val="1"/>
        </dgm:presLayoutVars>
      </dgm:prSet>
      <dgm:spPr/>
    </dgm:pt>
    <dgm:pt modelId="{459E1BDD-43F3-4331-BAAE-4A3FA7AD7461}" type="pres">
      <dgm:prSet presAssocID="{128699B6-D7B9-496E-B175-888011924ECA}" presName="spacer" presStyleCnt="0"/>
      <dgm:spPr/>
    </dgm:pt>
    <dgm:pt modelId="{A1EAD3E0-37DB-430E-8D6D-4545ACB70F8E}" type="pres">
      <dgm:prSet presAssocID="{D5513BDF-EE06-462B-93F6-5B4113E0760C}" presName="parentText" presStyleLbl="node1" presStyleIdx="2" presStyleCnt="9">
        <dgm:presLayoutVars>
          <dgm:chMax val="0"/>
          <dgm:bulletEnabled val="1"/>
        </dgm:presLayoutVars>
      </dgm:prSet>
      <dgm:spPr/>
    </dgm:pt>
    <dgm:pt modelId="{B73F9027-5606-4CBA-9D11-5E8AD7058A06}" type="pres">
      <dgm:prSet presAssocID="{997985F6-AF2F-4C15-B40F-0E6F0BD642B5}" presName="spacer" presStyleCnt="0"/>
      <dgm:spPr/>
    </dgm:pt>
    <dgm:pt modelId="{73F9ABF6-EA59-4FD8-B5CE-E2097724A217}" type="pres">
      <dgm:prSet presAssocID="{B4670889-24A4-4ABB-8123-811594B9E846}" presName="parentText" presStyleLbl="node1" presStyleIdx="3" presStyleCnt="9">
        <dgm:presLayoutVars>
          <dgm:chMax val="0"/>
          <dgm:bulletEnabled val="1"/>
        </dgm:presLayoutVars>
      </dgm:prSet>
      <dgm:spPr/>
    </dgm:pt>
    <dgm:pt modelId="{500C0E6B-6682-432F-8B60-80FAC8CD8276}" type="pres">
      <dgm:prSet presAssocID="{2D9A3DC2-7FF9-4BCB-B60E-843655C9879B}" presName="spacer" presStyleCnt="0"/>
      <dgm:spPr/>
    </dgm:pt>
    <dgm:pt modelId="{EA7C50E3-5713-4362-A9C7-1E5DAB022D5E}" type="pres">
      <dgm:prSet presAssocID="{B4367AFA-282B-4C19-889F-906E5C4831DE}" presName="parentText" presStyleLbl="node1" presStyleIdx="4" presStyleCnt="9">
        <dgm:presLayoutVars>
          <dgm:chMax val="0"/>
          <dgm:bulletEnabled val="1"/>
        </dgm:presLayoutVars>
      </dgm:prSet>
      <dgm:spPr/>
    </dgm:pt>
    <dgm:pt modelId="{0C54A7AE-F8B3-45DE-A02C-DB832041E010}" type="pres">
      <dgm:prSet presAssocID="{C013F67A-AE8F-422F-A37A-DB94B810D79B}" presName="spacer" presStyleCnt="0"/>
      <dgm:spPr/>
    </dgm:pt>
    <dgm:pt modelId="{F5705365-21CB-471D-AA77-A484516FBF4F}" type="pres">
      <dgm:prSet presAssocID="{19598EEE-6247-493F-9E03-21E3AB60066A}" presName="parentText" presStyleLbl="node1" presStyleIdx="5" presStyleCnt="9">
        <dgm:presLayoutVars>
          <dgm:chMax val="0"/>
          <dgm:bulletEnabled val="1"/>
        </dgm:presLayoutVars>
      </dgm:prSet>
      <dgm:spPr/>
    </dgm:pt>
    <dgm:pt modelId="{C479FCF8-148B-4134-949F-3BA75368C9CF}" type="pres">
      <dgm:prSet presAssocID="{19BA014F-559B-4133-894B-7F6FA83E414E}" presName="spacer" presStyleCnt="0"/>
      <dgm:spPr/>
    </dgm:pt>
    <dgm:pt modelId="{12BC31A0-13F7-47FB-9B60-5C797EDE79E3}" type="pres">
      <dgm:prSet presAssocID="{2F17B672-64BA-434B-805B-5DA2D99E3534}" presName="parentText" presStyleLbl="node1" presStyleIdx="6" presStyleCnt="9">
        <dgm:presLayoutVars>
          <dgm:chMax val="0"/>
          <dgm:bulletEnabled val="1"/>
        </dgm:presLayoutVars>
      </dgm:prSet>
      <dgm:spPr/>
    </dgm:pt>
    <dgm:pt modelId="{E3B8F0D7-616A-4C2F-9D3F-BF4D4ED323ED}" type="pres">
      <dgm:prSet presAssocID="{70F64F36-7311-41E8-A19F-DBC4D4FFA8A7}" presName="spacer" presStyleCnt="0"/>
      <dgm:spPr/>
    </dgm:pt>
    <dgm:pt modelId="{0735146E-0CC0-4091-BF15-A9452F255C31}" type="pres">
      <dgm:prSet presAssocID="{C48F698B-94B2-4B3F-B5FA-3E94D72E7E60}" presName="parentText" presStyleLbl="node1" presStyleIdx="7" presStyleCnt="9">
        <dgm:presLayoutVars>
          <dgm:chMax val="0"/>
          <dgm:bulletEnabled val="1"/>
        </dgm:presLayoutVars>
      </dgm:prSet>
      <dgm:spPr/>
    </dgm:pt>
    <dgm:pt modelId="{07783EEC-0E0D-4382-9A79-AA9F5B2F63BE}" type="pres">
      <dgm:prSet presAssocID="{E982EDCB-7D21-4D85-A920-19BFCACC32DD}" presName="spacer" presStyleCnt="0"/>
      <dgm:spPr/>
    </dgm:pt>
    <dgm:pt modelId="{E5FCE352-5F0D-4D46-B535-DFCC6A331915}" type="pres">
      <dgm:prSet presAssocID="{841F970C-FE0B-4AFF-9C6D-0C664DF0881C}" presName="parentText" presStyleLbl="node1" presStyleIdx="8" presStyleCnt="9">
        <dgm:presLayoutVars>
          <dgm:chMax val="0"/>
          <dgm:bulletEnabled val="1"/>
        </dgm:presLayoutVars>
      </dgm:prSet>
      <dgm:spPr/>
    </dgm:pt>
  </dgm:ptLst>
  <dgm:cxnLst>
    <dgm:cxn modelId="{D14C0402-A94E-4626-A26B-1815EBDFA6DC}" type="presOf" srcId="{1CFDE2A2-A695-4F34-9B98-E0A136EDAFD1}" destId="{E440199C-1849-4A0F-92EA-EAC53EDE502E}" srcOrd="0" destOrd="0" presId="urn:microsoft.com/office/officeart/2005/8/layout/vList2"/>
    <dgm:cxn modelId="{61D8AD2D-0A6F-4E70-B950-7F254C035D0A}" srcId="{18656A96-7178-4BD3-A87C-5FC0C97AAFFF}" destId="{7EEDD94A-93A6-48EE-9B89-332C40945155}" srcOrd="1" destOrd="0" parTransId="{C625ACDB-724C-4A36-B21C-FABEE3F0E3A0}" sibTransId="{128699B6-D7B9-496E-B175-888011924ECA}"/>
    <dgm:cxn modelId="{2B90042E-7541-4E92-8188-0F866323A586}" type="presOf" srcId="{19598EEE-6247-493F-9E03-21E3AB60066A}" destId="{F5705365-21CB-471D-AA77-A484516FBF4F}" srcOrd="0" destOrd="0" presId="urn:microsoft.com/office/officeart/2005/8/layout/vList2"/>
    <dgm:cxn modelId="{096BE92E-7D66-4B84-B797-4DB276A339F6}" srcId="{18656A96-7178-4BD3-A87C-5FC0C97AAFFF}" destId="{D5513BDF-EE06-462B-93F6-5B4113E0760C}" srcOrd="2" destOrd="0" parTransId="{5F20A53E-AF50-48E0-BCE9-ED01772B85C8}" sibTransId="{997985F6-AF2F-4C15-B40F-0E6F0BD642B5}"/>
    <dgm:cxn modelId="{7D18BA2F-D7D0-4F19-A201-4DEA2E7BE855}" type="presOf" srcId="{B4367AFA-282B-4C19-889F-906E5C4831DE}" destId="{EA7C50E3-5713-4362-A9C7-1E5DAB022D5E}" srcOrd="0" destOrd="0" presId="urn:microsoft.com/office/officeart/2005/8/layout/vList2"/>
    <dgm:cxn modelId="{2CE25430-D209-4CDA-81B0-F65D30D1352C}" type="presOf" srcId="{841F970C-FE0B-4AFF-9C6D-0C664DF0881C}" destId="{E5FCE352-5F0D-4D46-B535-DFCC6A331915}" srcOrd="0" destOrd="0" presId="urn:microsoft.com/office/officeart/2005/8/layout/vList2"/>
    <dgm:cxn modelId="{0E009B47-5A33-4C17-A3BE-BA8BF269D271}" srcId="{18656A96-7178-4BD3-A87C-5FC0C97AAFFF}" destId="{C48F698B-94B2-4B3F-B5FA-3E94D72E7E60}" srcOrd="7" destOrd="0" parTransId="{B973F7DE-F3E0-40A1-903F-977D4D212BEE}" sibTransId="{E982EDCB-7D21-4D85-A920-19BFCACC32DD}"/>
    <dgm:cxn modelId="{5AB2FE67-6207-4C9F-89B2-6627A4AA6746}" srcId="{18656A96-7178-4BD3-A87C-5FC0C97AAFFF}" destId="{841F970C-FE0B-4AFF-9C6D-0C664DF0881C}" srcOrd="8" destOrd="0" parTransId="{5CBD28D5-E679-48F2-B5A6-44D4539A4B28}" sibTransId="{E7519F60-4EEB-48E8-9DAC-58272FACD37B}"/>
    <dgm:cxn modelId="{33ECED49-262C-4331-96A4-811BA0B08FE9}" type="presOf" srcId="{7EEDD94A-93A6-48EE-9B89-332C40945155}" destId="{840EBFBA-BDB1-4F3B-99FF-158F2056EB90}" srcOrd="0" destOrd="0" presId="urn:microsoft.com/office/officeart/2005/8/layout/vList2"/>
    <dgm:cxn modelId="{786CF56A-3FEC-44C7-AAA8-71A76975216D}" type="presOf" srcId="{2F17B672-64BA-434B-805B-5DA2D99E3534}" destId="{12BC31A0-13F7-47FB-9B60-5C797EDE79E3}" srcOrd="0" destOrd="0" presId="urn:microsoft.com/office/officeart/2005/8/layout/vList2"/>
    <dgm:cxn modelId="{CC40306D-D09A-4CE1-B899-6FA9FD904332}" srcId="{18656A96-7178-4BD3-A87C-5FC0C97AAFFF}" destId="{1CFDE2A2-A695-4F34-9B98-E0A136EDAFD1}" srcOrd="0" destOrd="0" parTransId="{3C20A87E-12E3-4075-BF28-345C39E5F35E}" sibTransId="{9FA1CDC4-C487-4BDE-ADD0-99328A2EFCCA}"/>
    <dgm:cxn modelId="{FA86BC6E-ECD5-40F7-9DAC-0E38490140B0}" type="presOf" srcId="{D5513BDF-EE06-462B-93F6-5B4113E0760C}" destId="{A1EAD3E0-37DB-430E-8D6D-4545ACB70F8E}" srcOrd="0" destOrd="0" presId="urn:microsoft.com/office/officeart/2005/8/layout/vList2"/>
    <dgm:cxn modelId="{0523B476-061C-4F72-8639-59E75A210E71}" srcId="{18656A96-7178-4BD3-A87C-5FC0C97AAFFF}" destId="{B4367AFA-282B-4C19-889F-906E5C4831DE}" srcOrd="4" destOrd="0" parTransId="{92842025-E11F-41D2-A437-4B39ED651443}" sibTransId="{C013F67A-AE8F-422F-A37A-DB94B810D79B}"/>
    <dgm:cxn modelId="{92D33459-6038-4512-8B9F-82A2BEB176AC}" srcId="{18656A96-7178-4BD3-A87C-5FC0C97AAFFF}" destId="{19598EEE-6247-493F-9E03-21E3AB60066A}" srcOrd="5" destOrd="0" parTransId="{701E2591-33F1-49D1-A9A9-F795695B1458}" sibTransId="{19BA014F-559B-4133-894B-7F6FA83E414E}"/>
    <dgm:cxn modelId="{FC215C86-8BFA-4443-8113-054800D9363C}" type="presOf" srcId="{B4670889-24A4-4ABB-8123-811594B9E846}" destId="{73F9ABF6-EA59-4FD8-B5CE-E2097724A217}" srcOrd="0" destOrd="0" presId="urn:microsoft.com/office/officeart/2005/8/layout/vList2"/>
    <dgm:cxn modelId="{77000191-5D2F-4F9A-BE30-A5FFC54E7DFB}" srcId="{18656A96-7178-4BD3-A87C-5FC0C97AAFFF}" destId="{B4670889-24A4-4ABB-8123-811594B9E846}" srcOrd="3" destOrd="0" parTransId="{A13B1E13-C05B-4F0F-99AA-33856AB29FFD}" sibTransId="{2D9A3DC2-7FF9-4BCB-B60E-843655C9879B}"/>
    <dgm:cxn modelId="{1095E89E-6330-454A-BD73-B5B38DEF9C1C}" type="presOf" srcId="{C48F698B-94B2-4B3F-B5FA-3E94D72E7E60}" destId="{0735146E-0CC0-4091-BF15-A9452F255C31}" srcOrd="0" destOrd="0" presId="urn:microsoft.com/office/officeart/2005/8/layout/vList2"/>
    <dgm:cxn modelId="{3A70F4B7-0EEF-4AA4-B557-3BDA157D30AC}" type="presOf" srcId="{18656A96-7178-4BD3-A87C-5FC0C97AAFFF}" destId="{1547FF3E-D8FA-4D84-9ECF-CC3E102D6ECB}" srcOrd="0" destOrd="0" presId="urn:microsoft.com/office/officeart/2005/8/layout/vList2"/>
    <dgm:cxn modelId="{549866F5-1197-4243-AB52-92E101EC8D24}" srcId="{18656A96-7178-4BD3-A87C-5FC0C97AAFFF}" destId="{2F17B672-64BA-434B-805B-5DA2D99E3534}" srcOrd="6" destOrd="0" parTransId="{55716157-A827-4C2A-97A9-782C3B3BCAAA}" sibTransId="{70F64F36-7311-41E8-A19F-DBC4D4FFA8A7}"/>
    <dgm:cxn modelId="{F147AB98-430A-4DD3-ABEF-1C3319A78FE2}" type="presParOf" srcId="{1547FF3E-D8FA-4D84-9ECF-CC3E102D6ECB}" destId="{E440199C-1849-4A0F-92EA-EAC53EDE502E}" srcOrd="0" destOrd="0" presId="urn:microsoft.com/office/officeart/2005/8/layout/vList2"/>
    <dgm:cxn modelId="{D084C43B-BD39-400A-85EB-143B0378456A}" type="presParOf" srcId="{1547FF3E-D8FA-4D84-9ECF-CC3E102D6ECB}" destId="{8B853820-03AA-4E35-B192-48EB644E2E4F}" srcOrd="1" destOrd="0" presId="urn:microsoft.com/office/officeart/2005/8/layout/vList2"/>
    <dgm:cxn modelId="{35DB607B-809C-48B2-996A-727761329E8C}" type="presParOf" srcId="{1547FF3E-D8FA-4D84-9ECF-CC3E102D6ECB}" destId="{840EBFBA-BDB1-4F3B-99FF-158F2056EB90}" srcOrd="2" destOrd="0" presId="urn:microsoft.com/office/officeart/2005/8/layout/vList2"/>
    <dgm:cxn modelId="{672D45DE-5626-40C7-A397-50D8F44E37BB}" type="presParOf" srcId="{1547FF3E-D8FA-4D84-9ECF-CC3E102D6ECB}" destId="{459E1BDD-43F3-4331-BAAE-4A3FA7AD7461}" srcOrd="3" destOrd="0" presId="urn:microsoft.com/office/officeart/2005/8/layout/vList2"/>
    <dgm:cxn modelId="{00CEEF03-9886-4CEC-AE35-6F13DD4FABB9}" type="presParOf" srcId="{1547FF3E-D8FA-4D84-9ECF-CC3E102D6ECB}" destId="{A1EAD3E0-37DB-430E-8D6D-4545ACB70F8E}" srcOrd="4" destOrd="0" presId="urn:microsoft.com/office/officeart/2005/8/layout/vList2"/>
    <dgm:cxn modelId="{BDF2A93E-3056-492D-82FD-ED00678BD9EF}" type="presParOf" srcId="{1547FF3E-D8FA-4D84-9ECF-CC3E102D6ECB}" destId="{B73F9027-5606-4CBA-9D11-5E8AD7058A06}" srcOrd="5" destOrd="0" presId="urn:microsoft.com/office/officeart/2005/8/layout/vList2"/>
    <dgm:cxn modelId="{8F525374-666F-4A0E-83EC-3A4630F5642C}" type="presParOf" srcId="{1547FF3E-D8FA-4D84-9ECF-CC3E102D6ECB}" destId="{73F9ABF6-EA59-4FD8-B5CE-E2097724A217}" srcOrd="6" destOrd="0" presId="urn:microsoft.com/office/officeart/2005/8/layout/vList2"/>
    <dgm:cxn modelId="{4B75C99B-8275-4915-A86C-2FD1DE62BD66}" type="presParOf" srcId="{1547FF3E-D8FA-4D84-9ECF-CC3E102D6ECB}" destId="{500C0E6B-6682-432F-8B60-80FAC8CD8276}" srcOrd="7" destOrd="0" presId="urn:microsoft.com/office/officeart/2005/8/layout/vList2"/>
    <dgm:cxn modelId="{9F236664-D0D4-4EDB-8AE3-20613E634B7D}" type="presParOf" srcId="{1547FF3E-D8FA-4D84-9ECF-CC3E102D6ECB}" destId="{EA7C50E3-5713-4362-A9C7-1E5DAB022D5E}" srcOrd="8" destOrd="0" presId="urn:microsoft.com/office/officeart/2005/8/layout/vList2"/>
    <dgm:cxn modelId="{40E8AD1A-0266-4FAA-9249-0FE819D97AAE}" type="presParOf" srcId="{1547FF3E-D8FA-4D84-9ECF-CC3E102D6ECB}" destId="{0C54A7AE-F8B3-45DE-A02C-DB832041E010}" srcOrd="9" destOrd="0" presId="urn:microsoft.com/office/officeart/2005/8/layout/vList2"/>
    <dgm:cxn modelId="{C3ADA64E-F4A3-4966-A9F4-559F152C0C89}" type="presParOf" srcId="{1547FF3E-D8FA-4D84-9ECF-CC3E102D6ECB}" destId="{F5705365-21CB-471D-AA77-A484516FBF4F}" srcOrd="10" destOrd="0" presId="urn:microsoft.com/office/officeart/2005/8/layout/vList2"/>
    <dgm:cxn modelId="{C8DFA493-BC0F-443D-AE19-651FAA2F2081}" type="presParOf" srcId="{1547FF3E-D8FA-4D84-9ECF-CC3E102D6ECB}" destId="{C479FCF8-148B-4134-949F-3BA75368C9CF}" srcOrd="11" destOrd="0" presId="urn:microsoft.com/office/officeart/2005/8/layout/vList2"/>
    <dgm:cxn modelId="{58651EFB-95F5-480A-919B-D492701997CD}" type="presParOf" srcId="{1547FF3E-D8FA-4D84-9ECF-CC3E102D6ECB}" destId="{12BC31A0-13F7-47FB-9B60-5C797EDE79E3}" srcOrd="12" destOrd="0" presId="urn:microsoft.com/office/officeart/2005/8/layout/vList2"/>
    <dgm:cxn modelId="{91068615-8655-4FA5-B39F-466F2C25B2B7}" type="presParOf" srcId="{1547FF3E-D8FA-4D84-9ECF-CC3E102D6ECB}" destId="{E3B8F0D7-616A-4C2F-9D3F-BF4D4ED323ED}" srcOrd="13" destOrd="0" presId="urn:microsoft.com/office/officeart/2005/8/layout/vList2"/>
    <dgm:cxn modelId="{1E68153D-CADD-4FD0-B57F-B10753C37CFA}" type="presParOf" srcId="{1547FF3E-D8FA-4D84-9ECF-CC3E102D6ECB}" destId="{0735146E-0CC0-4091-BF15-A9452F255C31}" srcOrd="14" destOrd="0" presId="urn:microsoft.com/office/officeart/2005/8/layout/vList2"/>
    <dgm:cxn modelId="{C8A646DA-3AEC-4F31-9FA2-13FFCE44ED95}" type="presParOf" srcId="{1547FF3E-D8FA-4D84-9ECF-CC3E102D6ECB}" destId="{07783EEC-0E0D-4382-9A79-AA9F5B2F63BE}" srcOrd="15" destOrd="0" presId="urn:microsoft.com/office/officeart/2005/8/layout/vList2"/>
    <dgm:cxn modelId="{B94E4BD7-E3C7-41A8-94DD-D1BA713CA8F1}" type="presParOf" srcId="{1547FF3E-D8FA-4D84-9ECF-CC3E102D6ECB}" destId="{E5FCE352-5F0D-4D46-B535-DFCC6A331915}" srcOrd="1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16425A9-77AC-4621-89F0-F19AF6B13DE6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7CF7A8D9-A9DC-4552-924A-3BA077710C1B}">
      <dgm:prSet/>
      <dgm:spPr/>
      <dgm:t>
        <a:bodyPr/>
        <a:lstStyle/>
        <a:p>
          <a:r>
            <a:rPr lang="en-PH"/>
            <a:t>Expand details on the system/electronic transmission of the document from Records to OPM to concerned Divisions.</a:t>
          </a:r>
          <a:endParaRPr lang="en-US"/>
        </a:p>
      </dgm:t>
    </dgm:pt>
    <dgm:pt modelId="{1BAB9D09-E36F-4D8A-B61A-490F589E676B}" type="parTrans" cxnId="{4E0CF810-111E-45E5-8309-24E88EDCF76D}">
      <dgm:prSet/>
      <dgm:spPr/>
      <dgm:t>
        <a:bodyPr/>
        <a:lstStyle/>
        <a:p>
          <a:endParaRPr lang="en-US"/>
        </a:p>
      </dgm:t>
    </dgm:pt>
    <dgm:pt modelId="{7D2D7D43-8F53-4BAB-98EF-53D959DD338E}" type="sibTrans" cxnId="{4E0CF810-111E-45E5-8309-24E88EDCF76D}">
      <dgm:prSet/>
      <dgm:spPr/>
      <dgm:t>
        <a:bodyPr/>
        <a:lstStyle/>
        <a:p>
          <a:endParaRPr lang="en-US"/>
        </a:p>
      </dgm:t>
    </dgm:pt>
    <dgm:pt modelId="{638B7624-6097-4199-8A57-5E0A9B03D8D3}">
      <dgm:prSet/>
      <dgm:spPr/>
      <dgm:t>
        <a:bodyPr/>
        <a:lstStyle/>
        <a:p>
          <a:r>
            <a:rPr lang="en-PH"/>
            <a:t>List add-ons or future improvements (such as notification for concerned RC, etc.)</a:t>
          </a:r>
          <a:endParaRPr lang="en-US"/>
        </a:p>
      </dgm:t>
    </dgm:pt>
    <dgm:pt modelId="{6DE9BB60-196F-4438-821E-F97CCD61D964}" type="parTrans" cxnId="{87A1EEF5-9FE9-413A-B66D-D94E55D903CF}">
      <dgm:prSet/>
      <dgm:spPr/>
      <dgm:t>
        <a:bodyPr/>
        <a:lstStyle/>
        <a:p>
          <a:endParaRPr lang="en-US"/>
        </a:p>
      </dgm:t>
    </dgm:pt>
    <dgm:pt modelId="{9FC95F24-7FCC-461A-BFDC-A5AF01779D4D}" type="sibTrans" cxnId="{87A1EEF5-9FE9-413A-B66D-D94E55D903CF}">
      <dgm:prSet/>
      <dgm:spPr/>
      <dgm:t>
        <a:bodyPr/>
        <a:lstStyle/>
        <a:p>
          <a:endParaRPr lang="en-US"/>
        </a:p>
      </dgm:t>
    </dgm:pt>
    <dgm:pt modelId="{BEDDA363-92C3-4B45-A9EB-56696B664761}" type="pres">
      <dgm:prSet presAssocID="{D16425A9-77AC-4621-89F0-F19AF6B13DE6}" presName="root" presStyleCnt="0">
        <dgm:presLayoutVars>
          <dgm:dir/>
          <dgm:resizeHandles val="exact"/>
        </dgm:presLayoutVars>
      </dgm:prSet>
      <dgm:spPr/>
    </dgm:pt>
    <dgm:pt modelId="{E89405CD-F95D-43B6-9493-1A95CAFDDF04}" type="pres">
      <dgm:prSet presAssocID="{7CF7A8D9-A9DC-4552-924A-3BA077710C1B}" presName="compNode" presStyleCnt="0"/>
      <dgm:spPr/>
    </dgm:pt>
    <dgm:pt modelId="{4A7F2EE8-F11F-4231-976B-6F86AC17E823}" type="pres">
      <dgm:prSet presAssocID="{7CF7A8D9-A9DC-4552-924A-3BA077710C1B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actory"/>
        </a:ext>
      </dgm:extLst>
    </dgm:pt>
    <dgm:pt modelId="{A9117B6A-C135-46A9-BA73-6A7626A2F52D}" type="pres">
      <dgm:prSet presAssocID="{7CF7A8D9-A9DC-4552-924A-3BA077710C1B}" presName="spaceRect" presStyleCnt="0"/>
      <dgm:spPr/>
    </dgm:pt>
    <dgm:pt modelId="{05836205-F7A7-466D-86A4-36C0814B38CF}" type="pres">
      <dgm:prSet presAssocID="{7CF7A8D9-A9DC-4552-924A-3BA077710C1B}" presName="textRect" presStyleLbl="revTx" presStyleIdx="0" presStyleCnt="2">
        <dgm:presLayoutVars>
          <dgm:chMax val="1"/>
          <dgm:chPref val="1"/>
        </dgm:presLayoutVars>
      </dgm:prSet>
      <dgm:spPr/>
    </dgm:pt>
    <dgm:pt modelId="{0D09A825-34FD-435E-BFC7-CC05CEE40C48}" type="pres">
      <dgm:prSet presAssocID="{7D2D7D43-8F53-4BAB-98EF-53D959DD338E}" presName="sibTrans" presStyleCnt="0"/>
      <dgm:spPr/>
    </dgm:pt>
    <dgm:pt modelId="{424E9A98-1315-4C17-B772-50D50EEF77D5}" type="pres">
      <dgm:prSet presAssocID="{638B7624-6097-4199-8A57-5E0A9B03D8D3}" presName="compNode" presStyleCnt="0"/>
      <dgm:spPr/>
    </dgm:pt>
    <dgm:pt modelId="{DAC443A3-AAE0-4FE9-9CF4-990035078946}" type="pres">
      <dgm:prSet presAssocID="{638B7624-6097-4199-8A57-5E0A9B03D8D3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ell"/>
        </a:ext>
      </dgm:extLst>
    </dgm:pt>
    <dgm:pt modelId="{05CD62B9-6EFD-4BE7-B036-8210576667A2}" type="pres">
      <dgm:prSet presAssocID="{638B7624-6097-4199-8A57-5E0A9B03D8D3}" presName="spaceRect" presStyleCnt="0"/>
      <dgm:spPr/>
    </dgm:pt>
    <dgm:pt modelId="{C47D88AD-36C2-423B-B0E4-5C604012D982}" type="pres">
      <dgm:prSet presAssocID="{638B7624-6097-4199-8A57-5E0A9B03D8D3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4E0CF810-111E-45E5-8309-24E88EDCF76D}" srcId="{D16425A9-77AC-4621-89F0-F19AF6B13DE6}" destId="{7CF7A8D9-A9DC-4552-924A-3BA077710C1B}" srcOrd="0" destOrd="0" parTransId="{1BAB9D09-E36F-4D8A-B61A-490F589E676B}" sibTransId="{7D2D7D43-8F53-4BAB-98EF-53D959DD338E}"/>
    <dgm:cxn modelId="{B1C902A9-0D2D-482D-A835-B2547E5986E9}" type="presOf" srcId="{D16425A9-77AC-4621-89F0-F19AF6B13DE6}" destId="{BEDDA363-92C3-4B45-A9EB-56696B664761}" srcOrd="0" destOrd="0" presId="urn:microsoft.com/office/officeart/2018/2/layout/IconLabelList"/>
    <dgm:cxn modelId="{9340E8C3-6864-4278-B0C9-5A68E86C1F1C}" type="presOf" srcId="{7CF7A8D9-A9DC-4552-924A-3BA077710C1B}" destId="{05836205-F7A7-466D-86A4-36C0814B38CF}" srcOrd="0" destOrd="0" presId="urn:microsoft.com/office/officeart/2018/2/layout/IconLabelList"/>
    <dgm:cxn modelId="{70128AF1-128E-4206-B18B-CC3BFCF0BE30}" type="presOf" srcId="{638B7624-6097-4199-8A57-5E0A9B03D8D3}" destId="{C47D88AD-36C2-423B-B0E4-5C604012D982}" srcOrd="0" destOrd="0" presId="urn:microsoft.com/office/officeart/2018/2/layout/IconLabelList"/>
    <dgm:cxn modelId="{87A1EEF5-9FE9-413A-B66D-D94E55D903CF}" srcId="{D16425A9-77AC-4621-89F0-F19AF6B13DE6}" destId="{638B7624-6097-4199-8A57-5E0A9B03D8D3}" srcOrd="1" destOrd="0" parTransId="{6DE9BB60-196F-4438-821E-F97CCD61D964}" sibTransId="{9FC95F24-7FCC-461A-BFDC-A5AF01779D4D}"/>
    <dgm:cxn modelId="{11166620-4C10-4567-8A4B-31255905A4DC}" type="presParOf" srcId="{BEDDA363-92C3-4B45-A9EB-56696B664761}" destId="{E89405CD-F95D-43B6-9493-1A95CAFDDF04}" srcOrd="0" destOrd="0" presId="urn:microsoft.com/office/officeart/2018/2/layout/IconLabelList"/>
    <dgm:cxn modelId="{E2EFA481-75E2-47F0-A42E-2F0ACEC109D5}" type="presParOf" srcId="{E89405CD-F95D-43B6-9493-1A95CAFDDF04}" destId="{4A7F2EE8-F11F-4231-976B-6F86AC17E823}" srcOrd="0" destOrd="0" presId="urn:microsoft.com/office/officeart/2018/2/layout/IconLabelList"/>
    <dgm:cxn modelId="{1D10C61C-1427-43DA-BBC7-A3E4E7B2FD82}" type="presParOf" srcId="{E89405CD-F95D-43B6-9493-1A95CAFDDF04}" destId="{A9117B6A-C135-46A9-BA73-6A7626A2F52D}" srcOrd="1" destOrd="0" presId="urn:microsoft.com/office/officeart/2018/2/layout/IconLabelList"/>
    <dgm:cxn modelId="{7CDF1914-9E6E-4268-9A16-9FD019B49927}" type="presParOf" srcId="{E89405CD-F95D-43B6-9493-1A95CAFDDF04}" destId="{05836205-F7A7-466D-86A4-36C0814B38CF}" srcOrd="2" destOrd="0" presId="urn:microsoft.com/office/officeart/2018/2/layout/IconLabelList"/>
    <dgm:cxn modelId="{05495DE8-F447-48E4-A80E-4F195422E9BC}" type="presParOf" srcId="{BEDDA363-92C3-4B45-A9EB-56696B664761}" destId="{0D09A825-34FD-435E-BFC7-CC05CEE40C48}" srcOrd="1" destOrd="0" presId="urn:microsoft.com/office/officeart/2018/2/layout/IconLabelList"/>
    <dgm:cxn modelId="{0D3FD0B9-3EB8-436C-AE7F-A165575E485B}" type="presParOf" srcId="{BEDDA363-92C3-4B45-A9EB-56696B664761}" destId="{424E9A98-1315-4C17-B772-50D50EEF77D5}" srcOrd="2" destOrd="0" presId="urn:microsoft.com/office/officeart/2018/2/layout/IconLabelList"/>
    <dgm:cxn modelId="{F7520FA9-AACE-4D6E-B38D-5C81956FC148}" type="presParOf" srcId="{424E9A98-1315-4C17-B772-50D50EEF77D5}" destId="{DAC443A3-AAE0-4FE9-9CF4-990035078946}" srcOrd="0" destOrd="0" presId="urn:microsoft.com/office/officeart/2018/2/layout/IconLabelList"/>
    <dgm:cxn modelId="{3E8BC671-8854-4391-BB01-21C13E2D780C}" type="presParOf" srcId="{424E9A98-1315-4C17-B772-50D50EEF77D5}" destId="{05CD62B9-6EFD-4BE7-B036-8210576667A2}" srcOrd="1" destOrd="0" presId="urn:microsoft.com/office/officeart/2018/2/layout/IconLabelList"/>
    <dgm:cxn modelId="{33B466D2-DC58-4778-9404-AB6F94F299B7}" type="presParOf" srcId="{424E9A98-1315-4C17-B772-50D50EEF77D5}" destId="{C47D88AD-36C2-423B-B0E4-5C604012D982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40199C-1849-4A0F-92EA-EAC53EDE502E}">
      <dsp:nvSpPr>
        <dsp:cNvPr id="0" name=""/>
        <dsp:cNvSpPr/>
      </dsp:nvSpPr>
      <dsp:spPr>
        <a:xfrm>
          <a:off x="0" y="163843"/>
          <a:ext cx="5549705" cy="55896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H" sz="1400" b="1" i="0" kern="1200"/>
            <a:t>Key System Interactions</a:t>
          </a:r>
          <a:r>
            <a:rPr lang="en-PH" sz="1400" b="0" i="0" kern="1200"/>
            <a:t>:</a:t>
          </a:r>
          <a:endParaRPr lang="en-US" sz="1400" kern="1200"/>
        </a:p>
      </dsp:txBody>
      <dsp:txXfrm>
        <a:off x="27287" y="191130"/>
        <a:ext cx="5495131" cy="504393"/>
      </dsp:txXfrm>
    </dsp:sp>
    <dsp:sp modelId="{840EBFBA-BDB1-4F3B-99FF-158F2056EB90}">
      <dsp:nvSpPr>
        <dsp:cNvPr id="0" name=""/>
        <dsp:cNvSpPr/>
      </dsp:nvSpPr>
      <dsp:spPr>
        <a:xfrm>
          <a:off x="0" y="763130"/>
          <a:ext cx="5549705" cy="55896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H" sz="1400" b="1" i="0" kern="1200" dirty="0"/>
            <a:t>Document Reception</a:t>
          </a:r>
          <a:r>
            <a:rPr lang="en-PH" sz="1400" b="0" i="0" kern="1200" dirty="0"/>
            <a:t>: Physical document arrives; operator initiates process in system.</a:t>
          </a:r>
          <a:endParaRPr lang="en-US" sz="1400" kern="1200" dirty="0"/>
        </a:p>
      </dsp:txBody>
      <dsp:txXfrm>
        <a:off x="27287" y="790417"/>
        <a:ext cx="5495131" cy="504393"/>
      </dsp:txXfrm>
    </dsp:sp>
    <dsp:sp modelId="{A1EAD3E0-37DB-430E-8D6D-4545ACB70F8E}">
      <dsp:nvSpPr>
        <dsp:cNvPr id="0" name=""/>
        <dsp:cNvSpPr/>
      </dsp:nvSpPr>
      <dsp:spPr>
        <a:xfrm>
          <a:off x="0" y="1362418"/>
          <a:ext cx="5549705" cy="55896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H" sz="1400" b="1" i="0" kern="1200"/>
            <a:t>Timestamp</a:t>
          </a:r>
          <a:r>
            <a:rPr lang="en-PH" sz="1400" b="0" i="0" kern="1200"/>
            <a:t>: Automatic recording of date/time received.</a:t>
          </a:r>
          <a:endParaRPr lang="en-US" sz="1400" kern="1200"/>
        </a:p>
      </dsp:txBody>
      <dsp:txXfrm>
        <a:off x="27287" y="1389705"/>
        <a:ext cx="5495131" cy="504393"/>
      </dsp:txXfrm>
    </dsp:sp>
    <dsp:sp modelId="{73F9ABF6-EA59-4FD8-B5CE-E2097724A217}">
      <dsp:nvSpPr>
        <dsp:cNvPr id="0" name=""/>
        <dsp:cNvSpPr/>
      </dsp:nvSpPr>
      <dsp:spPr>
        <a:xfrm>
          <a:off x="0" y="1961705"/>
          <a:ext cx="5549705" cy="55896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H" sz="1400" b="1" i="0" kern="1200" dirty="0"/>
            <a:t>Scanner Integration</a:t>
          </a:r>
          <a:r>
            <a:rPr lang="en-PH" sz="1400" b="0" i="0" kern="1200" dirty="0"/>
            <a:t>: Network scanner sends </a:t>
          </a:r>
          <a:r>
            <a:rPr lang="en-PH" sz="1400" i="0" kern="1200" dirty="0"/>
            <a:t>images directly to </a:t>
          </a:r>
          <a:r>
            <a:rPr lang="en-PH" sz="1400" b="0" i="0" kern="1200" dirty="0"/>
            <a:t>the system.</a:t>
          </a:r>
          <a:endParaRPr lang="en-US" sz="1400" kern="1200" dirty="0"/>
        </a:p>
      </dsp:txBody>
      <dsp:txXfrm>
        <a:off x="27287" y="1988992"/>
        <a:ext cx="5495131" cy="504393"/>
      </dsp:txXfrm>
    </dsp:sp>
    <dsp:sp modelId="{EA7C50E3-5713-4362-A9C7-1E5DAB022D5E}">
      <dsp:nvSpPr>
        <dsp:cNvPr id="0" name=""/>
        <dsp:cNvSpPr/>
      </dsp:nvSpPr>
      <dsp:spPr>
        <a:xfrm>
          <a:off x="0" y="2560993"/>
          <a:ext cx="5549705" cy="55896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H" sz="1400" b="1" i="0" kern="1200" dirty="0"/>
            <a:t>OCR Engine</a:t>
          </a:r>
          <a:r>
            <a:rPr lang="en-PH" sz="1400" b="0" i="0" kern="1200" dirty="0"/>
            <a:t>: Extracts text from scanned documents for auto-population.</a:t>
          </a:r>
          <a:endParaRPr lang="en-US" sz="1400" kern="1200" dirty="0"/>
        </a:p>
      </dsp:txBody>
      <dsp:txXfrm>
        <a:off x="27287" y="2588280"/>
        <a:ext cx="5495131" cy="504393"/>
      </dsp:txXfrm>
    </dsp:sp>
    <dsp:sp modelId="{F5705365-21CB-471D-AA77-A484516FBF4F}">
      <dsp:nvSpPr>
        <dsp:cNvPr id="0" name=""/>
        <dsp:cNvSpPr/>
      </dsp:nvSpPr>
      <dsp:spPr>
        <a:xfrm>
          <a:off x="0" y="3160280"/>
          <a:ext cx="5549705" cy="55896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H" sz="1400" b="1" i="0" kern="1200"/>
            <a:t>Database</a:t>
          </a:r>
          <a:r>
            <a:rPr lang="en-PH" sz="1400" b="0" i="0" kern="1200"/>
            <a:t>: Stores all metadata, file paths, and routing history.</a:t>
          </a:r>
          <a:endParaRPr lang="en-US" sz="1400" kern="1200"/>
        </a:p>
      </dsp:txBody>
      <dsp:txXfrm>
        <a:off x="27287" y="3187567"/>
        <a:ext cx="5495131" cy="504393"/>
      </dsp:txXfrm>
    </dsp:sp>
    <dsp:sp modelId="{12BC31A0-13F7-47FB-9B60-5C797EDE79E3}">
      <dsp:nvSpPr>
        <dsp:cNvPr id="0" name=""/>
        <dsp:cNvSpPr/>
      </dsp:nvSpPr>
      <dsp:spPr>
        <a:xfrm>
          <a:off x="0" y="3759568"/>
          <a:ext cx="5549705" cy="55896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H" sz="1400" b="1" i="0" kern="1200"/>
            <a:t>Excel Log</a:t>
          </a:r>
          <a:r>
            <a:rPr lang="en-PH" sz="1400" b="0" i="0" kern="1200"/>
            <a:t>: Real-time updates for monitoring purposes (optional, as database is primary).</a:t>
          </a:r>
          <a:endParaRPr lang="en-US" sz="1400" kern="1200"/>
        </a:p>
      </dsp:txBody>
      <dsp:txXfrm>
        <a:off x="27287" y="3786855"/>
        <a:ext cx="5495131" cy="504393"/>
      </dsp:txXfrm>
    </dsp:sp>
    <dsp:sp modelId="{0735146E-0CC0-4091-BF15-A9452F255C31}">
      <dsp:nvSpPr>
        <dsp:cNvPr id="0" name=""/>
        <dsp:cNvSpPr/>
      </dsp:nvSpPr>
      <dsp:spPr>
        <a:xfrm>
          <a:off x="0" y="4358855"/>
          <a:ext cx="5549705" cy="55896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H" sz="1400" b="1" i="0" kern="1200"/>
            <a:t>Print Service</a:t>
          </a:r>
          <a:r>
            <a:rPr lang="en-PH" sz="1400" b="0" i="0" kern="1200"/>
            <a:t>: Generates transmittal slips and control number stickers.</a:t>
          </a:r>
          <a:endParaRPr lang="en-US" sz="1400" kern="1200"/>
        </a:p>
      </dsp:txBody>
      <dsp:txXfrm>
        <a:off x="27287" y="4386142"/>
        <a:ext cx="5495131" cy="504393"/>
      </dsp:txXfrm>
    </dsp:sp>
    <dsp:sp modelId="{E5FCE352-5F0D-4D46-B535-DFCC6A331915}">
      <dsp:nvSpPr>
        <dsp:cNvPr id="0" name=""/>
        <dsp:cNvSpPr/>
      </dsp:nvSpPr>
      <dsp:spPr>
        <a:xfrm>
          <a:off x="0" y="4958143"/>
          <a:ext cx="5549705" cy="55896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H" sz="1400" b="1" i="0" kern="1200"/>
            <a:t>Digital Routing</a:t>
          </a:r>
          <a:r>
            <a:rPr lang="en-PH" sz="1400" b="0" i="0" kern="1200"/>
            <a:t>: EDMS handles permissions and notifications for digital endorsement.</a:t>
          </a:r>
          <a:endParaRPr lang="en-US" sz="1400" kern="1200"/>
        </a:p>
      </dsp:txBody>
      <dsp:txXfrm>
        <a:off x="27287" y="4985430"/>
        <a:ext cx="5495131" cy="50439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7F2EE8-F11F-4231-976B-6F86AC17E823}">
      <dsp:nvSpPr>
        <dsp:cNvPr id="0" name=""/>
        <dsp:cNvSpPr/>
      </dsp:nvSpPr>
      <dsp:spPr>
        <a:xfrm>
          <a:off x="1747800" y="608594"/>
          <a:ext cx="1944000" cy="1944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836205-F7A7-466D-86A4-36C0814B38CF}">
      <dsp:nvSpPr>
        <dsp:cNvPr id="0" name=""/>
        <dsp:cNvSpPr/>
      </dsp:nvSpPr>
      <dsp:spPr>
        <a:xfrm>
          <a:off x="559800" y="3022743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H" sz="1700" kern="1200"/>
            <a:t>Expand details on the system/electronic transmission of the document from Records to OPM to concerned Divisions.</a:t>
          </a:r>
          <a:endParaRPr lang="en-US" sz="1700" kern="1200"/>
        </a:p>
      </dsp:txBody>
      <dsp:txXfrm>
        <a:off x="559800" y="3022743"/>
        <a:ext cx="4320000" cy="720000"/>
      </dsp:txXfrm>
    </dsp:sp>
    <dsp:sp modelId="{DAC443A3-AAE0-4FE9-9CF4-990035078946}">
      <dsp:nvSpPr>
        <dsp:cNvPr id="0" name=""/>
        <dsp:cNvSpPr/>
      </dsp:nvSpPr>
      <dsp:spPr>
        <a:xfrm>
          <a:off x="6823800" y="608594"/>
          <a:ext cx="1944000" cy="1944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7D88AD-36C2-423B-B0E4-5C604012D982}">
      <dsp:nvSpPr>
        <dsp:cNvPr id="0" name=""/>
        <dsp:cNvSpPr/>
      </dsp:nvSpPr>
      <dsp:spPr>
        <a:xfrm>
          <a:off x="5635800" y="3022743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H" sz="1700" kern="1200"/>
            <a:t>List add-ons or future improvements (such as notification for concerned RC, etc.)</a:t>
          </a:r>
          <a:endParaRPr lang="en-US" sz="1700" kern="1200"/>
        </a:p>
      </dsp:txBody>
      <dsp:txXfrm>
        <a:off x="5635800" y="3022743"/>
        <a:ext cx="432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1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1" y="3602039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0" indent="0" algn="ctr">
              <a:buNone/>
              <a:defRPr sz="2000"/>
            </a:lvl2pPr>
            <a:lvl3pPr marL="914361" indent="0" algn="ctr">
              <a:buNone/>
              <a:defRPr sz="1800"/>
            </a:lvl3pPr>
            <a:lvl4pPr marL="1371541" indent="0" algn="ctr">
              <a:buNone/>
              <a:defRPr sz="1600"/>
            </a:lvl4pPr>
            <a:lvl5pPr marL="1828722" indent="0" algn="ctr">
              <a:buNone/>
              <a:defRPr sz="1600"/>
            </a:lvl5pPr>
            <a:lvl6pPr marL="2285902" indent="0" algn="ctr">
              <a:buNone/>
              <a:defRPr sz="1600"/>
            </a:lvl6pPr>
            <a:lvl7pPr marL="2743083" indent="0" algn="ctr">
              <a:buNone/>
              <a:defRPr sz="1600"/>
            </a:lvl7pPr>
            <a:lvl8pPr marL="3200263" indent="0" algn="ctr">
              <a:buNone/>
              <a:defRPr sz="1600"/>
            </a:lvl8pPr>
            <a:lvl9pPr marL="3657444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70452-0B8C-4D2B-8675-5BDCC1B1B680}" type="datetimeFigureOut">
              <a:rPr lang="en-PH" smtClean="0"/>
              <a:t>20/02/2026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E8E75-F344-4010-84EC-2F87BCBFA62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65742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70452-0B8C-4D2B-8675-5BDCC1B1B680}" type="datetimeFigureOut">
              <a:rPr lang="en-PH" smtClean="0"/>
              <a:t>20/02/2026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E8E75-F344-4010-84EC-2F87BCBFA62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8169997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18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361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541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722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5902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083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263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44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70452-0B8C-4D2B-8675-5BDCC1B1B680}" type="datetimeFigureOut">
              <a:rPr lang="en-PH" smtClean="0"/>
              <a:t>20/02/2026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E8E75-F344-4010-84EC-2F87BCBFA62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706607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2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70452-0B8C-4D2B-8675-5BDCC1B1B680}" type="datetimeFigureOut">
              <a:rPr lang="en-PH" smtClean="0"/>
              <a:t>20/02/2026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E8E75-F344-4010-84EC-2F87BCBFA62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393048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0" indent="0">
              <a:buNone/>
              <a:defRPr sz="2000" b="1"/>
            </a:lvl2pPr>
            <a:lvl3pPr marL="914361" indent="0">
              <a:buNone/>
              <a:defRPr sz="1800" b="1"/>
            </a:lvl3pPr>
            <a:lvl4pPr marL="1371541" indent="0">
              <a:buNone/>
              <a:defRPr sz="1600" b="1"/>
            </a:lvl4pPr>
            <a:lvl5pPr marL="1828722" indent="0">
              <a:buNone/>
              <a:defRPr sz="1600" b="1"/>
            </a:lvl5pPr>
            <a:lvl6pPr marL="2285902" indent="0">
              <a:buNone/>
              <a:defRPr sz="1600" b="1"/>
            </a:lvl6pPr>
            <a:lvl7pPr marL="2743083" indent="0">
              <a:buNone/>
              <a:defRPr sz="1600" b="1"/>
            </a:lvl7pPr>
            <a:lvl8pPr marL="3200263" indent="0">
              <a:buNone/>
              <a:defRPr sz="1600" b="1"/>
            </a:lvl8pPr>
            <a:lvl9pPr marL="3657444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199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0" indent="0">
              <a:buNone/>
              <a:defRPr sz="2000" b="1"/>
            </a:lvl2pPr>
            <a:lvl3pPr marL="914361" indent="0">
              <a:buNone/>
              <a:defRPr sz="1800" b="1"/>
            </a:lvl3pPr>
            <a:lvl4pPr marL="1371541" indent="0">
              <a:buNone/>
              <a:defRPr sz="1600" b="1"/>
            </a:lvl4pPr>
            <a:lvl5pPr marL="1828722" indent="0">
              <a:buNone/>
              <a:defRPr sz="1600" b="1"/>
            </a:lvl5pPr>
            <a:lvl6pPr marL="2285902" indent="0">
              <a:buNone/>
              <a:defRPr sz="1600" b="1"/>
            </a:lvl6pPr>
            <a:lvl7pPr marL="2743083" indent="0">
              <a:buNone/>
              <a:defRPr sz="1600" b="1"/>
            </a:lvl7pPr>
            <a:lvl8pPr marL="3200263" indent="0">
              <a:buNone/>
              <a:defRPr sz="1600" b="1"/>
            </a:lvl8pPr>
            <a:lvl9pPr marL="3657444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199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70452-0B8C-4D2B-8675-5BDCC1B1B680}" type="datetimeFigureOut">
              <a:rPr lang="en-PH" smtClean="0"/>
              <a:t>20/02/2026</a:t>
            </a:fld>
            <a:endParaRPr lang="en-P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E8E75-F344-4010-84EC-2F87BCBFA62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3823887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70452-0B8C-4D2B-8675-5BDCC1B1B680}" type="datetimeFigureOut">
              <a:rPr lang="en-PH" smtClean="0"/>
              <a:t>20/02/2026</a:t>
            </a:fld>
            <a:endParaRPr lang="en-P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E8E75-F344-4010-84EC-2F87BCBFA62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6089035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70452-0B8C-4D2B-8675-5BDCC1B1B680}" type="datetimeFigureOut">
              <a:rPr lang="en-PH" smtClean="0"/>
              <a:t>20/02/2026</a:t>
            </a:fld>
            <a:endParaRPr lang="en-P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E8E75-F344-4010-84EC-2F87BCBFA62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68003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9" y="987426"/>
            <a:ext cx="6172199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0" indent="0">
              <a:buNone/>
              <a:defRPr sz="1400"/>
            </a:lvl2pPr>
            <a:lvl3pPr marL="914361" indent="0">
              <a:buNone/>
              <a:defRPr sz="1200"/>
            </a:lvl3pPr>
            <a:lvl4pPr marL="1371541" indent="0">
              <a:buNone/>
              <a:defRPr sz="1000"/>
            </a:lvl4pPr>
            <a:lvl5pPr marL="1828722" indent="0">
              <a:buNone/>
              <a:defRPr sz="1000"/>
            </a:lvl5pPr>
            <a:lvl6pPr marL="2285902" indent="0">
              <a:buNone/>
              <a:defRPr sz="1000"/>
            </a:lvl6pPr>
            <a:lvl7pPr marL="2743083" indent="0">
              <a:buNone/>
              <a:defRPr sz="1000"/>
            </a:lvl7pPr>
            <a:lvl8pPr marL="3200263" indent="0">
              <a:buNone/>
              <a:defRPr sz="1000"/>
            </a:lvl8pPr>
            <a:lvl9pPr marL="3657444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70452-0B8C-4D2B-8675-5BDCC1B1B680}" type="datetimeFigureOut">
              <a:rPr lang="en-PH" smtClean="0"/>
              <a:t>20/02/2026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E8E75-F344-4010-84EC-2F87BCBFA62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169339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9" y="987426"/>
            <a:ext cx="6172199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180" indent="0">
              <a:buNone/>
              <a:defRPr sz="2800"/>
            </a:lvl2pPr>
            <a:lvl3pPr marL="914361" indent="0">
              <a:buNone/>
              <a:defRPr sz="2400"/>
            </a:lvl3pPr>
            <a:lvl4pPr marL="1371541" indent="0">
              <a:buNone/>
              <a:defRPr sz="2000"/>
            </a:lvl4pPr>
            <a:lvl5pPr marL="1828722" indent="0">
              <a:buNone/>
              <a:defRPr sz="2000"/>
            </a:lvl5pPr>
            <a:lvl6pPr marL="2285902" indent="0">
              <a:buNone/>
              <a:defRPr sz="2000"/>
            </a:lvl6pPr>
            <a:lvl7pPr marL="2743083" indent="0">
              <a:buNone/>
              <a:defRPr sz="2000"/>
            </a:lvl7pPr>
            <a:lvl8pPr marL="3200263" indent="0">
              <a:buNone/>
              <a:defRPr sz="2000"/>
            </a:lvl8pPr>
            <a:lvl9pPr marL="3657444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0" indent="0">
              <a:buNone/>
              <a:defRPr sz="1400"/>
            </a:lvl2pPr>
            <a:lvl3pPr marL="914361" indent="0">
              <a:buNone/>
              <a:defRPr sz="1200"/>
            </a:lvl3pPr>
            <a:lvl4pPr marL="1371541" indent="0">
              <a:buNone/>
              <a:defRPr sz="1000"/>
            </a:lvl4pPr>
            <a:lvl5pPr marL="1828722" indent="0">
              <a:buNone/>
              <a:defRPr sz="1000"/>
            </a:lvl5pPr>
            <a:lvl6pPr marL="2285902" indent="0">
              <a:buNone/>
              <a:defRPr sz="1000"/>
            </a:lvl6pPr>
            <a:lvl7pPr marL="2743083" indent="0">
              <a:buNone/>
              <a:defRPr sz="1000"/>
            </a:lvl7pPr>
            <a:lvl8pPr marL="3200263" indent="0">
              <a:buNone/>
              <a:defRPr sz="1000"/>
            </a:lvl8pPr>
            <a:lvl9pPr marL="3657444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70452-0B8C-4D2B-8675-5BDCC1B1B680}" type="datetimeFigureOut">
              <a:rPr lang="en-PH" smtClean="0"/>
              <a:t>20/02/2026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E8E75-F344-4010-84EC-2F87BCBFA62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5884068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70452-0B8C-4D2B-8675-5BDCC1B1B680}" type="datetimeFigureOut">
              <a:rPr lang="en-PH" smtClean="0"/>
              <a:t>20/02/2026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E8E75-F344-4010-84EC-2F87BCBFA62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184300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899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7734301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70452-0B8C-4D2B-8675-5BDCC1B1B680}" type="datetimeFigureOut">
              <a:rPr lang="en-PH" smtClean="0"/>
              <a:t>20/02/2026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E8E75-F344-4010-84EC-2F87BCBFA62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18393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1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1" y="6356351"/>
            <a:ext cx="27431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170452-0B8C-4D2B-8675-5BDCC1B1B680}" type="datetimeFigureOut">
              <a:rPr lang="en-PH" smtClean="0"/>
              <a:t>20/02/2026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1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1E8E75-F344-4010-84EC-2F87BCBFA62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694723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361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0" indent="-228590" algn="l" defTabSz="914361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71" indent="-228590" algn="l" defTabSz="91436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51" indent="-228590" algn="l" defTabSz="91436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32" indent="-228590" algn="l" defTabSz="91436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12" indent="-228590" algn="l" defTabSz="91436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92" indent="-228590" algn="l" defTabSz="91436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73" indent="-228590" algn="l" defTabSz="91436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53" indent="-228590" algn="l" defTabSz="91436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34" indent="-228590" algn="l" defTabSz="91436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0" algn="l" defTabSz="91436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1" algn="l" defTabSz="91436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1" algn="l" defTabSz="91436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2" algn="l" defTabSz="91436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2" algn="l" defTabSz="91436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83" algn="l" defTabSz="91436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63" algn="l" defTabSz="91436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44" algn="l" defTabSz="91436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C8827-F028-05CC-E7D7-5313B251453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>
            <a:normAutofit/>
          </a:bodyPr>
          <a:lstStyle/>
          <a:p>
            <a:r>
              <a:rPr lang="en-US" sz="5400" dirty="0"/>
              <a:t>Records Process Flow Improvement </a:t>
            </a:r>
            <a:endParaRPr lang="en-PH" sz="5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88B364-B761-C89A-F161-255EEB0C857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050" dirty="0"/>
              <a:t>Manual </a:t>
            </a:r>
            <a:r>
              <a:rPr lang="en-US" sz="4050" dirty="0">
                <a:sym typeface="Wingdings" panose="05000000000000000000" pitchFamily="2" charset="2"/>
              </a:rPr>
              <a:t> Digital</a:t>
            </a:r>
            <a:endParaRPr lang="en-PH" sz="4050" dirty="0"/>
          </a:p>
        </p:txBody>
      </p:sp>
    </p:spTree>
    <p:extLst>
      <p:ext uri="{BB962C8B-B14F-4D97-AF65-F5344CB8AC3E}">
        <p14:creationId xmlns:p14="http://schemas.microsoft.com/office/powerpoint/2010/main" val="37070848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6E14E-ECFD-2FB3-33B2-DF8D32BFE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2650" y="935834"/>
            <a:ext cx="7886700" cy="713899"/>
          </a:xfrm>
        </p:spPr>
        <p:txBody>
          <a:bodyPr anchor="ctr">
            <a:noAutofit/>
          </a:bodyPr>
          <a:lstStyle/>
          <a:p>
            <a:pPr algn="ctr"/>
            <a:r>
              <a:rPr lang="en-US" sz="3000" dirty="0">
                <a:latin typeface="AngsanaUPC" panose="020B0502040204020203" pitchFamily="18" charset="-34"/>
                <a:cs typeface="AngsanaUPC" panose="020B0502040204020203" pitchFamily="18" charset="-34"/>
              </a:rPr>
              <a:t>Records Process Flow Improvement </a:t>
            </a:r>
            <a:br>
              <a:rPr lang="en-US" sz="3000" dirty="0">
                <a:latin typeface="AngsanaUPC" panose="020B0502040204020203" pitchFamily="18" charset="-34"/>
                <a:cs typeface="AngsanaUPC" panose="020B0502040204020203" pitchFamily="18" charset="-34"/>
              </a:rPr>
            </a:br>
            <a:r>
              <a:rPr lang="en-US" sz="3000" dirty="0">
                <a:latin typeface="AngsanaUPC" panose="020B0502040204020203" pitchFamily="18" charset="-34"/>
                <a:cs typeface="AngsanaUPC" panose="020B0502040204020203" pitchFamily="18" charset="-34"/>
              </a:rPr>
              <a:t>Incoming Communications</a:t>
            </a:r>
            <a:endParaRPr lang="en-PH" sz="3000" dirty="0">
              <a:latin typeface="AngsanaUPC" panose="020B0502040204020203" pitchFamily="18" charset="-34"/>
              <a:cs typeface="AngsanaUPC" panose="020B0502040204020203" pitchFamily="18" charset="-34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338C0D-AA30-A321-38B1-79D44B5DBD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68210" y="1592342"/>
            <a:ext cx="3868340" cy="407908"/>
          </a:xfrm>
        </p:spPr>
        <p:txBody>
          <a:bodyPr anchor="ctr">
            <a:noAutofit/>
          </a:bodyPr>
          <a:lstStyle/>
          <a:p>
            <a:pPr algn="ctr"/>
            <a:r>
              <a:rPr lang="en-US" sz="2700" b="0" dirty="0">
                <a:latin typeface="AngsanaUPC" panose="020B0502040204020203" pitchFamily="18" charset="-34"/>
                <a:ea typeface="+mj-ea"/>
                <a:cs typeface="AngsanaUPC" panose="020B0502040204020203" pitchFamily="18" charset="-34"/>
              </a:rPr>
              <a:t>Existing</a:t>
            </a:r>
            <a:endParaRPr lang="en-PH" sz="2700" b="0" dirty="0">
              <a:latin typeface="AngsanaUPC" panose="020B0502040204020203" pitchFamily="18" charset="-34"/>
              <a:ea typeface="+mj-ea"/>
              <a:cs typeface="AngsanaUPC" panose="020B0502040204020203" pitchFamily="18" charset="-34"/>
            </a:endParaRP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395CCE25-D6B8-F3EE-ADFF-2E41F466AF82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232820058"/>
              </p:ext>
            </p:extLst>
          </p:nvPr>
        </p:nvGraphicFramePr>
        <p:xfrm>
          <a:off x="1783080" y="2053590"/>
          <a:ext cx="4038600" cy="4336306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4038600">
                  <a:extLst>
                    <a:ext uri="{9D8B030D-6E8A-4147-A177-3AD203B41FA5}">
                      <a16:colId xmlns:a16="http://schemas.microsoft.com/office/drawing/2014/main" val="1023408429"/>
                    </a:ext>
                  </a:extLst>
                </a:gridCol>
              </a:tblGrid>
              <a:tr h="307217">
                <a:tc>
                  <a:txBody>
                    <a:bodyPr/>
                    <a:lstStyle/>
                    <a:p>
                      <a:r>
                        <a:rPr lang="en-PH" sz="1300" b="0" dirty="0"/>
                        <a:t>1. Receive and </a:t>
                      </a:r>
                      <a:r>
                        <a:rPr lang="en-PH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time-stamp the document.</a:t>
                      </a:r>
                      <a:endParaRPr lang="en-PH" sz="1300" b="0" dirty="0"/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520679716"/>
                  </a:ext>
                </a:extLst>
              </a:tr>
              <a:tr h="472642">
                <a:tc>
                  <a:txBody>
                    <a:bodyPr/>
                    <a:lstStyle/>
                    <a:p>
                      <a:r>
                        <a:rPr lang="en-US" sz="1300" dirty="0"/>
                        <a:t>2. Encode document subject, sender name and address to DTS (Data Tracking System).</a:t>
                      </a:r>
                      <a:endParaRPr lang="en-PH" sz="1300" dirty="0"/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580981062"/>
                  </a:ext>
                </a:extLst>
              </a:tr>
              <a:tr h="349755">
                <a:tc>
                  <a:txBody>
                    <a:bodyPr/>
                    <a:lstStyle/>
                    <a:p>
                      <a:r>
                        <a:rPr lang="en-US" sz="1300" dirty="0"/>
                        <a:t>3. Print transmittal slip from DTS.</a:t>
                      </a:r>
                      <a:endParaRPr lang="en-PH" sz="1300" dirty="0"/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3229492640"/>
                  </a:ext>
                </a:extLst>
              </a:tr>
              <a:tr h="472642">
                <a:tc>
                  <a:txBody>
                    <a:bodyPr/>
                    <a:lstStyle/>
                    <a:p>
                      <a:r>
                        <a:rPr lang="en-US" sz="1300" dirty="0"/>
                        <a:t>4. Write the DTS-generated reference number to the document.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170580386"/>
                  </a:ext>
                </a:extLst>
              </a:tr>
              <a:tr h="4726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/>
                        <a:t>5. Encode details to monitoring log sheet (subject, sender name and address, time received)</a:t>
                      </a:r>
                      <a:endParaRPr lang="en-PH" sz="1300" dirty="0"/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2361778940"/>
                  </a:ext>
                </a:extLst>
              </a:tr>
              <a:tr h="472642">
                <a:tc>
                  <a:txBody>
                    <a:bodyPr/>
                    <a:lstStyle/>
                    <a:p>
                      <a:r>
                        <a:rPr lang="en-US" sz="1300" dirty="0"/>
                        <a:t>6. Scan document and save to OneDrive. Attach the printed transmittal slip.</a:t>
                      </a:r>
                      <a:endParaRPr lang="en-PH" sz="1300" dirty="0"/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2591390253"/>
                  </a:ext>
                </a:extLst>
              </a:tr>
              <a:tr h="349755">
                <a:tc>
                  <a:txBody>
                    <a:bodyPr/>
                    <a:lstStyle/>
                    <a:p>
                      <a:r>
                        <a:rPr lang="en-US" sz="1300" dirty="0"/>
                        <a:t>7. Print the updated log sheet.</a:t>
                      </a:r>
                      <a:endParaRPr lang="en-PH" sz="1300" dirty="0"/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2689093250"/>
                  </a:ext>
                </a:extLst>
              </a:tr>
              <a:tr h="349755">
                <a:tc>
                  <a:txBody>
                    <a:bodyPr/>
                    <a:lstStyle/>
                    <a:p>
                      <a:r>
                        <a:rPr lang="en-US" sz="1300" dirty="0"/>
                        <a:t>8. Endorse document to OPM.</a:t>
                      </a:r>
                      <a:endParaRPr lang="en-PH" sz="1300" dirty="0"/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2039443659"/>
                  </a:ext>
                </a:extLst>
              </a:tr>
              <a:tr h="496760">
                <a:tc>
                  <a:txBody>
                    <a:bodyPr/>
                    <a:lstStyle/>
                    <a:p>
                      <a:r>
                        <a:rPr lang="en-US" sz="1400" dirty="0"/>
                        <a:t>9. PM writes instructions on the transmittal slip and physically routed/endorsed to concerned RC.</a:t>
                      </a:r>
                      <a:endParaRPr lang="en-PH" sz="1400" dirty="0"/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668629673"/>
                  </a:ext>
                </a:extLst>
              </a:tr>
            </a:tbl>
          </a:graphicData>
        </a:graphic>
      </p:graphicFrame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14AFCF-3F17-44BB-DC3B-5C0A63A09D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31257" y="1615202"/>
            <a:ext cx="3887391" cy="407908"/>
          </a:xfr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700" b="0" dirty="0">
                <a:latin typeface="AngsanaUPC" panose="020B0502040204020203" pitchFamily="18" charset="-34"/>
                <a:ea typeface="+mj-ea"/>
                <a:cs typeface="AngsanaUPC" panose="020B0502040204020203" pitchFamily="18" charset="-34"/>
              </a:rPr>
              <a:t>Proposed</a:t>
            </a:r>
            <a:endParaRPr lang="en-PH" sz="2700" b="0" dirty="0">
              <a:latin typeface="AngsanaUPC" panose="020B0502040204020203" pitchFamily="18" charset="-34"/>
              <a:ea typeface="+mj-ea"/>
              <a:cs typeface="AngsanaUPC" panose="020B0502040204020203" pitchFamily="18" charset="-34"/>
            </a:endParaRP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2278BA86-70E7-8DE5-E328-1BA7209B34E1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1457462626"/>
              </p:ext>
            </p:extLst>
          </p:nvPr>
        </p:nvGraphicFramePr>
        <p:xfrm>
          <a:off x="6001943" y="2053592"/>
          <a:ext cx="4346019" cy="471678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4346019">
                  <a:extLst>
                    <a:ext uri="{9D8B030D-6E8A-4147-A177-3AD203B41FA5}">
                      <a16:colId xmlns:a16="http://schemas.microsoft.com/office/drawing/2014/main" val="769462471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r>
                        <a:rPr lang="en-US" sz="1300" b="0" dirty="0"/>
                        <a:t>1. </a:t>
                      </a:r>
                      <a:r>
                        <a:rPr lang="en-PH" sz="1300" b="0" dirty="0"/>
                        <a:t>Receive and </a:t>
                      </a:r>
                      <a:r>
                        <a:rPr lang="en-PH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time-stamp the document.</a:t>
                      </a:r>
                      <a:endParaRPr lang="en-PH" sz="1300" b="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977625656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r>
                        <a:rPr lang="en-US" sz="1300" dirty="0"/>
                        <a:t>2. Scan document and upload to an </a:t>
                      </a:r>
                      <a:r>
                        <a:rPr lang="en-PH" sz="1300" dirty="0"/>
                        <a:t>Electronic Document Management System (EDMS).</a:t>
                      </a:r>
                      <a:br>
                        <a:rPr lang="en-PH" sz="1400" dirty="0"/>
                      </a:br>
                      <a:r>
                        <a:rPr lang="en-PH" sz="800" b="1" dirty="0"/>
                        <a:t>*</a:t>
                      </a:r>
                      <a:r>
                        <a:rPr lang="en-US" sz="800" b="1" dirty="0"/>
                        <a:t>Scanned document is converted to PDF and Optical Character Recognition (OCR)-enabled.</a:t>
                      </a:r>
                      <a:endParaRPr lang="en-PH" sz="1400" b="1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79222565"/>
                  </a:ext>
                </a:extLst>
              </a:tr>
              <a:tr h="464820">
                <a:tc>
                  <a:txBody>
                    <a:bodyPr/>
                    <a:lstStyle/>
                    <a:p>
                      <a:r>
                        <a:rPr lang="en-US" sz="1300" dirty="0"/>
                        <a:t>3. EDMS assigns </a:t>
                      </a:r>
                      <a:r>
                        <a:rPr lang="en-PH" sz="1300" dirty="0"/>
                        <a:t>control/tracking number and embeds it in the scanned document.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605705610"/>
                  </a:ext>
                </a:extLst>
              </a:tr>
              <a:tr h="861060">
                <a:tc>
                  <a:txBody>
                    <a:bodyPr/>
                    <a:lstStyle/>
                    <a:p>
                      <a:r>
                        <a:rPr lang="en-US" sz="1300" dirty="0"/>
                        <a:t>4. Details (subject, sender name and address) are copied from scanned document into the transmittal slip template of the EDMS. Details are automatically saved to a monitoring log sheet.</a:t>
                      </a:r>
                      <a:endParaRPr lang="en-PH" sz="13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276085869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r>
                        <a:rPr lang="en-US" sz="1300" dirty="0"/>
                        <a:t>5. Print the transmittal slip and the generated control/tracking number is printed to a sticker. Attach transmittal slip and sticker to document.</a:t>
                      </a:r>
                      <a:endParaRPr lang="en-PH" sz="13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214320479"/>
                  </a:ext>
                </a:extLst>
              </a:tr>
              <a:tr h="464820">
                <a:tc>
                  <a:txBody>
                    <a:bodyPr/>
                    <a:lstStyle/>
                    <a:p>
                      <a:r>
                        <a:rPr lang="en-US" sz="1300" dirty="0"/>
                        <a:t>6. Document/s are both physically and digitally (accessed thru EDMS) endorsed to OPM.</a:t>
                      </a:r>
                      <a:endParaRPr lang="en-PH" sz="13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680361355"/>
                  </a:ext>
                </a:extLst>
              </a:tr>
              <a:tr h="464820">
                <a:tc>
                  <a:txBody>
                    <a:bodyPr/>
                    <a:lstStyle/>
                    <a:p>
                      <a:r>
                        <a:rPr lang="en-US" sz="1300" dirty="0"/>
                        <a:t>7. PM may route the document physically and/or digitally to concerned RC.</a:t>
                      </a:r>
                      <a:endParaRPr lang="en-PH" sz="13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3781332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2693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9FA262-019C-287B-5AEA-F2662B5E0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66023-3333-E23C-1937-E6567CBFB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2650" y="935834"/>
            <a:ext cx="7886700" cy="713899"/>
          </a:xfrm>
        </p:spPr>
        <p:txBody>
          <a:bodyPr anchor="ctr">
            <a:noAutofit/>
          </a:bodyPr>
          <a:lstStyle/>
          <a:p>
            <a:pPr algn="ctr"/>
            <a:r>
              <a:rPr lang="en-US" sz="3000" dirty="0">
                <a:latin typeface="AngsanaUPC" panose="020B0502040204020203" pitchFamily="18" charset="-34"/>
                <a:cs typeface="AngsanaUPC" panose="020B0502040204020203" pitchFamily="18" charset="-34"/>
              </a:rPr>
              <a:t>Records Process Flow Improvement </a:t>
            </a:r>
            <a:br>
              <a:rPr lang="en-US" sz="3000" dirty="0">
                <a:latin typeface="AngsanaUPC" panose="020B0502040204020203" pitchFamily="18" charset="-34"/>
                <a:cs typeface="AngsanaUPC" panose="020B0502040204020203" pitchFamily="18" charset="-34"/>
              </a:rPr>
            </a:br>
            <a:r>
              <a:rPr lang="en-US" sz="3000" dirty="0">
                <a:latin typeface="AngsanaUPC" panose="020B0502040204020203" pitchFamily="18" charset="-34"/>
                <a:cs typeface="AngsanaUPC" panose="020B0502040204020203" pitchFamily="18" charset="-34"/>
              </a:rPr>
              <a:t>Outgoing Communications</a:t>
            </a:r>
            <a:endParaRPr lang="en-PH" sz="3000" dirty="0">
              <a:latin typeface="AngsanaUPC" panose="020B0502040204020203" pitchFamily="18" charset="-34"/>
              <a:cs typeface="AngsanaUPC" panose="020B0502040204020203" pitchFamily="18" charset="-34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2FEF21-22CB-0EEC-A10B-0C6D1FA0DE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68210" y="1592342"/>
            <a:ext cx="3868340" cy="407908"/>
          </a:xfrm>
        </p:spPr>
        <p:txBody>
          <a:bodyPr anchor="ctr">
            <a:noAutofit/>
          </a:bodyPr>
          <a:lstStyle/>
          <a:p>
            <a:pPr algn="ctr"/>
            <a:r>
              <a:rPr lang="en-US" sz="2700" b="0" dirty="0">
                <a:latin typeface="AngsanaUPC" panose="020B0502040204020203" pitchFamily="18" charset="-34"/>
                <a:ea typeface="+mj-ea"/>
                <a:cs typeface="AngsanaUPC" panose="020B0502040204020203" pitchFamily="18" charset="-34"/>
              </a:rPr>
              <a:t>Existing</a:t>
            </a:r>
            <a:endParaRPr lang="en-PH" sz="2700" b="0" dirty="0">
              <a:latin typeface="AngsanaUPC" panose="020B0502040204020203" pitchFamily="18" charset="-34"/>
              <a:ea typeface="+mj-ea"/>
              <a:cs typeface="AngsanaUPC" panose="020B0502040204020203" pitchFamily="18" charset="-34"/>
            </a:endParaRP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C4767D25-2A3A-A7DA-EC6F-1A27C0CE2E8C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874651442"/>
              </p:ext>
            </p:extLst>
          </p:nvPr>
        </p:nvGraphicFramePr>
        <p:xfrm>
          <a:off x="1783080" y="2053591"/>
          <a:ext cx="4038600" cy="3792522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4038600">
                  <a:extLst>
                    <a:ext uri="{9D8B030D-6E8A-4147-A177-3AD203B41FA5}">
                      <a16:colId xmlns:a16="http://schemas.microsoft.com/office/drawing/2014/main" val="1023408429"/>
                    </a:ext>
                  </a:extLst>
                </a:gridCol>
              </a:tblGrid>
              <a:tr h="390329">
                <a:tc>
                  <a:txBody>
                    <a:bodyPr/>
                    <a:lstStyle/>
                    <a:p>
                      <a:r>
                        <a:rPr lang="en-PH" sz="1300" b="0" dirty="0"/>
                        <a:t>1. Receive and </a:t>
                      </a:r>
                      <a:r>
                        <a:rPr lang="en-PH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time-stamp the document.</a:t>
                      </a:r>
                      <a:endParaRPr lang="en-PH" sz="1300" b="0" dirty="0"/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520679716"/>
                  </a:ext>
                </a:extLst>
              </a:tr>
              <a:tr h="751647">
                <a:tc>
                  <a:txBody>
                    <a:bodyPr/>
                    <a:lstStyle/>
                    <a:p>
                      <a:r>
                        <a:rPr lang="en-US" sz="1300" dirty="0"/>
                        <a:t>2. Encode/Log time received, sender details (RC and sender’s initials), document subject, recipient and CF party.</a:t>
                      </a:r>
                      <a:endParaRPr lang="en-PH" sz="1300" dirty="0"/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580981062"/>
                  </a:ext>
                </a:extLst>
              </a:tr>
              <a:tr h="390329">
                <a:tc>
                  <a:txBody>
                    <a:bodyPr/>
                    <a:lstStyle/>
                    <a:p>
                      <a:r>
                        <a:rPr lang="en-US" sz="1300" dirty="0"/>
                        <a:t>3. Write reference code/number on all copies.</a:t>
                      </a:r>
                      <a:endParaRPr lang="en-PH" sz="1300" dirty="0"/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3229492640"/>
                  </a:ext>
                </a:extLst>
              </a:tr>
              <a:tr h="527472">
                <a:tc>
                  <a:txBody>
                    <a:bodyPr/>
                    <a:lstStyle/>
                    <a:p>
                      <a:r>
                        <a:rPr lang="en-US" sz="1300" dirty="0"/>
                        <a:t>4. Scan document and save to OneDrive. File Record’s hardcopy to storage.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170580386"/>
                  </a:ext>
                </a:extLst>
              </a:tr>
              <a:tr h="52747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/>
                        <a:t>5. Batch/Group documents (for HO, PMO, TMOs, other PMOs, external recipient/s).</a:t>
                      </a:r>
                      <a:endParaRPr lang="en-PH" sz="1300" dirty="0"/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2361778940"/>
                  </a:ext>
                </a:extLst>
              </a:tr>
              <a:tr h="527472">
                <a:tc>
                  <a:txBody>
                    <a:bodyPr/>
                    <a:lstStyle/>
                    <a:p>
                      <a:r>
                        <a:rPr lang="en-US" sz="1300" dirty="0"/>
                        <a:t>6. Prepare transmittals for documents for PPA recipients. </a:t>
                      </a:r>
                      <a:endParaRPr lang="en-PH" sz="1300" dirty="0"/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2591390253"/>
                  </a:ext>
                </a:extLst>
              </a:tr>
              <a:tr h="677801">
                <a:tc>
                  <a:txBody>
                    <a:bodyPr/>
                    <a:lstStyle/>
                    <a:p>
                      <a:r>
                        <a:rPr lang="en-US" sz="1300" dirty="0"/>
                        <a:t>7. Dispatch documents (via courier, PMO assigned driver, personally handed)</a:t>
                      </a:r>
                      <a:endParaRPr lang="en-PH" sz="1300" dirty="0"/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2689093250"/>
                  </a:ext>
                </a:extLst>
              </a:tr>
            </a:tbl>
          </a:graphicData>
        </a:graphic>
      </p:graphicFrame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C64309-F951-3F80-6A8F-A6869F7183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31257" y="1615202"/>
            <a:ext cx="3887391" cy="407908"/>
          </a:xfr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700" b="0" dirty="0">
                <a:latin typeface="AngsanaUPC" panose="020B0502040204020203" pitchFamily="18" charset="-34"/>
                <a:ea typeface="+mj-ea"/>
                <a:cs typeface="AngsanaUPC" panose="020B0502040204020203" pitchFamily="18" charset="-34"/>
              </a:rPr>
              <a:t>Proposed</a:t>
            </a:r>
            <a:endParaRPr lang="en-PH" sz="2700" b="0" dirty="0">
              <a:latin typeface="AngsanaUPC" panose="020B0502040204020203" pitchFamily="18" charset="-34"/>
              <a:ea typeface="+mj-ea"/>
              <a:cs typeface="AngsanaUPC" panose="020B0502040204020203" pitchFamily="18" charset="-34"/>
            </a:endParaRP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3F9DA92F-32F5-90D5-EC71-0CCB04F5EB33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2260453000"/>
              </p:ext>
            </p:extLst>
          </p:nvPr>
        </p:nvGraphicFramePr>
        <p:xfrm>
          <a:off x="6001943" y="2053590"/>
          <a:ext cx="4346019" cy="3973497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4346019">
                  <a:extLst>
                    <a:ext uri="{9D8B030D-6E8A-4147-A177-3AD203B41FA5}">
                      <a16:colId xmlns:a16="http://schemas.microsoft.com/office/drawing/2014/main" val="769462471"/>
                    </a:ext>
                  </a:extLst>
                </a:gridCol>
              </a:tblGrid>
              <a:tr h="346377">
                <a:tc>
                  <a:txBody>
                    <a:bodyPr/>
                    <a:lstStyle/>
                    <a:p>
                      <a:r>
                        <a:rPr lang="en-US" sz="1300" b="0" dirty="0"/>
                        <a:t>1. </a:t>
                      </a:r>
                      <a:r>
                        <a:rPr lang="en-PH" sz="1300" b="0" dirty="0"/>
                        <a:t>Receive and </a:t>
                      </a:r>
                      <a:r>
                        <a:rPr lang="en-PH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time-stamp the document.</a:t>
                      </a:r>
                      <a:endParaRPr lang="en-PH" sz="1300" b="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977625656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r>
                        <a:rPr lang="en-US" sz="1300" dirty="0"/>
                        <a:t>2. Scan document and upload to an </a:t>
                      </a:r>
                      <a:r>
                        <a:rPr lang="en-PH" sz="1300" dirty="0"/>
                        <a:t>Electronic Document Management System (EDMS).</a:t>
                      </a:r>
                      <a:br>
                        <a:rPr lang="en-PH" sz="1400" dirty="0"/>
                      </a:br>
                      <a:r>
                        <a:rPr lang="en-PH" sz="800" b="1" dirty="0"/>
                        <a:t>*</a:t>
                      </a:r>
                      <a:r>
                        <a:rPr lang="en-US" sz="800" b="1" dirty="0"/>
                        <a:t>Scanned document is converted to PDF and Optical Character Recognition (OCR)-enabled.</a:t>
                      </a:r>
                      <a:endParaRPr lang="en-PH" sz="1400" b="1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79222565"/>
                  </a:ext>
                </a:extLst>
              </a:tr>
              <a:tr h="464820">
                <a:tc>
                  <a:txBody>
                    <a:bodyPr/>
                    <a:lstStyle/>
                    <a:p>
                      <a:r>
                        <a:rPr lang="en-US" sz="1300" dirty="0"/>
                        <a:t>3. EDMS assigns reference code/</a:t>
                      </a:r>
                      <a:r>
                        <a:rPr lang="en-PH" sz="1300" dirty="0"/>
                        <a:t>number and embeds it in the scanned document.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605705610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r>
                        <a:rPr lang="en-US" sz="1300" dirty="0"/>
                        <a:t>4. Details (time received, sender details, document subject, recipient and CF party ) are extracted from the scanned document into the monitoring log sheet.</a:t>
                      </a:r>
                      <a:endParaRPr lang="en-PH" sz="13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276085869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r>
                        <a:rPr lang="en-US" sz="1300" dirty="0"/>
                        <a:t>5. EDMS will classify logged documents according to recipient and generate transmittals (for HO, PMO, TMOs, other PMOs)</a:t>
                      </a:r>
                      <a:endParaRPr lang="en-PH" sz="13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214320479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r>
                        <a:rPr lang="en-US" sz="1300" dirty="0"/>
                        <a:t>6. Print the generated reference code/number sticker. Attach sticker/s according to the number of copies per outgoing document.</a:t>
                      </a:r>
                      <a:endParaRPr lang="en-PH" sz="13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680361355"/>
                  </a:ext>
                </a:extLst>
              </a:tr>
              <a:tr h="464820">
                <a:tc>
                  <a:txBody>
                    <a:bodyPr/>
                    <a:lstStyle/>
                    <a:p>
                      <a:r>
                        <a:rPr lang="en-US" sz="1300" dirty="0"/>
                        <a:t>7. Dispatch documents (via courier, PMO assigned driver, personally handed)</a:t>
                      </a:r>
                      <a:endParaRPr lang="en-PH" sz="13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3781332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86494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TextBox 12">
            <a:extLst>
              <a:ext uri="{FF2B5EF4-FFF2-40B4-BE49-F238E27FC236}">
                <a16:creationId xmlns:a16="http://schemas.microsoft.com/office/drawing/2014/main" id="{F732C616-26EB-BBCE-DBE9-E94E0A12E1A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59835084"/>
              </p:ext>
            </p:extLst>
          </p:nvPr>
        </p:nvGraphicFramePr>
        <p:xfrm>
          <a:off x="5432239" y="1149614"/>
          <a:ext cx="5549705" cy="56809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52F2C72B-5684-48DC-E807-14DF0BEF6E97}"/>
              </a:ext>
            </a:extLst>
          </p:cNvPr>
          <p:cNvSpPr txBox="1"/>
          <p:nvPr/>
        </p:nvSpPr>
        <p:spPr>
          <a:xfrm>
            <a:off x="3048762" y="457200"/>
            <a:ext cx="60944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400"/>
              </a:spcBef>
              <a:spcAft>
                <a:spcPts val="1200"/>
              </a:spcAft>
            </a:pPr>
            <a:r>
              <a:rPr lang="en-PH" sz="2800" b="1" dirty="0">
                <a:solidFill>
                  <a:srgbClr val="0F1115"/>
                </a:solidFill>
                <a:effectLst/>
                <a:latin typeface="quote-cjk-patch"/>
              </a:rPr>
              <a:t>System Process Flow (Textual Diagram)</a:t>
            </a:r>
          </a:p>
        </p:txBody>
      </p:sp>
      <p:pic>
        <p:nvPicPr>
          <p:cNvPr id="5" name="Picture 4" descr="A diagram of a diagram&#10;&#10;Description automatically generated">
            <a:extLst>
              <a:ext uri="{FF2B5EF4-FFF2-40B4-BE49-F238E27FC236}">
                <a16:creationId xmlns:a16="http://schemas.microsoft.com/office/drawing/2014/main" id="{25001DED-906E-3C08-CFD3-FE59DCFBC86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2467" y="0"/>
            <a:ext cx="19062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1256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D2B266D-3625-4584-A5C3-7D3F672CFF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463B99A-73EE-4FBB-B7C4-F9F9BCC25C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A5D2A5D1-BA0D-47D3-B051-DA7743C46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219825"/>
          </a:xfrm>
          <a:custGeom>
            <a:avLst/>
            <a:gdLst>
              <a:gd name="connsiteX0" fmla="*/ 6789701 w 12192000"/>
              <a:gd name="connsiteY0" fmla="*/ 6151588 h 6219825"/>
              <a:gd name="connsiteX1" fmla="*/ 6788702 w 12192000"/>
              <a:gd name="connsiteY1" fmla="*/ 6151666 h 6219825"/>
              <a:gd name="connsiteX2" fmla="*/ 6788476 w 12192000"/>
              <a:gd name="connsiteY2" fmla="*/ 6152200 h 6219825"/>
              <a:gd name="connsiteX3" fmla="*/ 9834 w 12192000"/>
              <a:gd name="connsiteY3" fmla="*/ 0 h 6219825"/>
              <a:gd name="connsiteX4" fmla="*/ 12357 w 12192000"/>
              <a:gd name="connsiteY4" fmla="*/ 1 h 6219825"/>
              <a:gd name="connsiteX5" fmla="*/ 12192000 w 12192000"/>
              <a:gd name="connsiteY5" fmla="*/ 1 h 6219825"/>
              <a:gd name="connsiteX6" fmla="*/ 12192000 w 12192000"/>
              <a:gd name="connsiteY6" fmla="*/ 5105401 h 6219825"/>
              <a:gd name="connsiteX7" fmla="*/ 12191716 w 12192000"/>
              <a:gd name="connsiteY7" fmla="*/ 5105401 h 6219825"/>
              <a:gd name="connsiteX8" fmla="*/ 12192000 w 12192000"/>
              <a:gd name="connsiteY8" fmla="*/ 5256977 h 6219825"/>
              <a:gd name="connsiteX9" fmla="*/ 12061096 w 12192000"/>
              <a:gd name="connsiteY9" fmla="*/ 5296034 h 6219825"/>
              <a:gd name="connsiteX10" fmla="*/ 11676800 w 12192000"/>
              <a:gd name="connsiteY10" fmla="*/ 5399652 h 6219825"/>
              <a:gd name="connsiteX11" fmla="*/ 10425355 w 12192000"/>
              <a:gd name="connsiteY11" fmla="*/ 5683310 h 6219825"/>
              <a:gd name="connsiteX12" fmla="*/ 9424022 w 12192000"/>
              <a:gd name="connsiteY12" fmla="*/ 5858546 h 6219825"/>
              <a:gd name="connsiteX13" fmla="*/ 8458419 w 12192000"/>
              <a:gd name="connsiteY13" fmla="*/ 5992303 h 6219825"/>
              <a:gd name="connsiteX14" fmla="*/ 7715970 w 12192000"/>
              <a:gd name="connsiteY14" fmla="*/ 6072283 h 6219825"/>
              <a:gd name="connsiteX15" fmla="*/ 6951716 w 12192000"/>
              <a:gd name="connsiteY15" fmla="*/ 6138091 h 6219825"/>
              <a:gd name="connsiteX16" fmla="*/ 6936303 w 12192000"/>
              <a:gd name="connsiteY16" fmla="*/ 6140163 h 6219825"/>
              <a:gd name="connsiteX17" fmla="*/ 6790448 w 12192000"/>
              <a:gd name="connsiteY17" fmla="*/ 6151529 h 6219825"/>
              <a:gd name="connsiteX18" fmla="*/ 6799941 w 12192000"/>
              <a:gd name="connsiteY18" fmla="*/ 6153349 h 6219825"/>
              <a:gd name="connsiteX19" fmla="*/ 6835432 w 12192000"/>
              <a:gd name="connsiteY19" fmla="*/ 6151642 h 6219825"/>
              <a:gd name="connsiteX20" fmla="*/ 6884003 w 12192000"/>
              <a:gd name="connsiteY20" fmla="*/ 6148662 h 6219825"/>
              <a:gd name="connsiteX21" fmla="*/ 7578771 w 12192000"/>
              <a:gd name="connsiteY21" fmla="*/ 6116122 h 6219825"/>
              <a:gd name="connsiteX22" fmla="*/ 8623845 w 12192000"/>
              <a:gd name="connsiteY22" fmla="*/ 6029188 h 6219825"/>
              <a:gd name="connsiteX23" fmla="*/ 9479970 w 12192000"/>
              <a:gd name="connsiteY23" fmla="*/ 5925239 h 6219825"/>
              <a:gd name="connsiteX24" fmla="*/ 10629308 w 12192000"/>
              <a:gd name="connsiteY24" fmla="*/ 5731000 h 6219825"/>
              <a:gd name="connsiteX25" fmla="*/ 11998498 w 12192000"/>
              <a:gd name="connsiteY25" fmla="*/ 5404869 h 6219825"/>
              <a:gd name="connsiteX26" fmla="*/ 12192000 w 12192000"/>
              <a:gd name="connsiteY26" fmla="*/ 5347846 h 6219825"/>
              <a:gd name="connsiteX27" fmla="*/ 12192000 w 12192000"/>
              <a:gd name="connsiteY27" fmla="*/ 5402606 h 6219825"/>
              <a:gd name="connsiteX28" fmla="*/ 11829257 w 12192000"/>
              <a:gd name="connsiteY28" fmla="*/ 5507950 h 6219825"/>
              <a:gd name="connsiteX29" fmla="*/ 10939183 w 12192000"/>
              <a:gd name="connsiteY29" fmla="*/ 5722555 h 6219825"/>
              <a:gd name="connsiteX30" fmla="*/ 9985530 w 12192000"/>
              <a:gd name="connsiteY30" fmla="*/ 5902635 h 6219825"/>
              <a:gd name="connsiteX31" fmla="*/ 9186882 w 12192000"/>
              <a:gd name="connsiteY31" fmla="*/ 6018631 h 6219825"/>
              <a:gd name="connsiteX32" fmla="*/ 8578198 w 12192000"/>
              <a:gd name="connsiteY32" fmla="*/ 6088179 h 6219825"/>
              <a:gd name="connsiteX33" fmla="*/ 7864358 w 12192000"/>
              <a:gd name="connsiteY33" fmla="*/ 6149656 h 6219825"/>
              <a:gd name="connsiteX34" fmla="*/ 6935502 w 12192000"/>
              <a:gd name="connsiteY34" fmla="*/ 6201071 h 6219825"/>
              <a:gd name="connsiteX35" fmla="*/ 6477750 w 12192000"/>
              <a:gd name="connsiteY35" fmla="*/ 6214980 h 6219825"/>
              <a:gd name="connsiteX36" fmla="*/ 6362294 w 12192000"/>
              <a:gd name="connsiteY36" fmla="*/ 6219825 h 6219825"/>
              <a:gd name="connsiteX37" fmla="*/ 6057129 w 12192000"/>
              <a:gd name="connsiteY37" fmla="*/ 6219825 h 6219825"/>
              <a:gd name="connsiteX38" fmla="*/ 5977784 w 12192000"/>
              <a:gd name="connsiteY38" fmla="*/ 6215229 h 6219825"/>
              <a:gd name="connsiteX39" fmla="*/ 5265087 w 12192000"/>
              <a:gd name="connsiteY39" fmla="*/ 6178965 h 6219825"/>
              <a:gd name="connsiteX40" fmla="*/ 4346277 w 12192000"/>
              <a:gd name="connsiteY40" fmla="*/ 6116869 h 6219825"/>
              <a:gd name="connsiteX41" fmla="*/ 3373045 w 12192000"/>
              <a:gd name="connsiteY41" fmla="*/ 6018259 h 6219825"/>
              <a:gd name="connsiteX42" fmla="*/ 2362173 w 12192000"/>
              <a:gd name="connsiteY42" fmla="*/ 5899282 h 6219825"/>
              <a:gd name="connsiteX43" fmla="*/ 1233178 w 12192000"/>
              <a:gd name="connsiteY43" fmla="*/ 5726033 h 6219825"/>
              <a:gd name="connsiteX44" fmla="*/ 68500 w 12192000"/>
              <a:gd name="connsiteY44" fmla="*/ 5486226 h 6219825"/>
              <a:gd name="connsiteX45" fmla="*/ 0 w 12192000"/>
              <a:gd name="connsiteY45" fmla="*/ 5468863 h 6219825"/>
              <a:gd name="connsiteX46" fmla="*/ 0 w 12192000"/>
              <a:gd name="connsiteY46" fmla="*/ 5412351 h 6219825"/>
              <a:gd name="connsiteX47" fmla="*/ 72441 w 12192000"/>
              <a:gd name="connsiteY47" fmla="*/ 5431135 h 6219825"/>
              <a:gd name="connsiteX48" fmla="*/ 600716 w 12192000"/>
              <a:gd name="connsiteY48" fmla="*/ 5549555 h 6219825"/>
              <a:gd name="connsiteX49" fmla="*/ 1769512 w 12192000"/>
              <a:gd name="connsiteY49" fmla="*/ 5759811 h 6219825"/>
              <a:gd name="connsiteX50" fmla="*/ 2613554 w 12192000"/>
              <a:gd name="connsiteY50" fmla="*/ 5876802 h 6219825"/>
              <a:gd name="connsiteX51" fmla="*/ 2581134 w 12192000"/>
              <a:gd name="connsiteY51" fmla="*/ 5866867 h 6219825"/>
              <a:gd name="connsiteX52" fmla="*/ 1112635 w 12192000"/>
              <a:gd name="connsiteY52" fmla="*/ 5534031 h 6219825"/>
              <a:gd name="connsiteX53" fmla="*/ 420412 w 12192000"/>
              <a:gd name="connsiteY53" fmla="*/ 5334514 h 6219825"/>
              <a:gd name="connsiteX54" fmla="*/ 0 w 12192000"/>
              <a:gd name="connsiteY54" fmla="*/ 5195539 h 6219825"/>
              <a:gd name="connsiteX55" fmla="*/ 60 w 12192000"/>
              <a:gd name="connsiteY55" fmla="*/ 5105401 h 6219825"/>
              <a:gd name="connsiteX56" fmla="*/ 0 w 12192000"/>
              <a:gd name="connsiteY56" fmla="*/ 5105401 h 6219825"/>
              <a:gd name="connsiteX57" fmla="*/ 0 w 12192000"/>
              <a:gd name="connsiteY57" fmla="*/ 1 h 6219825"/>
              <a:gd name="connsiteX58" fmla="*/ 9834 w 12192000"/>
              <a:gd name="connsiteY58" fmla="*/ 1 h 6219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12192000" h="6219825">
                <a:moveTo>
                  <a:pt x="6789701" y="6151588"/>
                </a:moveTo>
                <a:lnTo>
                  <a:pt x="6788702" y="6151666"/>
                </a:lnTo>
                <a:cubicBezTo>
                  <a:pt x="6788627" y="6151844"/>
                  <a:pt x="6788551" y="6152022"/>
                  <a:pt x="6788476" y="6152200"/>
                </a:cubicBezTo>
                <a:close/>
                <a:moveTo>
                  <a:pt x="9834" y="0"/>
                </a:moveTo>
                <a:lnTo>
                  <a:pt x="12357" y="1"/>
                </a:lnTo>
                <a:lnTo>
                  <a:pt x="12192000" y="1"/>
                </a:lnTo>
                <a:lnTo>
                  <a:pt x="12192000" y="5105401"/>
                </a:lnTo>
                <a:lnTo>
                  <a:pt x="12191716" y="5105401"/>
                </a:lnTo>
                <a:lnTo>
                  <a:pt x="12192000" y="5256977"/>
                </a:lnTo>
                <a:lnTo>
                  <a:pt x="12061096" y="5296034"/>
                </a:lnTo>
                <a:cubicBezTo>
                  <a:pt x="11933500" y="5332263"/>
                  <a:pt x="11805390" y="5366806"/>
                  <a:pt x="11676800" y="5399652"/>
                </a:cubicBezTo>
                <a:cubicBezTo>
                  <a:pt x="11262789" y="5507204"/>
                  <a:pt x="10845343" y="5600846"/>
                  <a:pt x="10425355" y="5683310"/>
                </a:cubicBezTo>
                <a:cubicBezTo>
                  <a:pt x="10092810" y="5748549"/>
                  <a:pt x="9759033" y="5806970"/>
                  <a:pt x="9424022" y="5858546"/>
                </a:cubicBezTo>
                <a:cubicBezTo>
                  <a:pt x="9102997" y="5908224"/>
                  <a:pt x="8781133" y="5952809"/>
                  <a:pt x="8458419" y="5992303"/>
                </a:cubicBezTo>
                <a:cubicBezTo>
                  <a:pt x="8211360" y="6022481"/>
                  <a:pt x="7963792" y="6048065"/>
                  <a:pt x="7715970" y="6072283"/>
                </a:cubicBezTo>
                <a:lnTo>
                  <a:pt x="6951716" y="6138091"/>
                </a:lnTo>
                <a:lnTo>
                  <a:pt x="6936303" y="6140163"/>
                </a:lnTo>
                <a:lnTo>
                  <a:pt x="6790448" y="6151529"/>
                </a:lnTo>
                <a:lnTo>
                  <a:pt x="6799941" y="6153349"/>
                </a:lnTo>
                <a:cubicBezTo>
                  <a:pt x="6811623" y="6153816"/>
                  <a:pt x="6823734" y="6151642"/>
                  <a:pt x="6835432" y="6151642"/>
                </a:cubicBezTo>
                <a:cubicBezTo>
                  <a:pt x="6851580" y="6151642"/>
                  <a:pt x="6867729" y="6149034"/>
                  <a:pt x="6884003" y="6148662"/>
                </a:cubicBezTo>
                <a:cubicBezTo>
                  <a:pt x="7115805" y="6143198"/>
                  <a:pt x="7347351" y="6131026"/>
                  <a:pt x="7578771" y="6116122"/>
                </a:cubicBezTo>
                <a:cubicBezTo>
                  <a:pt x="7927552" y="6093644"/>
                  <a:pt x="8276080" y="6065453"/>
                  <a:pt x="8623845" y="6029188"/>
                </a:cubicBezTo>
                <a:cubicBezTo>
                  <a:pt x="8909939" y="5999878"/>
                  <a:pt x="9195310" y="5965228"/>
                  <a:pt x="9479970" y="5925239"/>
                </a:cubicBezTo>
                <a:cubicBezTo>
                  <a:pt x="9864901" y="5870842"/>
                  <a:pt x="10248014" y="5806101"/>
                  <a:pt x="10629308" y="5731000"/>
                </a:cubicBezTo>
                <a:cubicBezTo>
                  <a:pt x="11090114" y="5639842"/>
                  <a:pt x="11546975" y="5532291"/>
                  <a:pt x="11998498" y="5404869"/>
                </a:cubicBezTo>
                <a:lnTo>
                  <a:pt x="12192000" y="5347846"/>
                </a:lnTo>
                <a:lnTo>
                  <a:pt x="12192000" y="5402606"/>
                </a:lnTo>
                <a:lnTo>
                  <a:pt x="11829257" y="5507950"/>
                </a:lnTo>
                <a:cubicBezTo>
                  <a:pt x="11534769" y="5587680"/>
                  <a:pt x="11238120" y="5658596"/>
                  <a:pt x="10939183" y="5722555"/>
                </a:cubicBezTo>
                <a:cubicBezTo>
                  <a:pt x="10622824" y="5790365"/>
                  <a:pt x="10304941" y="5850387"/>
                  <a:pt x="9985530" y="5902635"/>
                </a:cubicBezTo>
                <a:cubicBezTo>
                  <a:pt x="9720036" y="5946102"/>
                  <a:pt x="9453814" y="5984764"/>
                  <a:pt x="9186882" y="6018631"/>
                </a:cubicBezTo>
                <a:cubicBezTo>
                  <a:pt x="8984197" y="6044216"/>
                  <a:pt x="8781514" y="6068309"/>
                  <a:pt x="8578198" y="6088179"/>
                </a:cubicBezTo>
                <a:lnTo>
                  <a:pt x="7864358" y="6149656"/>
                </a:lnTo>
                <a:cubicBezTo>
                  <a:pt x="7554994" y="6172009"/>
                  <a:pt x="7245502" y="6189895"/>
                  <a:pt x="6935502" y="6201071"/>
                </a:cubicBezTo>
                <a:lnTo>
                  <a:pt x="6477750" y="6214980"/>
                </a:lnTo>
                <a:cubicBezTo>
                  <a:pt x="6439195" y="6212895"/>
                  <a:pt x="6400529" y="6214521"/>
                  <a:pt x="6362294" y="6219825"/>
                </a:cubicBezTo>
                <a:lnTo>
                  <a:pt x="6057129" y="6219825"/>
                </a:lnTo>
                <a:lnTo>
                  <a:pt x="5977784" y="6215229"/>
                </a:lnTo>
                <a:lnTo>
                  <a:pt x="5265087" y="6178965"/>
                </a:lnTo>
                <a:cubicBezTo>
                  <a:pt x="4958267" y="6166544"/>
                  <a:pt x="4651826" y="6146055"/>
                  <a:pt x="4346277" y="6116869"/>
                </a:cubicBezTo>
                <a:lnTo>
                  <a:pt x="3373045" y="6018259"/>
                </a:lnTo>
                <a:cubicBezTo>
                  <a:pt x="3035412" y="5983982"/>
                  <a:pt x="2698456" y="5944327"/>
                  <a:pt x="2362173" y="5899282"/>
                </a:cubicBezTo>
                <a:cubicBezTo>
                  <a:pt x="1984692" y="5849108"/>
                  <a:pt x="1608364" y="5791358"/>
                  <a:pt x="1233178" y="5726033"/>
                </a:cubicBezTo>
                <a:cubicBezTo>
                  <a:pt x="842181" y="5657291"/>
                  <a:pt x="453758" y="5578770"/>
                  <a:pt x="68500" y="5486226"/>
                </a:cubicBezTo>
                <a:lnTo>
                  <a:pt x="0" y="5468863"/>
                </a:lnTo>
                <a:lnTo>
                  <a:pt x="0" y="5412351"/>
                </a:lnTo>
                <a:lnTo>
                  <a:pt x="72441" y="5431135"/>
                </a:lnTo>
                <a:cubicBezTo>
                  <a:pt x="247961" y="5473331"/>
                  <a:pt x="424164" y="5512608"/>
                  <a:pt x="600716" y="5549555"/>
                </a:cubicBezTo>
                <a:cubicBezTo>
                  <a:pt x="988279" y="5630403"/>
                  <a:pt x="1378133" y="5699330"/>
                  <a:pt x="1769512" y="5759811"/>
                </a:cubicBezTo>
                <a:cubicBezTo>
                  <a:pt x="2052426" y="5803406"/>
                  <a:pt x="2335725" y="5843519"/>
                  <a:pt x="2613554" y="5876802"/>
                </a:cubicBezTo>
                <a:cubicBezTo>
                  <a:pt x="2605544" y="5879410"/>
                  <a:pt x="2594611" y="5869350"/>
                  <a:pt x="2581134" y="5866867"/>
                </a:cubicBezTo>
                <a:cubicBezTo>
                  <a:pt x="2087178" y="5774877"/>
                  <a:pt x="1597684" y="5663937"/>
                  <a:pt x="1112635" y="5534031"/>
                </a:cubicBezTo>
                <a:cubicBezTo>
                  <a:pt x="880453" y="5471934"/>
                  <a:pt x="649713" y="5405428"/>
                  <a:pt x="420412" y="5334514"/>
                </a:cubicBezTo>
                <a:lnTo>
                  <a:pt x="0" y="5195539"/>
                </a:lnTo>
                <a:lnTo>
                  <a:pt x="60" y="5105401"/>
                </a:lnTo>
                <a:lnTo>
                  <a:pt x="0" y="5105401"/>
                </a:lnTo>
                <a:lnTo>
                  <a:pt x="0" y="1"/>
                </a:lnTo>
                <a:lnTo>
                  <a:pt x="9834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73365D2-628A-93CD-0696-ABA4CD3364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0275898"/>
              </p:ext>
            </p:extLst>
          </p:nvPr>
        </p:nvGraphicFramePr>
        <p:xfrm>
          <a:off x="265175" y="1209135"/>
          <a:ext cx="11658602" cy="4272095"/>
        </p:xfrm>
        <a:graphic>
          <a:graphicData uri="http://schemas.openxmlformats.org/drawingml/2006/table">
            <a:tbl>
              <a:tblPr firstRow="1" bandRow="1">
                <a:solidFill>
                  <a:schemeClr val="bg1"/>
                </a:solidFill>
              </a:tblPr>
              <a:tblGrid>
                <a:gridCol w="2302635">
                  <a:extLst>
                    <a:ext uri="{9D8B030D-6E8A-4147-A177-3AD203B41FA5}">
                      <a16:colId xmlns:a16="http://schemas.microsoft.com/office/drawing/2014/main" val="1287919122"/>
                    </a:ext>
                  </a:extLst>
                </a:gridCol>
                <a:gridCol w="2065322">
                  <a:extLst>
                    <a:ext uri="{9D8B030D-6E8A-4147-A177-3AD203B41FA5}">
                      <a16:colId xmlns:a16="http://schemas.microsoft.com/office/drawing/2014/main" val="2848943980"/>
                    </a:ext>
                  </a:extLst>
                </a:gridCol>
                <a:gridCol w="2363355">
                  <a:extLst>
                    <a:ext uri="{9D8B030D-6E8A-4147-A177-3AD203B41FA5}">
                      <a16:colId xmlns:a16="http://schemas.microsoft.com/office/drawing/2014/main" val="3024217761"/>
                    </a:ext>
                  </a:extLst>
                </a:gridCol>
                <a:gridCol w="2217909">
                  <a:extLst>
                    <a:ext uri="{9D8B030D-6E8A-4147-A177-3AD203B41FA5}">
                      <a16:colId xmlns:a16="http://schemas.microsoft.com/office/drawing/2014/main" val="1880854591"/>
                    </a:ext>
                  </a:extLst>
                </a:gridCol>
                <a:gridCol w="2709381">
                  <a:extLst>
                    <a:ext uri="{9D8B030D-6E8A-4147-A177-3AD203B41FA5}">
                      <a16:colId xmlns:a16="http://schemas.microsoft.com/office/drawing/2014/main" val="2185319031"/>
                    </a:ext>
                  </a:extLst>
                </a:gridCol>
              </a:tblGrid>
              <a:tr h="555038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</a:pPr>
                      <a:r>
                        <a:rPr lang="en-PH" sz="1700" b="0" cap="none" spc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Phase / Task</a:t>
                      </a:r>
                    </a:p>
                  </a:txBody>
                  <a:tcPr marL="147485" marR="189083" marT="113450" marB="113450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</a:pPr>
                      <a:r>
                        <a:rPr lang="en-PH" sz="1700" b="0" cap="none" spc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Duration</a:t>
                      </a:r>
                    </a:p>
                  </a:txBody>
                  <a:tcPr marL="147485" marR="189083" marT="113450" marB="11345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</a:pPr>
                      <a:r>
                        <a:rPr lang="en-PH" sz="1700" b="0" cap="none" spc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Start Week</a:t>
                      </a:r>
                    </a:p>
                  </a:txBody>
                  <a:tcPr marL="147485" marR="189083" marT="113450" marB="11345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</a:pPr>
                      <a:r>
                        <a:rPr lang="en-PH" sz="1700" b="0" cap="none" spc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End Week</a:t>
                      </a:r>
                    </a:p>
                  </a:txBody>
                  <a:tcPr marL="147485" marR="189083" marT="113450" marB="11345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</a:pPr>
                      <a:r>
                        <a:rPr lang="en-PH" sz="1700" b="0" cap="none" spc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Dependencies</a:t>
                      </a:r>
                    </a:p>
                  </a:txBody>
                  <a:tcPr marL="147485" marR="189083" marT="113450" marB="11345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3793928"/>
                  </a:ext>
                </a:extLst>
              </a:tr>
              <a:tr h="115380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1700" b="1" cap="none" spc="0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Phase 1: Requirements &amp; Planning</a:t>
                      </a:r>
                      <a:endParaRPr lang="en-PH" sz="1700" b="0" cap="none" spc="0" dirty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L="147485" marR="189083" marT="113450" marB="113450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1700" b="0" cap="none" spc="0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4 weeks</a:t>
                      </a:r>
                    </a:p>
                  </a:txBody>
                  <a:tcPr marL="147485" marR="189083" marT="113450" marB="11345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1700" b="0" cap="none" spc="0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1</a:t>
                      </a:r>
                    </a:p>
                  </a:txBody>
                  <a:tcPr marL="147485" marR="189083" marT="113450" marB="11345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1700" b="0" cap="none" spc="0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4</a:t>
                      </a:r>
                    </a:p>
                  </a:txBody>
                  <a:tcPr marL="147485" marR="189083" marT="113450" marB="11345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17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–</a:t>
                      </a:r>
                    </a:p>
                  </a:txBody>
                  <a:tcPr marL="147485" marR="113450" marT="113450" marB="11345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7734415"/>
                  </a:ext>
                </a:extLst>
              </a:tr>
              <a:tr h="854419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1700" b="0" cap="none" spc="0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  1.1 </a:t>
                      </a:r>
                      <a:r>
                        <a:rPr lang="en-PH" sz="1700" b="1" cap="none" spc="0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Gather detailed requirements</a:t>
                      </a:r>
                    </a:p>
                  </a:txBody>
                  <a:tcPr marL="147485" marR="189083" marT="113450" marB="11345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1700" b="0" cap="none" spc="0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2 week</a:t>
                      </a:r>
                    </a:p>
                  </a:txBody>
                  <a:tcPr marL="147485" marR="189083" marT="113450" marB="11345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1700" b="0" cap="none" spc="0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1</a:t>
                      </a:r>
                    </a:p>
                  </a:txBody>
                  <a:tcPr marL="147485" marR="189083" marT="113450" marB="11345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1700" b="0" cap="none" spc="0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2</a:t>
                      </a:r>
                    </a:p>
                  </a:txBody>
                  <a:tcPr marL="147485" marR="189083" marT="113450" marB="11345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17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–</a:t>
                      </a:r>
                    </a:p>
                  </a:txBody>
                  <a:tcPr marL="147485" marR="113450" marT="113450" marB="11345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2967586"/>
                  </a:ext>
                </a:extLst>
              </a:tr>
              <a:tr h="854419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1700" b="0" cap="none" spc="0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  1.2 </a:t>
                      </a:r>
                      <a:r>
                        <a:rPr lang="en-PH" sz="1700" b="1" cap="none" spc="0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Define system architecture</a:t>
                      </a:r>
                    </a:p>
                  </a:txBody>
                  <a:tcPr marL="147485" marR="189083" marT="113450" marB="113450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1700" b="0" cap="none" spc="0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2 week</a:t>
                      </a:r>
                    </a:p>
                  </a:txBody>
                  <a:tcPr marL="147485" marR="189083" marT="113450" marB="11345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1700" b="0" cap="none" spc="0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3</a:t>
                      </a:r>
                    </a:p>
                  </a:txBody>
                  <a:tcPr marL="147485" marR="189083" marT="113450" marB="11345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1700" b="0" cap="none" spc="0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4</a:t>
                      </a:r>
                    </a:p>
                  </a:txBody>
                  <a:tcPr marL="147485" marR="189083" marT="113450" marB="11345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17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1.1</a:t>
                      </a:r>
                    </a:p>
                  </a:txBody>
                  <a:tcPr marL="147485" marR="113450" marT="113450" marB="11345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9373698"/>
                  </a:ext>
                </a:extLst>
              </a:tr>
              <a:tr h="854419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sz="1700" b="0" cap="none" spc="0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  1.3 </a:t>
                      </a:r>
                      <a:r>
                        <a:rPr lang="en-US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Set up the building tools</a:t>
                      </a:r>
                      <a:endParaRPr lang="en-US" sz="1700" b="0" cap="none" spc="0" dirty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L="147485" marR="189083" marT="113450" marB="11345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1700" b="0" cap="none" spc="0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0.5 week</a:t>
                      </a:r>
                    </a:p>
                  </a:txBody>
                  <a:tcPr marL="147485" marR="189083" marT="113450" marB="11345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1700" b="0" cap="none" spc="0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4</a:t>
                      </a:r>
                    </a:p>
                  </a:txBody>
                  <a:tcPr marL="147485" marR="189083" marT="113450" marB="11345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1700" b="0" cap="none" spc="0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4</a:t>
                      </a:r>
                    </a:p>
                  </a:txBody>
                  <a:tcPr marL="147485" marR="189083" marT="113450" marB="11345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1700" b="0" cap="none" spc="0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1.2</a:t>
                      </a:r>
                    </a:p>
                  </a:txBody>
                  <a:tcPr marL="147485" marR="113450" marT="113450" marB="11345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477645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EE8DFA09-2D28-A637-6B72-34A82005201C}"/>
              </a:ext>
            </a:extLst>
          </p:cNvPr>
          <p:cNvSpPr txBox="1"/>
          <p:nvPr/>
        </p:nvSpPr>
        <p:spPr>
          <a:xfrm>
            <a:off x="4197096" y="419749"/>
            <a:ext cx="3794760" cy="436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</a:pPr>
            <a:r>
              <a:rPr lang="en-PH" sz="3200" b="1" dirty="0"/>
              <a:t>PROJECT TIMELINE</a:t>
            </a:r>
          </a:p>
        </p:txBody>
      </p:sp>
    </p:spTree>
    <p:extLst>
      <p:ext uri="{BB962C8B-B14F-4D97-AF65-F5344CB8AC3E}">
        <p14:creationId xmlns:p14="http://schemas.microsoft.com/office/powerpoint/2010/main" val="22081370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D2B266D-3625-4584-A5C3-7D3F672CFF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463B99A-73EE-4FBB-B7C4-F9F9BCC25C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A5D2A5D1-BA0D-47D3-B051-DA7743C46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219825"/>
          </a:xfrm>
          <a:custGeom>
            <a:avLst/>
            <a:gdLst>
              <a:gd name="connsiteX0" fmla="*/ 6789701 w 12192000"/>
              <a:gd name="connsiteY0" fmla="*/ 6151588 h 6219825"/>
              <a:gd name="connsiteX1" fmla="*/ 6788702 w 12192000"/>
              <a:gd name="connsiteY1" fmla="*/ 6151666 h 6219825"/>
              <a:gd name="connsiteX2" fmla="*/ 6788476 w 12192000"/>
              <a:gd name="connsiteY2" fmla="*/ 6152200 h 6219825"/>
              <a:gd name="connsiteX3" fmla="*/ 9834 w 12192000"/>
              <a:gd name="connsiteY3" fmla="*/ 0 h 6219825"/>
              <a:gd name="connsiteX4" fmla="*/ 12357 w 12192000"/>
              <a:gd name="connsiteY4" fmla="*/ 1 h 6219825"/>
              <a:gd name="connsiteX5" fmla="*/ 12192000 w 12192000"/>
              <a:gd name="connsiteY5" fmla="*/ 1 h 6219825"/>
              <a:gd name="connsiteX6" fmla="*/ 12192000 w 12192000"/>
              <a:gd name="connsiteY6" fmla="*/ 5105401 h 6219825"/>
              <a:gd name="connsiteX7" fmla="*/ 12191716 w 12192000"/>
              <a:gd name="connsiteY7" fmla="*/ 5105401 h 6219825"/>
              <a:gd name="connsiteX8" fmla="*/ 12192000 w 12192000"/>
              <a:gd name="connsiteY8" fmla="*/ 5256977 h 6219825"/>
              <a:gd name="connsiteX9" fmla="*/ 12061096 w 12192000"/>
              <a:gd name="connsiteY9" fmla="*/ 5296034 h 6219825"/>
              <a:gd name="connsiteX10" fmla="*/ 11676800 w 12192000"/>
              <a:gd name="connsiteY10" fmla="*/ 5399652 h 6219825"/>
              <a:gd name="connsiteX11" fmla="*/ 10425355 w 12192000"/>
              <a:gd name="connsiteY11" fmla="*/ 5683310 h 6219825"/>
              <a:gd name="connsiteX12" fmla="*/ 9424022 w 12192000"/>
              <a:gd name="connsiteY12" fmla="*/ 5858546 h 6219825"/>
              <a:gd name="connsiteX13" fmla="*/ 8458419 w 12192000"/>
              <a:gd name="connsiteY13" fmla="*/ 5992303 h 6219825"/>
              <a:gd name="connsiteX14" fmla="*/ 7715970 w 12192000"/>
              <a:gd name="connsiteY14" fmla="*/ 6072283 h 6219825"/>
              <a:gd name="connsiteX15" fmla="*/ 6951716 w 12192000"/>
              <a:gd name="connsiteY15" fmla="*/ 6138091 h 6219825"/>
              <a:gd name="connsiteX16" fmla="*/ 6936303 w 12192000"/>
              <a:gd name="connsiteY16" fmla="*/ 6140163 h 6219825"/>
              <a:gd name="connsiteX17" fmla="*/ 6790448 w 12192000"/>
              <a:gd name="connsiteY17" fmla="*/ 6151529 h 6219825"/>
              <a:gd name="connsiteX18" fmla="*/ 6799941 w 12192000"/>
              <a:gd name="connsiteY18" fmla="*/ 6153349 h 6219825"/>
              <a:gd name="connsiteX19" fmla="*/ 6835432 w 12192000"/>
              <a:gd name="connsiteY19" fmla="*/ 6151642 h 6219825"/>
              <a:gd name="connsiteX20" fmla="*/ 6884003 w 12192000"/>
              <a:gd name="connsiteY20" fmla="*/ 6148662 h 6219825"/>
              <a:gd name="connsiteX21" fmla="*/ 7578771 w 12192000"/>
              <a:gd name="connsiteY21" fmla="*/ 6116122 h 6219825"/>
              <a:gd name="connsiteX22" fmla="*/ 8623845 w 12192000"/>
              <a:gd name="connsiteY22" fmla="*/ 6029188 h 6219825"/>
              <a:gd name="connsiteX23" fmla="*/ 9479970 w 12192000"/>
              <a:gd name="connsiteY23" fmla="*/ 5925239 h 6219825"/>
              <a:gd name="connsiteX24" fmla="*/ 10629308 w 12192000"/>
              <a:gd name="connsiteY24" fmla="*/ 5731000 h 6219825"/>
              <a:gd name="connsiteX25" fmla="*/ 11998498 w 12192000"/>
              <a:gd name="connsiteY25" fmla="*/ 5404869 h 6219825"/>
              <a:gd name="connsiteX26" fmla="*/ 12192000 w 12192000"/>
              <a:gd name="connsiteY26" fmla="*/ 5347846 h 6219825"/>
              <a:gd name="connsiteX27" fmla="*/ 12192000 w 12192000"/>
              <a:gd name="connsiteY27" fmla="*/ 5402606 h 6219825"/>
              <a:gd name="connsiteX28" fmla="*/ 11829257 w 12192000"/>
              <a:gd name="connsiteY28" fmla="*/ 5507950 h 6219825"/>
              <a:gd name="connsiteX29" fmla="*/ 10939183 w 12192000"/>
              <a:gd name="connsiteY29" fmla="*/ 5722555 h 6219825"/>
              <a:gd name="connsiteX30" fmla="*/ 9985530 w 12192000"/>
              <a:gd name="connsiteY30" fmla="*/ 5902635 h 6219825"/>
              <a:gd name="connsiteX31" fmla="*/ 9186882 w 12192000"/>
              <a:gd name="connsiteY31" fmla="*/ 6018631 h 6219825"/>
              <a:gd name="connsiteX32" fmla="*/ 8578198 w 12192000"/>
              <a:gd name="connsiteY32" fmla="*/ 6088179 h 6219825"/>
              <a:gd name="connsiteX33" fmla="*/ 7864358 w 12192000"/>
              <a:gd name="connsiteY33" fmla="*/ 6149656 h 6219825"/>
              <a:gd name="connsiteX34" fmla="*/ 6935502 w 12192000"/>
              <a:gd name="connsiteY34" fmla="*/ 6201071 h 6219825"/>
              <a:gd name="connsiteX35" fmla="*/ 6477750 w 12192000"/>
              <a:gd name="connsiteY35" fmla="*/ 6214980 h 6219825"/>
              <a:gd name="connsiteX36" fmla="*/ 6362294 w 12192000"/>
              <a:gd name="connsiteY36" fmla="*/ 6219825 h 6219825"/>
              <a:gd name="connsiteX37" fmla="*/ 6057129 w 12192000"/>
              <a:gd name="connsiteY37" fmla="*/ 6219825 h 6219825"/>
              <a:gd name="connsiteX38" fmla="*/ 5977784 w 12192000"/>
              <a:gd name="connsiteY38" fmla="*/ 6215229 h 6219825"/>
              <a:gd name="connsiteX39" fmla="*/ 5265087 w 12192000"/>
              <a:gd name="connsiteY39" fmla="*/ 6178965 h 6219825"/>
              <a:gd name="connsiteX40" fmla="*/ 4346277 w 12192000"/>
              <a:gd name="connsiteY40" fmla="*/ 6116869 h 6219825"/>
              <a:gd name="connsiteX41" fmla="*/ 3373045 w 12192000"/>
              <a:gd name="connsiteY41" fmla="*/ 6018259 h 6219825"/>
              <a:gd name="connsiteX42" fmla="*/ 2362173 w 12192000"/>
              <a:gd name="connsiteY42" fmla="*/ 5899282 h 6219825"/>
              <a:gd name="connsiteX43" fmla="*/ 1233178 w 12192000"/>
              <a:gd name="connsiteY43" fmla="*/ 5726033 h 6219825"/>
              <a:gd name="connsiteX44" fmla="*/ 68500 w 12192000"/>
              <a:gd name="connsiteY44" fmla="*/ 5486226 h 6219825"/>
              <a:gd name="connsiteX45" fmla="*/ 0 w 12192000"/>
              <a:gd name="connsiteY45" fmla="*/ 5468863 h 6219825"/>
              <a:gd name="connsiteX46" fmla="*/ 0 w 12192000"/>
              <a:gd name="connsiteY46" fmla="*/ 5412351 h 6219825"/>
              <a:gd name="connsiteX47" fmla="*/ 72441 w 12192000"/>
              <a:gd name="connsiteY47" fmla="*/ 5431135 h 6219825"/>
              <a:gd name="connsiteX48" fmla="*/ 600716 w 12192000"/>
              <a:gd name="connsiteY48" fmla="*/ 5549555 h 6219825"/>
              <a:gd name="connsiteX49" fmla="*/ 1769512 w 12192000"/>
              <a:gd name="connsiteY49" fmla="*/ 5759811 h 6219825"/>
              <a:gd name="connsiteX50" fmla="*/ 2613554 w 12192000"/>
              <a:gd name="connsiteY50" fmla="*/ 5876802 h 6219825"/>
              <a:gd name="connsiteX51" fmla="*/ 2581134 w 12192000"/>
              <a:gd name="connsiteY51" fmla="*/ 5866867 h 6219825"/>
              <a:gd name="connsiteX52" fmla="*/ 1112635 w 12192000"/>
              <a:gd name="connsiteY52" fmla="*/ 5534031 h 6219825"/>
              <a:gd name="connsiteX53" fmla="*/ 420412 w 12192000"/>
              <a:gd name="connsiteY53" fmla="*/ 5334514 h 6219825"/>
              <a:gd name="connsiteX54" fmla="*/ 0 w 12192000"/>
              <a:gd name="connsiteY54" fmla="*/ 5195539 h 6219825"/>
              <a:gd name="connsiteX55" fmla="*/ 60 w 12192000"/>
              <a:gd name="connsiteY55" fmla="*/ 5105401 h 6219825"/>
              <a:gd name="connsiteX56" fmla="*/ 0 w 12192000"/>
              <a:gd name="connsiteY56" fmla="*/ 5105401 h 6219825"/>
              <a:gd name="connsiteX57" fmla="*/ 0 w 12192000"/>
              <a:gd name="connsiteY57" fmla="*/ 1 h 6219825"/>
              <a:gd name="connsiteX58" fmla="*/ 9834 w 12192000"/>
              <a:gd name="connsiteY58" fmla="*/ 1 h 6219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12192000" h="6219825">
                <a:moveTo>
                  <a:pt x="6789701" y="6151588"/>
                </a:moveTo>
                <a:lnTo>
                  <a:pt x="6788702" y="6151666"/>
                </a:lnTo>
                <a:cubicBezTo>
                  <a:pt x="6788627" y="6151844"/>
                  <a:pt x="6788551" y="6152022"/>
                  <a:pt x="6788476" y="6152200"/>
                </a:cubicBezTo>
                <a:close/>
                <a:moveTo>
                  <a:pt x="9834" y="0"/>
                </a:moveTo>
                <a:lnTo>
                  <a:pt x="12357" y="1"/>
                </a:lnTo>
                <a:lnTo>
                  <a:pt x="12192000" y="1"/>
                </a:lnTo>
                <a:lnTo>
                  <a:pt x="12192000" y="5105401"/>
                </a:lnTo>
                <a:lnTo>
                  <a:pt x="12191716" y="5105401"/>
                </a:lnTo>
                <a:lnTo>
                  <a:pt x="12192000" y="5256977"/>
                </a:lnTo>
                <a:lnTo>
                  <a:pt x="12061096" y="5296034"/>
                </a:lnTo>
                <a:cubicBezTo>
                  <a:pt x="11933500" y="5332263"/>
                  <a:pt x="11805390" y="5366806"/>
                  <a:pt x="11676800" y="5399652"/>
                </a:cubicBezTo>
                <a:cubicBezTo>
                  <a:pt x="11262789" y="5507204"/>
                  <a:pt x="10845343" y="5600846"/>
                  <a:pt x="10425355" y="5683310"/>
                </a:cubicBezTo>
                <a:cubicBezTo>
                  <a:pt x="10092810" y="5748549"/>
                  <a:pt x="9759033" y="5806970"/>
                  <a:pt x="9424022" y="5858546"/>
                </a:cubicBezTo>
                <a:cubicBezTo>
                  <a:pt x="9102997" y="5908224"/>
                  <a:pt x="8781133" y="5952809"/>
                  <a:pt x="8458419" y="5992303"/>
                </a:cubicBezTo>
                <a:cubicBezTo>
                  <a:pt x="8211360" y="6022481"/>
                  <a:pt x="7963792" y="6048065"/>
                  <a:pt x="7715970" y="6072283"/>
                </a:cubicBezTo>
                <a:lnTo>
                  <a:pt x="6951716" y="6138091"/>
                </a:lnTo>
                <a:lnTo>
                  <a:pt x="6936303" y="6140163"/>
                </a:lnTo>
                <a:lnTo>
                  <a:pt x="6790448" y="6151529"/>
                </a:lnTo>
                <a:lnTo>
                  <a:pt x="6799941" y="6153349"/>
                </a:lnTo>
                <a:cubicBezTo>
                  <a:pt x="6811623" y="6153816"/>
                  <a:pt x="6823734" y="6151642"/>
                  <a:pt x="6835432" y="6151642"/>
                </a:cubicBezTo>
                <a:cubicBezTo>
                  <a:pt x="6851580" y="6151642"/>
                  <a:pt x="6867729" y="6149034"/>
                  <a:pt x="6884003" y="6148662"/>
                </a:cubicBezTo>
                <a:cubicBezTo>
                  <a:pt x="7115805" y="6143198"/>
                  <a:pt x="7347351" y="6131026"/>
                  <a:pt x="7578771" y="6116122"/>
                </a:cubicBezTo>
                <a:cubicBezTo>
                  <a:pt x="7927552" y="6093644"/>
                  <a:pt x="8276080" y="6065453"/>
                  <a:pt x="8623845" y="6029188"/>
                </a:cubicBezTo>
                <a:cubicBezTo>
                  <a:pt x="8909939" y="5999878"/>
                  <a:pt x="9195310" y="5965228"/>
                  <a:pt x="9479970" y="5925239"/>
                </a:cubicBezTo>
                <a:cubicBezTo>
                  <a:pt x="9864901" y="5870842"/>
                  <a:pt x="10248014" y="5806101"/>
                  <a:pt x="10629308" y="5731000"/>
                </a:cubicBezTo>
                <a:cubicBezTo>
                  <a:pt x="11090114" y="5639842"/>
                  <a:pt x="11546975" y="5532291"/>
                  <a:pt x="11998498" y="5404869"/>
                </a:cubicBezTo>
                <a:lnTo>
                  <a:pt x="12192000" y="5347846"/>
                </a:lnTo>
                <a:lnTo>
                  <a:pt x="12192000" y="5402606"/>
                </a:lnTo>
                <a:lnTo>
                  <a:pt x="11829257" y="5507950"/>
                </a:lnTo>
                <a:cubicBezTo>
                  <a:pt x="11534769" y="5587680"/>
                  <a:pt x="11238120" y="5658596"/>
                  <a:pt x="10939183" y="5722555"/>
                </a:cubicBezTo>
                <a:cubicBezTo>
                  <a:pt x="10622824" y="5790365"/>
                  <a:pt x="10304941" y="5850387"/>
                  <a:pt x="9985530" y="5902635"/>
                </a:cubicBezTo>
                <a:cubicBezTo>
                  <a:pt x="9720036" y="5946102"/>
                  <a:pt x="9453814" y="5984764"/>
                  <a:pt x="9186882" y="6018631"/>
                </a:cubicBezTo>
                <a:cubicBezTo>
                  <a:pt x="8984197" y="6044216"/>
                  <a:pt x="8781514" y="6068309"/>
                  <a:pt x="8578198" y="6088179"/>
                </a:cubicBezTo>
                <a:lnTo>
                  <a:pt x="7864358" y="6149656"/>
                </a:lnTo>
                <a:cubicBezTo>
                  <a:pt x="7554994" y="6172009"/>
                  <a:pt x="7245502" y="6189895"/>
                  <a:pt x="6935502" y="6201071"/>
                </a:cubicBezTo>
                <a:lnTo>
                  <a:pt x="6477750" y="6214980"/>
                </a:lnTo>
                <a:cubicBezTo>
                  <a:pt x="6439195" y="6212895"/>
                  <a:pt x="6400529" y="6214521"/>
                  <a:pt x="6362294" y="6219825"/>
                </a:cubicBezTo>
                <a:lnTo>
                  <a:pt x="6057129" y="6219825"/>
                </a:lnTo>
                <a:lnTo>
                  <a:pt x="5977784" y="6215229"/>
                </a:lnTo>
                <a:lnTo>
                  <a:pt x="5265087" y="6178965"/>
                </a:lnTo>
                <a:cubicBezTo>
                  <a:pt x="4958267" y="6166544"/>
                  <a:pt x="4651826" y="6146055"/>
                  <a:pt x="4346277" y="6116869"/>
                </a:cubicBezTo>
                <a:lnTo>
                  <a:pt x="3373045" y="6018259"/>
                </a:lnTo>
                <a:cubicBezTo>
                  <a:pt x="3035412" y="5983982"/>
                  <a:pt x="2698456" y="5944327"/>
                  <a:pt x="2362173" y="5899282"/>
                </a:cubicBezTo>
                <a:cubicBezTo>
                  <a:pt x="1984692" y="5849108"/>
                  <a:pt x="1608364" y="5791358"/>
                  <a:pt x="1233178" y="5726033"/>
                </a:cubicBezTo>
                <a:cubicBezTo>
                  <a:pt x="842181" y="5657291"/>
                  <a:pt x="453758" y="5578770"/>
                  <a:pt x="68500" y="5486226"/>
                </a:cubicBezTo>
                <a:lnTo>
                  <a:pt x="0" y="5468863"/>
                </a:lnTo>
                <a:lnTo>
                  <a:pt x="0" y="5412351"/>
                </a:lnTo>
                <a:lnTo>
                  <a:pt x="72441" y="5431135"/>
                </a:lnTo>
                <a:cubicBezTo>
                  <a:pt x="247961" y="5473331"/>
                  <a:pt x="424164" y="5512608"/>
                  <a:pt x="600716" y="5549555"/>
                </a:cubicBezTo>
                <a:cubicBezTo>
                  <a:pt x="988279" y="5630403"/>
                  <a:pt x="1378133" y="5699330"/>
                  <a:pt x="1769512" y="5759811"/>
                </a:cubicBezTo>
                <a:cubicBezTo>
                  <a:pt x="2052426" y="5803406"/>
                  <a:pt x="2335725" y="5843519"/>
                  <a:pt x="2613554" y="5876802"/>
                </a:cubicBezTo>
                <a:cubicBezTo>
                  <a:pt x="2605544" y="5879410"/>
                  <a:pt x="2594611" y="5869350"/>
                  <a:pt x="2581134" y="5866867"/>
                </a:cubicBezTo>
                <a:cubicBezTo>
                  <a:pt x="2087178" y="5774877"/>
                  <a:pt x="1597684" y="5663937"/>
                  <a:pt x="1112635" y="5534031"/>
                </a:cubicBezTo>
                <a:cubicBezTo>
                  <a:pt x="880453" y="5471934"/>
                  <a:pt x="649713" y="5405428"/>
                  <a:pt x="420412" y="5334514"/>
                </a:cubicBezTo>
                <a:lnTo>
                  <a:pt x="0" y="5195539"/>
                </a:lnTo>
                <a:lnTo>
                  <a:pt x="60" y="5105401"/>
                </a:lnTo>
                <a:lnTo>
                  <a:pt x="0" y="5105401"/>
                </a:lnTo>
                <a:lnTo>
                  <a:pt x="0" y="1"/>
                </a:lnTo>
                <a:lnTo>
                  <a:pt x="9834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81C1774-268F-C6AB-3982-BE1B15A130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3526111"/>
              </p:ext>
            </p:extLst>
          </p:nvPr>
        </p:nvGraphicFramePr>
        <p:xfrm>
          <a:off x="865426" y="228600"/>
          <a:ext cx="10384951" cy="5686612"/>
        </p:xfrm>
        <a:graphic>
          <a:graphicData uri="http://schemas.openxmlformats.org/drawingml/2006/table">
            <a:tbl>
              <a:tblPr firstRow="1" bandRow="1">
                <a:solidFill>
                  <a:srgbClr val="404040"/>
                </a:solidFill>
              </a:tblPr>
              <a:tblGrid>
                <a:gridCol w="3584845">
                  <a:extLst>
                    <a:ext uri="{9D8B030D-6E8A-4147-A177-3AD203B41FA5}">
                      <a16:colId xmlns:a16="http://schemas.microsoft.com/office/drawing/2014/main" val="580072392"/>
                    </a:ext>
                  </a:extLst>
                </a:gridCol>
                <a:gridCol w="2365764">
                  <a:extLst>
                    <a:ext uri="{9D8B030D-6E8A-4147-A177-3AD203B41FA5}">
                      <a16:colId xmlns:a16="http://schemas.microsoft.com/office/drawing/2014/main" val="1059043110"/>
                    </a:ext>
                  </a:extLst>
                </a:gridCol>
                <a:gridCol w="1134960">
                  <a:extLst>
                    <a:ext uri="{9D8B030D-6E8A-4147-A177-3AD203B41FA5}">
                      <a16:colId xmlns:a16="http://schemas.microsoft.com/office/drawing/2014/main" val="1670909936"/>
                    </a:ext>
                  </a:extLst>
                </a:gridCol>
                <a:gridCol w="1134960">
                  <a:extLst>
                    <a:ext uri="{9D8B030D-6E8A-4147-A177-3AD203B41FA5}">
                      <a16:colId xmlns:a16="http://schemas.microsoft.com/office/drawing/2014/main" val="3367406437"/>
                    </a:ext>
                  </a:extLst>
                </a:gridCol>
                <a:gridCol w="2164422">
                  <a:extLst>
                    <a:ext uri="{9D8B030D-6E8A-4147-A177-3AD203B41FA5}">
                      <a16:colId xmlns:a16="http://schemas.microsoft.com/office/drawing/2014/main" val="2533055460"/>
                    </a:ext>
                  </a:extLst>
                </a:gridCol>
              </a:tblGrid>
              <a:tr h="1008914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3500" b="0" cap="none" spc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Phase 2: Design</a:t>
                      </a:r>
                    </a:p>
                  </a:txBody>
                  <a:tcPr marL="198583" marR="330972" marT="198583" marB="206858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3500" b="0" cap="none" spc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4 weeks</a:t>
                      </a:r>
                    </a:p>
                  </a:txBody>
                  <a:tcPr marL="330972" marR="330972" marT="198583" marB="206858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3500" b="0" cap="none" spc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4</a:t>
                      </a:r>
                    </a:p>
                  </a:txBody>
                  <a:tcPr marL="330972" marR="330972" marT="198583" marB="206858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3500" b="0" cap="none" spc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8</a:t>
                      </a:r>
                    </a:p>
                  </a:txBody>
                  <a:tcPr marL="330972" marR="330972" marT="198583" marB="206858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3500" b="0" cap="none" spc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Phase 1</a:t>
                      </a:r>
                    </a:p>
                  </a:txBody>
                  <a:tcPr marL="330972" marR="198583" marT="198583" marB="206858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0905082"/>
                  </a:ext>
                </a:extLst>
              </a:tr>
              <a:tr h="148937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PH" sz="2600" b="0" cap="none" spc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  2.1 </a:t>
                      </a:r>
                      <a:r>
                        <a:rPr lang="en-US" sz="2600" b="1" cap="none" spc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Setting up the document database structure</a:t>
                      </a:r>
                      <a:endParaRPr lang="en-PH" sz="2600" b="1" cap="none" spc="0" dirty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L="198583" marR="330972" marT="198583" marB="2068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2600" b="0" cap="none" spc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2 week</a:t>
                      </a:r>
                    </a:p>
                  </a:txBody>
                  <a:tcPr marL="330972" marR="330972" marT="198583" marB="2068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2600" b="0" cap="none" spc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4</a:t>
                      </a:r>
                    </a:p>
                  </a:txBody>
                  <a:tcPr marL="330972" marR="330972" marT="198583" marB="2068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2600" b="0" cap="none" spc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6</a:t>
                      </a:r>
                    </a:p>
                  </a:txBody>
                  <a:tcPr marL="330972" marR="330972" marT="198583" marB="2068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2600" b="0" cap="none" spc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1.2</a:t>
                      </a:r>
                    </a:p>
                  </a:txBody>
                  <a:tcPr marL="330972" marR="198583" marT="198583" marB="2068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4035893"/>
                  </a:ext>
                </a:extLst>
              </a:tr>
              <a:tr h="96533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PH" sz="2600" b="0" cap="none" spc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  2.2 </a:t>
                      </a:r>
                      <a:r>
                        <a:rPr lang="en-PH" sz="2600" b="1" cap="none" spc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User Interface/UX mockups</a:t>
                      </a:r>
                    </a:p>
                  </a:txBody>
                  <a:tcPr marL="198583" marR="330972" marT="198583" marB="2068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2600" b="0" cap="none" spc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2 week</a:t>
                      </a:r>
                    </a:p>
                  </a:txBody>
                  <a:tcPr marL="330972" marR="330972" marT="198583" marB="2068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2600" b="0" cap="none" spc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6</a:t>
                      </a:r>
                    </a:p>
                  </a:txBody>
                  <a:tcPr marL="330972" marR="330972" marT="198583" marB="2068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2600" b="0" cap="none" spc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8</a:t>
                      </a:r>
                    </a:p>
                  </a:txBody>
                  <a:tcPr marL="330972" marR="330972" marT="198583" marB="2068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2600" b="0" cap="none" spc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2.1</a:t>
                      </a:r>
                    </a:p>
                  </a:txBody>
                  <a:tcPr marL="330972" marR="198583" marT="198583" marB="2068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706004"/>
                  </a:ext>
                </a:extLst>
              </a:tr>
              <a:tr h="148937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PH" sz="2600" b="0" cap="none" spc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  2.3 </a:t>
                      </a:r>
                      <a:r>
                        <a:rPr lang="en-PH" sz="2600" b="1" cap="none" spc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Transmittal slip             template design</a:t>
                      </a:r>
                    </a:p>
                  </a:txBody>
                  <a:tcPr marL="198583" marR="330972" marT="198583" marB="2068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2600" b="0" cap="none" spc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0.5 week</a:t>
                      </a:r>
                    </a:p>
                  </a:txBody>
                  <a:tcPr marL="330972" marR="330972" marT="198583" marB="2068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2600" b="0" cap="none" spc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8</a:t>
                      </a:r>
                    </a:p>
                  </a:txBody>
                  <a:tcPr marL="330972" marR="330972" marT="198583" marB="2068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2600" b="0" cap="none" spc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8</a:t>
                      </a:r>
                    </a:p>
                  </a:txBody>
                  <a:tcPr marL="330972" marR="330972" marT="198583" marB="2068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2600" b="0" cap="none" spc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2.1</a:t>
                      </a:r>
                    </a:p>
                  </a:txBody>
                  <a:tcPr marL="330972" marR="198583" marT="198583" marB="2068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97257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50052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790DFE-580A-3AC2-6943-A692BFB36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2D2B266D-3625-4584-A5C3-7D3F672CFF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463B99A-73EE-4FBB-B7C4-F9F9BCC25C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5D2A5D1-BA0D-47D3-B051-DA7743C46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219825"/>
          </a:xfrm>
          <a:custGeom>
            <a:avLst/>
            <a:gdLst>
              <a:gd name="connsiteX0" fmla="*/ 6789701 w 12192000"/>
              <a:gd name="connsiteY0" fmla="*/ 6151588 h 6219825"/>
              <a:gd name="connsiteX1" fmla="*/ 6788702 w 12192000"/>
              <a:gd name="connsiteY1" fmla="*/ 6151666 h 6219825"/>
              <a:gd name="connsiteX2" fmla="*/ 6788476 w 12192000"/>
              <a:gd name="connsiteY2" fmla="*/ 6152200 h 6219825"/>
              <a:gd name="connsiteX3" fmla="*/ 9834 w 12192000"/>
              <a:gd name="connsiteY3" fmla="*/ 0 h 6219825"/>
              <a:gd name="connsiteX4" fmla="*/ 12357 w 12192000"/>
              <a:gd name="connsiteY4" fmla="*/ 1 h 6219825"/>
              <a:gd name="connsiteX5" fmla="*/ 12192000 w 12192000"/>
              <a:gd name="connsiteY5" fmla="*/ 1 h 6219825"/>
              <a:gd name="connsiteX6" fmla="*/ 12192000 w 12192000"/>
              <a:gd name="connsiteY6" fmla="*/ 5105401 h 6219825"/>
              <a:gd name="connsiteX7" fmla="*/ 12191716 w 12192000"/>
              <a:gd name="connsiteY7" fmla="*/ 5105401 h 6219825"/>
              <a:gd name="connsiteX8" fmla="*/ 12192000 w 12192000"/>
              <a:gd name="connsiteY8" fmla="*/ 5256977 h 6219825"/>
              <a:gd name="connsiteX9" fmla="*/ 12061096 w 12192000"/>
              <a:gd name="connsiteY9" fmla="*/ 5296034 h 6219825"/>
              <a:gd name="connsiteX10" fmla="*/ 11676800 w 12192000"/>
              <a:gd name="connsiteY10" fmla="*/ 5399652 h 6219825"/>
              <a:gd name="connsiteX11" fmla="*/ 10425355 w 12192000"/>
              <a:gd name="connsiteY11" fmla="*/ 5683310 h 6219825"/>
              <a:gd name="connsiteX12" fmla="*/ 9424022 w 12192000"/>
              <a:gd name="connsiteY12" fmla="*/ 5858546 h 6219825"/>
              <a:gd name="connsiteX13" fmla="*/ 8458419 w 12192000"/>
              <a:gd name="connsiteY13" fmla="*/ 5992303 h 6219825"/>
              <a:gd name="connsiteX14" fmla="*/ 7715970 w 12192000"/>
              <a:gd name="connsiteY14" fmla="*/ 6072283 h 6219825"/>
              <a:gd name="connsiteX15" fmla="*/ 6951716 w 12192000"/>
              <a:gd name="connsiteY15" fmla="*/ 6138091 h 6219825"/>
              <a:gd name="connsiteX16" fmla="*/ 6936303 w 12192000"/>
              <a:gd name="connsiteY16" fmla="*/ 6140163 h 6219825"/>
              <a:gd name="connsiteX17" fmla="*/ 6790448 w 12192000"/>
              <a:gd name="connsiteY17" fmla="*/ 6151529 h 6219825"/>
              <a:gd name="connsiteX18" fmla="*/ 6799941 w 12192000"/>
              <a:gd name="connsiteY18" fmla="*/ 6153349 h 6219825"/>
              <a:gd name="connsiteX19" fmla="*/ 6835432 w 12192000"/>
              <a:gd name="connsiteY19" fmla="*/ 6151642 h 6219825"/>
              <a:gd name="connsiteX20" fmla="*/ 6884003 w 12192000"/>
              <a:gd name="connsiteY20" fmla="*/ 6148662 h 6219825"/>
              <a:gd name="connsiteX21" fmla="*/ 7578771 w 12192000"/>
              <a:gd name="connsiteY21" fmla="*/ 6116122 h 6219825"/>
              <a:gd name="connsiteX22" fmla="*/ 8623845 w 12192000"/>
              <a:gd name="connsiteY22" fmla="*/ 6029188 h 6219825"/>
              <a:gd name="connsiteX23" fmla="*/ 9479970 w 12192000"/>
              <a:gd name="connsiteY23" fmla="*/ 5925239 h 6219825"/>
              <a:gd name="connsiteX24" fmla="*/ 10629308 w 12192000"/>
              <a:gd name="connsiteY24" fmla="*/ 5731000 h 6219825"/>
              <a:gd name="connsiteX25" fmla="*/ 11998498 w 12192000"/>
              <a:gd name="connsiteY25" fmla="*/ 5404869 h 6219825"/>
              <a:gd name="connsiteX26" fmla="*/ 12192000 w 12192000"/>
              <a:gd name="connsiteY26" fmla="*/ 5347846 h 6219825"/>
              <a:gd name="connsiteX27" fmla="*/ 12192000 w 12192000"/>
              <a:gd name="connsiteY27" fmla="*/ 5402606 h 6219825"/>
              <a:gd name="connsiteX28" fmla="*/ 11829257 w 12192000"/>
              <a:gd name="connsiteY28" fmla="*/ 5507950 h 6219825"/>
              <a:gd name="connsiteX29" fmla="*/ 10939183 w 12192000"/>
              <a:gd name="connsiteY29" fmla="*/ 5722555 h 6219825"/>
              <a:gd name="connsiteX30" fmla="*/ 9985530 w 12192000"/>
              <a:gd name="connsiteY30" fmla="*/ 5902635 h 6219825"/>
              <a:gd name="connsiteX31" fmla="*/ 9186882 w 12192000"/>
              <a:gd name="connsiteY31" fmla="*/ 6018631 h 6219825"/>
              <a:gd name="connsiteX32" fmla="*/ 8578198 w 12192000"/>
              <a:gd name="connsiteY32" fmla="*/ 6088179 h 6219825"/>
              <a:gd name="connsiteX33" fmla="*/ 7864358 w 12192000"/>
              <a:gd name="connsiteY33" fmla="*/ 6149656 h 6219825"/>
              <a:gd name="connsiteX34" fmla="*/ 6935502 w 12192000"/>
              <a:gd name="connsiteY34" fmla="*/ 6201071 h 6219825"/>
              <a:gd name="connsiteX35" fmla="*/ 6477750 w 12192000"/>
              <a:gd name="connsiteY35" fmla="*/ 6214980 h 6219825"/>
              <a:gd name="connsiteX36" fmla="*/ 6362294 w 12192000"/>
              <a:gd name="connsiteY36" fmla="*/ 6219825 h 6219825"/>
              <a:gd name="connsiteX37" fmla="*/ 6057129 w 12192000"/>
              <a:gd name="connsiteY37" fmla="*/ 6219825 h 6219825"/>
              <a:gd name="connsiteX38" fmla="*/ 5977784 w 12192000"/>
              <a:gd name="connsiteY38" fmla="*/ 6215229 h 6219825"/>
              <a:gd name="connsiteX39" fmla="*/ 5265087 w 12192000"/>
              <a:gd name="connsiteY39" fmla="*/ 6178965 h 6219825"/>
              <a:gd name="connsiteX40" fmla="*/ 4346277 w 12192000"/>
              <a:gd name="connsiteY40" fmla="*/ 6116869 h 6219825"/>
              <a:gd name="connsiteX41" fmla="*/ 3373045 w 12192000"/>
              <a:gd name="connsiteY41" fmla="*/ 6018259 h 6219825"/>
              <a:gd name="connsiteX42" fmla="*/ 2362173 w 12192000"/>
              <a:gd name="connsiteY42" fmla="*/ 5899282 h 6219825"/>
              <a:gd name="connsiteX43" fmla="*/ 1233178 w 12192000"/>
              <a:gd name="connsiteY43" fmla="*/ 5726033 h 6219825"/>
              <a:gd name="connsiteX44" fmla="*/ 68500 w 12192000"/>
              <a:gd name="connsiteY44" fmla="*/ 5486226 h 6219825"/>
              <a:gd name="connsiteX45" fmla="*/ 0 w 12192000"/>
              <a:gd name="connsiteY45" fmla="*/ 5468863 h 6219825"/>
              <a:gd name="connsiteX46" fmla="*/ 0 w 12192000"/>
              <a:gd name="connsiteY46" fmla="*/ 5412351 h 6219825"/>
              <a:gd name="connsiteX47" fmla="*/ 72441 w 12192000"/>
              <a:gd name="connsiteY47" fmla="*/ 5431135 h 6219825"/>
              <a:gd name="connsiteX48" fmla="*/ 600716 w 12192000"/>
              <a:gd name="connsiteY48" fmla="*/ 5549555 h 6219825"/>
              <a:gd name="connsiteX49" fmla="*/ 1769512 w 12192000"/>
              <a:gd name="connsiteY49" fmla="*/ 5759811 h 6219825"/>
              <a:gd name="connsiteX50" fmla="*/ 2613554 w 12192000"/>
              <a:gd name="connsiteY50" fmla="*/ 5876802 h 6219825"/>
              <a:gd name="connsiteX51" fmla="*/ 2581134 w 12192000"/>
              <a:gd name="connsiteY51" fmla="*/ 5866867 h 6219825"/>
              <a:gd name="connsiteX52" fmla="*/ 1112635 w 12192000"/>
              <a:gd name="connsiteY52" fmla="*/ 5534031 h 6219825"/>
              <a:gd name="connsiteX53" fmla="*/ 420412 w 12192000"/>
              <a:gd name="connsiteY53" fmla="*/ 5334514 h 6219825"/>
              <a:gd name="connsiteX54" fmla="*/ 0 w 12192000"/>
              <a:gd name="connsiteY54" fmla="*/ 5195539 h 6219825"/>
              <a:gd name="connsiteX55" fmla="*/ 60 w 12192000"/>
              <a:gd name="connsiteY55" fmla="*/ 5105401 h 6219825"/>
              <a:gd name="connsiteX56" fmla="*/ 0 w 12192000"/>
              <a:gd name="connsiteY56" fmla="*/ 5105401 h 6219825"/>
              <a:gd name="connsiteX57" fmla="*/ 0 w 12192000"/>
              <a:gd name="connsiteY57" fmla="*/ 1 h 6219825"/>
              <a:gd name="connsiteX58" fmla="*/ 9834 w 12192000"/>
              <a:gd name="connsiteY58" fmla="*/ 1 h 6219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12192000" h="6219825">
                <a:moveTo>
                  <a:pt x="6789701" y="6151588"/>
                </a:moveTo>
                <a:lnTo>
                  <a:pt x="6788702" y="6151666"/>
                </a:lnTo>
                <a:cubicBezTo>
                  <a:pt x="6788627" y="6151844"/>
                  <a:pt x="6788551" y="6152022"/>
                  <a:pt x="6788476" y="6152200"/>
                </a:cubicBezTo>
                <a:close/>
                <a:moveTo>
                  <a:pt x="9834" y="0"/>
                </a:moveTo>
                <a:lnTo>
                  <a:pt x="12357" y="1"/>
                </a:lnTo>
                <a:lnTo>
                  <a:pt x="12192000" y="1"/>
                </a:lnTo>
                <a:lnTo>
                  <a:pt x="12192000" y="5105401"/>
                </a:lnTo>
                <a:lnTo>
                  <a:pt x="12191716" y="5105401"/>
                </a:lnTo>
                <a:lnTo>
                  <a:pt x="12192000" y="5256977"/>
                </a:lnTo>
                <a:lnTo>
                  <a:pt x="12061096" y="5296034"/>
                </a:lnTo>
                <a:cubicBezTo>
                  <a:pt x="11933500" y="5332263"/>
                  <a:pt x="11805390" y="5366806"/>
                  <a:pt x="11676800" y="5399652"/>
                </a:cubicBezTo>
                <a:cubicBezTo>
                  <a:pt x="11262789" y="5507204"/>
                  <a:pt x="10845343" y="5600846"/>
                  <a:pt x="10425355" y="5683310"/>
                </a:cubicBezTo>
                <a:cubicBezTo>
                  <a:pt x="10092810" y="5748549"/>
                  <a:pt x="9759033" y="5806970"/>
                  <a:pt x="9424022" y="5858546"/>
                </a:cubicBezTo>
                <a:cubicBezTo>
                  <a:pt x="9102997" y="5908224"/>
                  <a:pt x="8781133" y="5952809"/>
                  <a:pt x="8458419" y="5992303"/>
                </a:cubicBezTo>
                <a:cubicBezTo>
                  <a:pt x="8211360" y="6022481"/>
                  <a:pt x="7963792" y="6048065"/>
                  <a:pt x="7715970" y="6072283"/>
                </a:cubicBezTo>
                <a:lnTo>
                  <a:pt x="6951716" y="6138091"/>
                </a:lnTo>
                <a:lnTo>
                  <a:pt x="6936303" y="6140163"/>
                </a:lnTo>
                <a:lnTo>
                  <a:pt x="6790448" y="6151529"/>
                </a:lnTo>
                <a:lnTo>
                  <a:pt x="6799941" y="6153349"/>
                </a:lnTo>
                <a:cubicBezTo>
                  <a:pt x="6811623" y="6153816"/>
                  <a:pt x="6823734" y="6151642"/>
                  <a:pt x="6835432" y="6151642"/>
                </a:cubicBezTo>
                <a:cubicBezTo>
                  <a:pt x="6851580" y="6151642"/>
                  <a:pt x="6867729" y="6149034"/>
                  <a:pt x="6884003" y="6148662"/>
                </a:cubicBezTo>
                <a:cubicBezTo>
                  <a:pt x="7115805" y="6143198"/>
                  <a:pt x="7347351" y="6131026"/>
                  <a:pt x="7578771" y="6116122"/>
                </a:cubicBezTo>
                <a:cubicBezTo>
                  <a:pt x="7927552" y="6093644"/>
                  <a:pt x="8276080" y="6065453"/>
                  <a:pt x="8623845" y="6029188"/>
                </a:cubicBezTo>
                <a:cubicBezTo>
                  <a:pt x="8909939" y="5999878"/>
                  <a:pt x="9195310" y="5965228"/>
                  <a:pt x="9479970" y="5925239"/>
                </a:cubicBezTo>
                <a:cubicBezTo>
                  <a:pt x="9864901" y="5870842"/>
                  <a:pt x="10248014" y="5806101"/>
                  <a:pt x="10629308" y="5731000"/>
                </a:cubicBezTo>
                <a:cubicBezTo>
                  <a:pt x="11090114" y="5639842"/>
                  <a:pt x="11546975" y="5532291"/>
                  <a:pt x="11998498" y="5404869"/>
                </a:cubicBezTo>
                <a:lnTo>
                  <a:pt x="12192000" y="5347846"/>
                </a:lnTo>
                <a:lnTo>
                  <a:pt x="12192000" y="5402606"/>
                </a:lnTo>
                <a:lnTo>
                  <a:pt x="11829257" y="5507950"/>
                </a:lnTo>
                <a:cubicBezTo>
                  <a:pt x="11534769" y="5587680"/>
                  <a:pt x="11238120" y="5658596"/>
                  <a:pt x="10939183" y="5722555"/>
                </a:cubicBezTo>
                <a:cubicBezTo>
                  <a:pt x="10622824" y="5790365"/>
                  <a:pt x="10304941" y="5850387"/>
                  <a:pt x="9985530" y="5902635"/>
                </a:cubicBezTo>
                <a:cubicBezTo>
                  <a:pt x="9720036" y="5946102"/>
                  <a:pt x="9453814" y="5984764"/>
                  <a:pt x="9186882" y="6018631"/>
                </a:cubicBezTo>
                <a:cubicBezTo>
                  <a:pt x="8984197" y="6044216"/>
                  <a:pt x="8781514" y="6068309"/>
                  <a:pt x="8578198" y="6088179"/>
                </a:cubicBezTo>
                <a:lnTo>
                  <a:pt x="7864358" y="6149656"/>
                </a:lnTo>
                <a:cubicBezTo>
                  <a:pt x="7554994" y="6172009"/>
                  <a:pt x="7245502" y="6189895"/>
                  <a:pt x="6935502" y="6201071"/>
                </a:cubicBezTo>
                <a:lnTo>
                  <a:pt x="6477750" y="6214980"/>
                </a:lnTo>
                <a:cubicBezTo>
                  <a:pt x="6439195" y="6212895"/>
                  <a:pt x="6400529" y="6214521"/>
                  <a:pt x="6362294" y="6219825"/>
                </a:cubicBezTo>
                <a:lnTo>
                  <a:pt x="6057129" y="6219825"/>
                </a:lnTo>
                <a:lnTo>
                  <a:pt x="5977784" y="6215229"/>
                </a:lnTo>
                <a:lnTo>
                  <a:pt x="5265087" y="6178965"/>
                </a:lnTo>
                <a:cubicBezTo>
                  <a:pt x="4958267" y="6166544"/>
                  <a:pt x="4651826" y="6146055"/>
                  <a:pt x="4346277" y="6116869"/>
                </a:cubicBezTo>
                <a:lnTo>
                  <a:pt x="3373045" y="6018259"/>
                </a:lnTo>
                <a:cubicBezTo>
                  <a:pt x="3035412" y="5983982"/>
                  <a:pt x="2698456" y="5944327"/>
                  <a:pt x="2362173" y="5899282"/>
                </a:cubicBezTo>
                <a:cubicBezTo>
                  <a:pt x="1984692" y="5849108"/>
                  <a:pt x="1608364" y="5791358"/>
                  <a:pt x="1233178" y="5726033"/>
                </a:cubicBezTo>
                <a:cubicBezTo>
                  <a:pt x="842181" y="5657291"/>
                  <a:pt x="453758" y="5578770"/>
                  <a:pt x="68500" y="5486226"/>
                </a:cubicBezTo>
                <a:lnTo>
                  <a:pt x="0" y="5468863"/>
                </a:lnTo>
                <a:lnTo>
                  <a:pt x="0" y="5412351"/>
                </a:lnTo>
                <a:lnTo>
                  <a:pt x="72441" y="5431135"/>
                </a:lnTo>
                <a:cubicBezTo>
                  <a:pt x="247961" y="5473331"/>
                  <a:pt x="424164" y="5512608"/>
                  <a:pt x="600716" y="5549555"/>
                </a:cubicBezTo>
                <a:cubicBezTo>
                  <a:pt x="988279" y="5630403"/>
                  <a:pt x="1378133" y="5699330"/>
                  <a:pt x="1769512" y="5759811"/>
                </a:cubicBezTo>
                <a:cubicBezTo>
                  <a:pt x="2052426" y="5803406"/>
                  <a:pt x="2335725" y="5843519"/>
                  <a:pt x="2613554" y="5876802"/>
                </a:cubicBezTo>
                <a:cubicBezTo>
                  <a:pt x="2605544" y="5879410"/>
                  <a:pt x="2594611" y="5869350"/>
                  <a:pt x="2581134" y="5866867"/>
                </a:cubicBezTo>
                <a:cubicBezTo>
                  <a:pt x="2087178" y="5774877"/>
                  <a:pt x="1597684" y="5663937"/>
                  <a:pt x="1112635" y="5534031"/>
                </a:cubicBezTo>
                <a:cubicBezTo>
                  <a:pt x="880453" y="5471934"/>
                  <a:pt x="649713" y="5405428"/>
                  <a:pt x="420412" y="5334514"/>
                </a:cubicBezTo>
                <a:lnTo>
                  <a:pt x="0" y="5195539"/>
                </a:lnTo>
                <a:lnTo>
                  <a:pt x="60" y="5105401"/>
                </a:lnTo>
                <a:lnTo>
                  <a:pt x="0" y="5105401"/>
                </a:lnTo>
                <a:lnTo>
                  <a:pt x="0" y="1"/>
                </a:lnTo>
                <a:lnTo>
                  <a:pt x="9834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BAD51A8-6E3F-C556-20DC-D4E3BDD707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0949169"/>
              </p:ext>
            </p:extLst>
          </p:nvPr>
        </p:nvGraphicFramePr>
        <p:xfrm>
          <a:off x="228600" y="558288"/>
          <a:ext cx="11658603" cy="4293626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3176049">
                  <a:extLst>
                    <a:ext uri="{9D8B030D-6E8A-4147-A177-3AD203B41FA5}">
                      <a16:colId xmlns:a16="http://schemas.microsoft.com/office/drawing/2014/main" val="1206347275"/>
                    </a:ext>
                  </a:extLst>
                </a:gridCol>
                <a:gridCol w="2717278">
                  <a:extLst>
                    <a:ext uri="{9D8B030D-6E8A-4147-A177-3AD203B41FA5}">
                      <a16:colId xmlns:a16="http://schemas.microsoft.com/office/drawing/2014/main" val="581726857"/>
                    </a:ext>
                  </a:extLst>
                </a:gridCol>
                <a:gridCol w="1663199">
                  <a:extLst>
                    <a:ext uri="{9D8B030D-6E8A-4147-A177-3AD203B41FA5}">
                      <a16:colId xmlns:a16="http://schemas.microsoft.com/office/drawing/2014/main" val="3072562168"/>
                    </a:ext>
                  </a:extLst>
                </a:gridCol>
                <a:gridCol w="1663199">
                  <a:extLst>
                    <a:ext uri="{9D8B030D-6E8A-4147-A177-3AD203B41FA5}">
                      <a16:colId xmlns:a16="http://schemas.microsoft.com/office/drawing/2014/main" val="2959047023"/>
                    </a:ext>
                  </a:extLst>
                </a:gridCol>
                <a:gridCol w="2438878">
                  <a:extLst>
                    <a:ext uri="{9D8B030D-6E8A-4147-A177-3AD203B41FA5}">
                      <a16:colId xmlns:a16="http://schemas.microsoft.com/office/drawing/2014/main" val="2085240130"/>
                    </a:ext>
                  </a:extLst>
                </a:gridCol>
              </a:tblGrid>
              <a:tr h="80116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sz="1800" b="1">
                          <a:effectLst/>
                        </a:rPr>
                        <a:t>Phase 3: Development – Core Modules</a:t>
                      </a:r>
                      <a:endParaRPr lang="en-US" sz="1800" b="0">
                        <a:effectLst/>
                        <a:latin typeface="quote-cjk-patch"/>
                      </a:endParaRPr>
                    </a:p>
                  </a:txBody>
                  <a:tcPr marL="93893" marR="156487" marT="97805" marB="9780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1800" b="1" dirty="0">
                          <a:effectLst/>
                        </a:rPr>
                        <a:t>14 weeks</a:t>
                      </a:r>
                      <a:endParaRPr lang="en-PH" sz="1800" b="0" dirty="0">
                        <a:effectLst/>
                        <a:latin typeface="quote-cjk-patch"/>
                      </a:endParaRPr>
                    </a:p>
                  </a:txBody>
                  <a:tcPr marL="156487" marR="156487" marT="97805" marB="9780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1800" b="1" dirty="0">
                          <a:effectLst/>
                          <a:latin typeface="quote-cjk-patch"/>
                        </a:rPr>
                        <a:t>9</a:t>
                      </a:r>
                      <a:endParaRPr lang="en-PH" sz="1800" b="0" dirty="0">
                        <a:effectLst/>
                        <a:latin typeface="quote-cjk-patch"/>
                      </a:endParaRPr>
                    </a:p>
                  </a:txBody>
                  <a:tcPr marL="156487" marR="156487" marT="97805" marB="9780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1800" b="1" dirty="0">
                          <a:effectLst/>
                        </a:rPr>
                        <a:t>23</a:t>
                      </a:r>
                      <a:endParaRPr lang="en-PH" sz="1800" b="0" dirty="0">
                        <a:effectLst/>
                        <a:latin typeface="quote-cjk-patch"/>
                      </a:endParaRPr>
                    </a:p>
                  </a:txBody>
                  <a:tcPr marL="156487" marR="156487" marT="97805" marB="9780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1800" b="0">
                          <a:effectLst/>
                        </a:rPr>
                        <a:t>Phase 2</a:t>
                      </a:r>
                      <a:endParaRPr lang="en-PH" sz="1800" b="0">
                        <a:effectLst/>
                        <a:latin typeface="quote-cjk-patch"/>
                      </a:endParaRPr>
                    </a:p>
                  </a:txBody>
                  <a:tcPr marL="156487" marR="93893" marT="97805" marB="97805" anchor="ctr"/>
                </a:tc>
                <a:extLst>
                  <a:ext uri="{0D108BD9-81ED-4DB2-BD59-A6C34878D82A}">
                    <a16:rowId xmlns:a16="http://schemas.microsoft.com/office/drawing/2014/main" val="2339576122"/>
                  </a:ext>
                </a:extLst>
              </a:tr>
              <a:tr h="1088978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sz="1800" b="0" dirty="0">
                          <a:effectLst/>
                        </a:rPr>
                        <a:t>  3.1 Sprint 1: </a:t>
                      </a:r>
                      <a:r>
                        <a:rPr lang="en-US" sz="1800" b="1" dirty="0">
                          <a:effectLst/>
                        </a:rPr>
                        <a:t>Auth, Document Intake, Timestamp</a:t>
                      </a:r>
                      <a:endParaRPr lang="en-US" sz="1800" b="1" dirty="0">
                        <a:effectLst/>
                        <a:latin typeface="quote-cjk-patch"/>
                      </a:endParaRPr>
                    </a:p>
                  </a:txBody>
                  <a:tcPr marL="93893" marR="156487" marT="97805" marB="9780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1800" b="0" dirty="0">
                          <a:effectLst/>
                        </a:rPr>
                        <a:t>4 weeks</a:t>
                      </a:r>
                      <a:endParaRPr lang="en-PH" sz="1800" b="0" dirty="0">
                        <a:effectLst/>
                        <a:latin typeface="quote-cjk-patch"/>
                      </a:endParaRPr>
                    </a:p>
                  </a:txBody>
                  <a:tcPr marL="156487" marR="156487" marT="97805" marB="9780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1800" b="0" dirty="0">
                          <a:effectLst/>
                          <a:latin typeface="quote-cjk-patch"/>
                        </a:rPr>
                        <a:t>9</a:t>
                      </a:r>
                    </a:p>
                  </a:txBody>
                  <a:tcPr marL="156487" marR="156487" marT="97805" marB="9780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1800" b="0" dirty="0">
                          <a:effectLst/>
                          <a:latin typeface="quote-cjk-patch"/>
                        </a:rPr>
                        <a:t>13</a:t>
                      </a:r>
                    </a:p>
                  </a:txBody>
                  <a:tcPr marL="156487" marR="156487" marT="97805" marB="9780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1800" b="0">
                          <a:effectLst/>
                        </a:rPr>
                        <a:t>2.2</a:t>
                      </a:r>
                      <a:endParaRPr lang="en-PH" sz="1800" b="0">
                        <a:effectLst/>
                        <a:latin typeface="quote-cjk-patch"/>
                      </a:endParaRPr>
                    </a:p>
                  </a:txBody>
                  <a:tcPr marL="156487" marR="93893" marT="97805" marB="97805" anchor="ctr"/>
                </a:tc>
                <a:extLst>
                  <a:ext uri="{0D108BD9-81ED-4DB2-BD59-A6C34878D82A}">
                    <a16:rowId xmlns:a16="http://schemas.microsoft.com/office/drawing/2014/main" val="2453927922"/>
                  </a:ext>
                </a:extLst>
              </a:tr>
              <a:tr h="80116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sz="1800" b="0" dirty="0">
                          <a:effectLst/>
                        </a:rPr>
                        <a:t>  3.2 Sprint 2: </a:t>
                      </a:r>
                      <a:r>
                        <a:rPr lang="en-US" sz="1800" b="1" dirty="0">
                          <a:effectLst/>
                        </a:rPr>
                        <a:t>Upload, PDF Conversion, OCR</a:t>
                      </a:r>
                      <a:endParaRPr lang="en-US" sz="1800" b="1" dirty="0">
                        <a:effectLst/>
                        <a:latin typeface="quote-cjk-patch"/>
                      </a:endParaRPr>
                    </a:p>
                  </a:txBody>
                  <a:tcPr marL="93893" marR="156487" marT="97805" marB="9780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1800" b="0" dirty="0">
                          <a:effectLst/>
                        </a:rPr>
                        <a:t>4 weeks</a:t>
                      </a:r>
                      <a:endParaRPr lang="en-PH" sz="1800" b="0" dirty="0">
                        <a:effectLst/>
                        <a:latin typeface="quote-cjk-patch"/>
                      </a:endParaRPr>
                    </a:p>
                  </a:txBody>
                  <a:tcPr marL="156487" marR="156487" marT="97805" marB="9780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1800" b="0" dirty="0">
                          <a:effectLst/>
                          <a:latin typeface="quote-cjk-patch"/>
                        </a:rPr>
                        <a:t>13</a:t>
                      </a:r>
                    </a:p>
                  </a:txBody>
                  <a:tcPr marL="156487" marR="156487" marT="97805" marB="9780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1800" b="0" dirty="0">
                          <a:effectLst/>
                          <a:latin typeface="quote-cjk-patch"/>
                        </a:rPr>
                        <a:t>17</a:t>
                      </a:r>
                    </a:p>
                  </a:txBody>
                  <a:tcPr marL="156487" marR="156487" marT="97805" marB="9780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1800" b="0">
                          <a:effectLst/>
                        </a:rPr>
                        <a:t>3.1</a:t>
                      </a:r>
                      <a:endParaRPr lang="en-PH" sz="1800" b="0">
                        <a:effectLst/>
                        <a:latin typeface="quote-cjk-patch"/>
                      </a:endParaRPr>
                    </a:p>
                  </a:txBody>
                  <a:tcPr marL="156487" marR="93893" marT="97805" marB="97805" anchor="ctr"/>
                </a:tc>
                <a:extLst>
                  <a:ext uri="{0D108BD9-81ED-4DB2-BD59-A6C34878D82A}">
                    <a16:rowId xmlns:a16="http://schemas.microsoft.com/office/drawing/2014/main" val="2943142477"/>
                  </a:ext>
                </a:extLst>
              </a:tr>
              <a:tr h="80116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sz="1800" b="0" dirty="0">
                          <a:effectLst/>
                        </a:rPr>
                        <a:t>  3.3 Sprint 3: </a:t>
                      </a:r>
                      <a:r>
                        <a:rPr lang="en-US" sz="1800" b="1" dirty="0">
                          <a:effectLst/>
                        </a:rPr>
                        <a:t>Control # Assignment, PDF Stamping</a:t>
                      </a:r>
                      <a:endParaRPr lang="en-US" sz="1800" b="1" dirty="0">
                        <a:effectLst/>
                        <a:latin typeface="quote-cjk-patch"/>
                      </a:endParaRPr>
                    </a:p>
                  </a:txBody>
                  <a:tcPr marL="93893" marR="156487" marT="97805" marB="9780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1800" b="0" dirty="0">
                          <a:effectLst/>
                        </a:rPr>
                        <a:t>4 weeks</a:t>
                      </a:r>
                      <a:endParaRPr lang="en-PH" sz="1800" b="0" dirty="0">
                        <a:effectLst/>
                        <a:latin typeface="quote-cjk-patch"/>
                      </a:endParaRPr>
                    </a:p>
                  </a:txBody>
                  <a:tcPr marL="156487" marR="156487" marT="97805" marB="9780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1800" b="0" dirty="0">
                          <a:effectLst/>
                          <a:latin typeface="quote-cjk-patch"/>
                        </a:rPr>
                        <a:t>17</a:t>
                      </a:r>
                    </a:p>
                  </a:txBody>
                  <a:tcPr marL="156487" marR="156487" marT="97805" marB="9780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1800" b="0" dirty="0">
                          <a:effectLst/>
                          <a:latin typeface="quote-cjk-patch"/>
                        </a:rPr>
                        <a:t>21</a:t>
                      </a:r>
                    </a:p>
                  </a:txBody>
                  <a:tcPr marL="156487" marR="156487" marT="97805" marB="9780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1800" b="0">
                          <a:effectLst/>
                        </a:rPr>
                        <a:t>3.2</a:t>
                      </a:r>
                      <a:endParaRPr lang="en-PH" sz="1800" b="0">
                        <a:effectLst/>
                        <a:latin typeface="quote-cjk-patch"/>
                      </a:endParaRPr>
                    </a:p>
                  </a:txBody>
                  <a:tcPr marL="156487" marR="93893" marT="97805" marB="97805" anchor="ctr"/>
                </a:tc>
                <a:extLst>
                  <a:ext uri="{0D108BD9-81ED-4DB2-BD59-A6C34878D82A}">
                    <a16:rowId xmlns:a16="http://schemas.microsoft.com/office/drawing/2014/main" val="2506542032"/>
                  </a:ext>
                </a:extLst>
              </a:tr>
              <a:tr h="80116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1800" b="0" dirty="0">
                          <a:effectLst/>
                        </a:rPr>
                        <a:t>  3.4 Sprint 4: </a:t>
                      </a:r>
                      <a:r>
                        <a:rPr lang="en-PH" sz="1800" b="1" dirty="0">
                          <a:effectLst/>
                        </a:rPr>
                        <a:t>Data Extraction, Excel Log</a:t>
                      </a:r>
                      <a:endParaRPr lang="en-PH" sz="1800" b="1" dirty="0">
                        <a:effectLst/>
                        <a:latin typeface="quote-cjk-patch"/>
                      </a:endParaRPr>
                    </a:p>
                  </a:txBody>
                  <a:tcPr marL="93893" marR="156487" marT="97805" marB="9780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1800" b="0" dirty="0">
                          <a:effectLst/>
                        </a:rPr>
                        <a:t>2 week</a:t>
                      </a:r>
                      <a:endParaRPr lang="en-PH" sz="1800" b="0" dirty="0">
                        <a:effectLst/>
                        <a:latin typeface="quote-cjk-patch"/>
                      </a:endParaRPr>
                    </a:p>
                  </a:txBody>
                  <a:tcPr marL="156487" marR="156487" marT="97805" marB="9780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1800" b="0" dirty="0">
                          <a:effectLst/>
                          <a:latin typeface="quote-cjk-patch"/>
                        </a:rPr>
                        <a:t>21</a:t>
                      </a:r>
                    </a:p>
                  </a:txBody>
                  <a:tcPr marL="156487" marR="156487" marT="97805" marB="9780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1800" b="0" dirty="0">
                          <a:effectLst/>
                          <a:latin typeface="quote-cjk-patch"/>
                        </a:rPr>
                        <a:t>23</a:t>
                      </a:r>
                    </a:p>
                  </a:txBody>
                  <a:tcPr marL="156487" marR="156487" marT="97805" marB="9780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1800" b="0" dirty="0">
                          <a:effectLst/>
                        </a:rPr>
                        <a:t>3.3</a:t>
                      </a:r>
                      <a:endParaRPr lang="en-PH" sz="1800" b="0" dirty="0">
                        <a:effectLst/>
                        <a:latin typeface="quote-cjk-patch"/>
                      </a:endParaRPr>
                    </a:p>
                  </a:txBody>
                  <a:tcPr marL="156487" marR="93893" marT="97805" marB="97805" anchor="ctr"/>
                </a:tc>
                <a:extLst>
                  <a:ext uri="{0D108BD9-81ED-4DB2-BD59-A6C34878D82A}">
                    <a16:rowId xmlns:a16="http://schemas.microsoft.com/office/drawing/2014/main" val="19398229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76839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62D7C3-3750-2622-9783-4C8089C93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2D2B266D-3625-4584-A5C3-7D3F672CFF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463B99A-73EE-4FBB-B7C4-F9F9BCC25C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5D2A5D1-BA0D-47D3-B051-DA7743C46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219825"/>
          </a:xfrm>
          <a:custGeom>
            <a:avLst/>
            <a:gdLst>
              <a:gd name="connsiteX0" fmla="*/ 6789701 w 12192000"/>
              <a:gd name="connsiteY0" fmla="*/ 6151588 h 6219825"/>
              <a:gd name="connsiteX1" fmla="*/ 6788702 w 12192000"/>
              <a:gd name="connsiteY1" fmla="*/ 6151666 h 6219825"/>
              <a:gd name="connsiteX2" fmla="*/ 6788476 w 12192000"/>
              <a:gd name="connsiteY2" fmla="*/ 6152200 h 6219825"/>
              <a:gd name="connsiteX3" fmla="*/ 9834 w 12192000"/>
              <a:gd name="connsiteY3" fmla="*/ 0 h 6219825"/>
              <a:gd name="connsiteX4" fmla="*/ 12357 w 12192000"/>
              <a:gd name="connsiteY4" fmla="*/ 1 h 6219825"/>
              <a:gd name="connsiteX5" fmla="*/ 12192000 w 12192000"/>
              <a:gd name="connsiteY5" fmla="*/ 1 h 6219825"/>
              <a:gd name="connsiteX6" fmla="*/ 12192000 w 12192000"/>
              <a:gd name="connsiteY6" fmla="*/ 5105401 h 6219825"/>
              <a:gd name="connsiteX7" fmla="*/ 12191716 w 12192000"/>
              <a:gd name="connsiteY7" fmla="*/ 5105401 h 6219825"/>
              <a:gd name="connsiteX8" fmla="*/ 12192000 w 12192000"/>
              <a:gd name="connsiteY8" fmla="*/ 5256977 h 6219825"/>
              <a:gd name="connsiteX9" fmla="*/ 12061096 w 12192000"/>
              <a:gd name="connsiteY9" fmla="*/ 5296034 h 6219825"/>
              <a:gd name="connsiteX10" fmla="*/ 11676800 w 12192000"/>
              <a:gd name="connsiteY10" fmla="*/ 5399652 h 6219825"/>
              <a:gd name="connsiteX11" fmla="*/ 10425355 w 12192000"/>
              <a:gd name="connsiteY11" fmla="*/ 5683310 h 6219825"/>
              <a:gd name="connsiteX12" fmla="*/ 9424022 w 12192000"/>
              <a:gd name="connsiteY12" fmla="*/ 5858546 h 6219825"/>
              <a:gd name="connsiteX13" fmla="*/ 8458419 w 12192000"/>
              <a:gd name="connsiteY13" fmla="*/ 5992303 h 6219825"/>
              <a:gd name="connsiteX14" fmla="*/ 7715970 w 12192000"/>
              <a:gd name="connsiteY14" fmla="*/ 6072283 h 6219825"/>
              <a:gd name="connsiteX15" fmla="*/ 6951716 w 12192000"/>
              <a:gd name="connsiteY15" fmla="*/ 6138091 h 6219825"/>
              <a:gd name="connsiteX16" fmla="*/ 6936303 w 12192000"/>
              <a:gd name="connsiteY16" fmla="*/ 6140163 h 6219825"/>
              <a:gd name="connsiteX17" fmla="*/ 6790448 w 12192000"/>
              <a:gd name="connsiteY17" fmla="*/ 6151529 h 6219825"/>
              <a:gd name="connsiteX18" fmla="*/ 6799941 w 12192000"/>
              <a:gd name="connsiteY18" fmla="*/ 6153349 h 6219825"/>
              <a:gd name="connsiteX19" fmla="*/ 6835432 w 12192000"/>
              <a:gd name="connsiteY19" fmla="*/ 6151642 h 6219825"/>
              <a:gd name="connsiteX20" fmla="*/ 6884003 w 12192000"/>
              <a:gd name="connsiteY20" fmla="*/ 6148662 h 6219825"/>
              <a:gd name="connsiteX21" fmla="*/ 7578771 w 12192000"/>
              <a:gd name="connsiteY21" fmla="*/ 6116122 h 6219825"/>
              <a:gd name="connsiteX22" fmla="*/ 8623845 w 12192000"/>
              <a:gd name="connsiteY22" fmla="*/ 6029188 h 6219825"/>
              <a:gd name="connsiteX23" fmla="*/ 9479970 w 12192000"/>
              <a:gd name="connsiteY23" fmla="*/ 5925239 h 6219825"/>
              <a:gd name="connsiteX24" fmla="*/ 10629308 w 12192000"/>
              <a:gd name="connsiteY24" fmla="*/ 5731000 h 6219825"/>
              <a:gd name="connsiteX25" fmla="*/ 11998498 w 12192000"/>
              <a:gd name="connsiteY25" fmla="*/ 5404869 h 6219825"/>
              <a:gd name="connsiteX26" fmla="*/ 12192000 w 12192000"/>
              <a:gd name="connsiteY26" fmla="*/ 5347846 h 6219825"/>
              <a:gd name="connsiteX27" fmla="*/ 12192000 w 12192000"/>
              <a:gd name="connsiteY27" fmla="*/ 5402606 h 6219825"/>
              <a:gd name="connsiteX28" fmla="*/ 11829257 w 12192000"/>
              <a:gd name="connsiteY28" fmla="*/ 5507950 h 6219825"/>
              <a:gd name="connsiteX29" fmla="*/ 10939183 w 12192000"/>
              <a:gd name="connsiteY29" fmla="*/ 5722555 h 6219825"/>
              <a:gd name="connsiteX30" fmla="*/ 9985530 w 12192000"/>
              <a:gd name="connsiteY30" fmla="*/ 5902635 h 6219825"/>
              <a:gd name="connsiteX31" fmla="*/ 9186882 w 12192000"/>
              <a:gd name="connsiteY31" fmla="*/ 6018631 h 6219825"/>
              <a:gd name="connsiteX32" fmla="*/ 8578198 w 12192000"/>
              <a:gd name="connsiteY32" fmla="*/ 6088179 h 6219825"/>
              <a:gd name="connsiteX33" fmla="*/ 7864358 w 12192000"/>
              <a:gd name="connsiteY33" fmla="*/ 6149656 h 6219825"/>
              <a:gd name="connsiteX34" fmla="*/ 6935502 w 12192000"/>
              <a:gd name="connsiteY34" fmla="*/ 6201071 h 6219825"/>
              <a:gd name="connsiteX35" fmla="*/ 6477750 w 12192000"/>
              <a:gd name="connsiteY35" fmla="*/ 6214980 h 6219825"/>
              <a:gd name="connsiteX36" fmla="*/ 6362294 w 12192000"/>
              <a:gd name="connsiteY36" fmla="*/ 6219825 h 6219825"/>
              <a:gd name="connsiteX37" fmla="*/ 6057129 w 12192000"/>
              <a:gd name="connsiteY37" fmla="*/ 6219825 h 6219825"/>
              <a:gd name="connsiteX38" fmla="*/ 5977784 w 12192000"/>
              <a:gd name="connsiteY38" fmla="*/ 6215229 h 6219825"/>
              <a:gd name="connsiteX39" fmla="*/ 5265087 w 12192000"/>
              <a:gd name="connsiteY39" fmla="*/ 6178965 h 6219825"/>
              <a:gd name="connsiteX40" fmla="*/ 4346277 w 12192000"/>
              <a:gd name="connsiteY40" fmla="*/ 6116869 h 6219825"/>
              <a:gd name="connsiteX41" fmla="*/ 3373045 w 12192000"/>
              <a:gd name="connsiteY41" fmla="*/ 6018259 h 6219825"/>
              <a:gd name="connsiteX42" fmla="*/ 2362173 w 12192000"/>
              <a:gd name="connsiteY42" fmla="*/ 5899282 h 6219825"/>
              <a:gd name="connsiteX43" fmla="*/ 1233178 w 12192000"/>
              <a:gd name="connsiteY43" fmla="*/ 5726033 h 6219825"/>
              <a:gd name="connsiteX44" fmla="*/ 68500 w 12192000"/>
              <a:gd name="connsiteY44" fmla="*/ 5486226 h 6219825"/>
              <a:gd name="connsiteX45" fmla="*/ 0 w 12192000"/>
              <a:gd name="connsiteY45" fmla="*/ 5468863 h 6219825"/>
              <a:gd name="connsiteX46" fmla="*/ 0 w 12192000"/>
              <a:gd name="connsiteY46" fmla="*/ 5412351 h 6219825"/>
              <a:gd name="connsiteX47" fmla="*/ 72441 w 12192000"/>
              <a:gd name="connsiteY47" fmla="*/ 5431135 h 6219825"/>
              <a:gd name="connsiteX48" fmla="*/ 600716 w 12192000"/>
              <a:gd name="connsiteY48" fmla="*/ 5549555 h 6219825"/>
              <a:gd name="connsiteX49" fmla="*/ 1769512 w 12192000"/>
              <a:gd name="connsiteY49" fmla="*/ 5759811 h 6219825"/>
              <a:gd name="connsiteX50" fmla="*/ 2613554 w 12192000"/>
              <a:gd name="connsiteY50" fmla="*/ 5876802 h 6219825"/>
              <a:gd name="connsiteX51" fmla="*/ 2581134 w 12192000"/>
              <a:gd name="connsiteY51" fmla="*/ 5866867 h 6219825"/>
              <a:gd name="connsiteX52" fmla="*/ 1112635 w 12192000"/>
              <a:gd name="connsiteY52" fmla="*/ 5534031 h 6219825"/>
              <a:gd name="connsiteX53" fmla="*/ 420412 w 12192000"/>
              <a:gd name="connsiteY53" fmla="*/ 5334514 h 6219825"/>
              <a:gd name="connsiteX54" fmla="*/ 0 w 12192000"/>
              <a:gd name="connsiteY54" fmla="*/ 5195539 h 6219825"/>
              <a:gd name="connsiteX55" fmla="*/ 60 w 12192000"/>
              <a:gd name="connsiteY55" fmla="*/ 5105401 h 6219825"/>
              <a:gd name="connsiteX56" fmla="*/ 0 w 12192000"/>
              <a:gd name="connsiteY56" fmla="*/ 5105401 h 6219825"/>
              <a:gd name="connsiteX57" fmla="*/ 0 w 12192000"/>
              <a:gd name="connsiteY57" fmla="*/ 1 h 6219825"/>
              <a:gd name="connsiteX58" fmla="*/ 9834 w 12192000"/>
              <a:gd name="connsiteY58" fmla="*/ 1 h 6219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12192000" h="6219825">
                <a:moveTo>
                  <a:pt x="6789701" y="6151588"/>
                </a:moveTo>
                <a:lnTo>
                  <a:pt x="6788702" y="6151666"/>
                </a:lnTo>
                <a:cubicBezTo>
                  <a:pt x="6788627" y="6151844"/>
                  <a:pt x="6788551" y="6152022"/>
                  <a:pt x="6788476" y="6152200"/>
                </a:cubicBezTo>
                <a:close/>
                <a:moveTo>
                  <a:pt x="9834" y="0"/>
                </a:moveTo>
                <a:lnTo>
                  <a:pt x="12357" y="1"/>
                </a:lnTo>
                <a:lnTo>
                  <a:pt x="12192000" y="1"/>
                </a:lnTo>
                <a:lnTo>
                  <a:pt x="12192000" y="5105401"/>
                </a:lnTo>
                <a:lnTo>
                  <a:pt x="12191716" y="5105401"/>
                </a:lnTo>
                <a:lnTo>
                  <a:pt x="12192000" y="5256977"/>
                </a:lnTo>
                <a:lnTo>
                  <a:pt x="12061096" y="5296034"/>
                </a:lnTo>
                <a:cubicBezTo>
                  <a:pt x="11933500" y="5332263"/>
                  <a:pt x="11805390" y="5366806"/>
                  <a:pt x="11676800" y="5399652"/>
                </a:cubicBezTo>
                <a:cubicBezTo>
                  <a:pt x="11262789" y="5507204"/>
                  <a:pt x="10845343" y="5600846"/>
                  <a:pt x="10425355" y="5683310"/>
                </a:cubicBezTo>
                <a:cubicBezTo>
                  <a:pt x="10092810" y="5748549"/>
                  <a:pt x="9759033" y="5806970"/>
                  <a:pt x="9424022" y="5858546"/>
                </a:cubicBezTo>
                <a:cubicBezTo>
                  <a:pt x="9102997" y="5908224"/>
                  <a:pt x="8781133" y="5952809"/>
                  <a:pt x="8458419" y="5992303"/>
                </a:cubicBezTo>
                <a:cubicBezTo>
                  <a:pt x="8211360" y="6022481"/>
                  <a:pt x="7963792" y="6048065"/>
                  <a:pt x="7715970" y="6072283"/>
                </a:cubicBezTo>
                <a:lnTo>
                  <a:pt x="6951716" y="6138091"/>
                </a:lnTo>
                <a:lnTo>
                  <a:pt x="6936303" y="6140163"/>
                </a:lnTo>
                <a:lnTo>
                  <a:pt x="6790448" y="6151529"/>
                </a:lnTo>
                <a:lnTo>
                  <a:pt x="6799941" y="6153349"/>
                </a:lnTo>
                <a:cubicBezTo>
                  <a:pt x="6811623" y="6153816"/>
                  <a:pt x="6823734" y="6151642"/>
                  <a:pt x="6835432" y="6151642"/>
                </a:cubicBezTo>
                <a:cubicBezTo>
                  <a:pt x="6851580" y="6151642"/>
                  <a:pt x="6867729" y="6149034"/>
                  <a:pt x="6884003" y="6148662"/>
                </a:cubicBezTo>
                <a:cubicBezTo>
                  <a:pt x="7115805" y="6143198"/>
                  <a:pt x="7347351" y="6131026"/>
                  <a:pt x="7578771" y="6116122"/>
                </a:cubicBezTo>
                <a:cubicBezTo>
                  <a:pt x="7927552" y="6093644"/>
                  <a:pt x="8276080" y="6065453"/>
                  <a:pt x="8623845" y="6029188"/>
                </a:cubicBezTo>
                <a:cubicBezTo>
                  <a:pt x="8909939" y="5999878"/>
                  <a:pt x="9195310" y="5965228"/>
                  <a:pt x="9479970" y="5925239"/>
                </a:cubicBezTo>
                <a:cubicBezTo>
                  <a:pt x="9864901" y="5870842"/>
                  <a:pt x="10248014" y="5806101"/>
                  <a:pt x="10629308" y="5731000"/>
                </a:cubicBezTo>
                <a:cubicBezTo>
                  <a:pt x="11090114" y="5639842"/>
                  <a:pt x="11546975" y="5532291"/>
                  <a:pt x="11998498" y="5404869"/>
                </a:cubicBezTo>
                <a:lnTo>
                  <a:pt x="12192000" y="5347846"/>
                </a:lnTo>
                <a:lnTo>
                  <a:pt x="12192000" y="5402606"/>
                </a:lnTo>
                <a:lnTo>
                  <a:pt x="11829257" y="5507950"/>
                </a:lnTo>
                <a:cubicBezTo>
                  <a:pt x="11534769" y="5587680"/>
                  <a:pt x="11238120" y="5658596"/>
                  <a:pt x="10939183" y="5722555"/>
                </a:cubicBezTo>
                <a:cubicBezTo>
                  <a:pt x="10622824" y="5790365"/>
                  <a:pt x="10304941" y="5850387"/>
                  <a:pt x="9985530" y="5902635"/>
                </a:cubicBezTo>
                <a:cubicBezTo>
                  <a:pt x="9720036" y="5946102"/>
                  <a:pt x="9453814" y="5984764"/>
                  <a:pt x="9186882" y="6018631"/>
                </a:cubicBezTo>
                <a:cubicBezTo>
                  <a:pt x="8984197" y="6044216"/>
                  <a:pt x="8781514" y="6068309"/>
                  <a:pt x="8578198" y="6088179"/>
                </a:cubicBezTo>
                <a:lnTo>
                  <a:pt x="7864358" y="6149656"/>
                </a:lnTo>
                <a:cubicBezTo>
                  <a:pt x="7554994" y="6172009"/>
                  <a:pt x="7245502" y="6189895"/>
                  <a:pt x="6935502" y="6201071"/>
                </a:cubicBezTo>
                <a:lnTo>
                  <a:pt x="6477750" y="6214980"/>
                </a:lnTo>
                <a:cubicBezTo>
                  <a:pt x="6439195" y="6212895"/>
                  <a:pt x="6400529" y="6214521"/>
                  <a:pt x="6362294" y="6219825"/>
                </a:cubicBezTo>
                <a:lnTo>
                  <a:pt x="6057129" y="6219825"/>
                </a:lnTo>
                <a:lnTo>
                  <a:pt x="5977784" y="6215229"/>
                </a:lnTo>
                <a:lnTo>
                  <a:pt x="5265087" y="6178965"/>
                </a:lnTo>
                <a:cubicBezTo>
                  <a:pt x="4958267" y="6166544"/>
                  <a:pt x="4651826" y="6146055"/>
                  <a:pt x="4346277" y="6116869"/>
                </a:cubicBezTo>
                <a:lnTo>
                  <a:pt x="3373045" y="6018259"/>
                </a:lnTo>
                <a:cubicBezTo>
                  <a:pt x="3035412" y="5983982"/>
                  <a:pt x="2698456" y="5944327"/>
                  <a:pt x="2362173" y="5899282"/>
                </a:cubicBezTo>
                <a:cubicBezTo>
                  <a:pt x="1984692" y="5849108"/>
                  <a:pt x="1608364" y="5791358"/>
                  <a:pt x="1233178" y="5726033"/>
                </a:cubicBezTo>
                <a:cubicBezTo>
                  <a:pt x="842181" y="5657291"/>
                  <a:pt x="453758" y="5578770"/>
                  <a:pt x="68500" y="5486226"/>
                </a:cubicBezTo>
                <a:lnTo>
                  <a:pt x="0" y="5468863"/>
                </a:lnTo>
                <a:lnTo>
                  <a:pt x="0" y="5412351"/>
                </a:lnTo>
                <a:lnTo>
                  <a:pt x="72441" y="5431135"/>
                </a:lnTo>
                <a:cubicBezTo>
                  <a:pt x="247961" y="5473331"/>
                  <a:pt x="424164" y="5512608"/>
                  <a:pt x="600716" y="5549555"/>
                </a:cubicBezTo>
                <a:cubicBezTo>
                  <a:pt x="988279" y="5630403"/>
                  <a:pt x="1378133" y="5699330"/>
                  <a:pt x="1769512" y="5759811"/>
                </a:cubicBezTo>
                <a:cubicBezTo>
                  <a:pt x="2052426" y="5803406"/>
                  <a:pt x="2335725" y="5843519"/>
                  <a:pt x="2613554" y="5876802"/>
                </a:cubicBezTo>
                <a:cubicBezTo>
                  <a:pt x="2605544" y="5879410"/>
                  <a:pt x="2594611" y="5869350"/>
                  <a:pt x="2581134" y="5866867"/>
                </a:cubicBezTo>
                <a:cubicBezTo>
                  <a:pt x="2087178" y="5774877"/>
                  <a:pt x="1597684" y="5663937"/>
                  <a:pt x="1112635" y="5534031"/>
                </a:cubicBezTo>
                <a:cubicBezTo>
                  <a:pt x="880453" y="5471934"/>
                  <a:pt x="649713" y="5405428"/>
                  <a:pt x="420412" y="5334514"/>
                </a:cubicBezTo>
                <a:lnTo>
                  <a:pt x="0" y="5195539"/>
                </a:lnTo>
                <a:lnTo>
                  <a:pt x="60" y="5105401"/>
                </a:lnTo>
                <a:lnTo>
                  <a:pt x="0" y="5105401"/>
                </a:lnTo>
                <a:lnTo>
                  <a:pt x="0" y="1"/>
                </a:lnTo>
                <a:lnTo>
                  <a:pt x="9834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16B8C71-C7D6-2946-2A1E-5E99A04EA4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892012"/>
              </p:ext>
            </p:extLst>
          </p:nvPr>
        </p:nvGraphicFramePr>
        <p:xfrm>
          <a:off x="258633" y="228600"/>
          <a:ext cx="11598535" cy="4953002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3241383">
                  <a:extLst>
                    <a:ext uri="{9D8B030D-6E8A-4147-A177-3AD203B41FA5}">
                      <a16:colId xmlns:a16="http://schemas.microsoft.com/office/drawing/2014/main" val="3456442740"/>
                    </a:ext>
                  </a:extLst>
                </a:gridCol>
                <a:gridCol w="2807394">
                  <a:extLst>
                    <a:ext uri="{9D8B030D-6E8A-4147-A177-3AD203B41FA5}">
                      <a16:colId xmlns:a16="http://schemas.microsoft.com/office/drawing/2014/main" val="1857954153"/>
                    </a:ext>
                  </a:extLst>
                </a:gridCol>
                <a:gridCol w="1495594">
                  <a:extLst>
                    <a:ext uri="{9D8B030D-6E8A-4147-A177-3AD203B41FA5}">
                      <a16:colId xmlns:a16="http://schemas.microsoft.com/office/drawing/2014/main" val="3516871280"/>
                    </a:ext>
                  </a:extLst>
                </a:gridCol>
                <a:gridCol w="1495594">
                  <a:extLst>
                    <a:ext uri="{9D8B030D-6E8A-4147-A177-3AD203B41FA5}">
                      <a16:colId xmlns:a16="http://schemas.microsoft.com/office/drawing/2014/main" val="1124804635"/>
                    </a:ext>
                  </a:extLst>
                </a:gridCol>
                <a:gridCol w="2558570">
                  <a:extLst>
                    <a:ext uri="{9D8B030D-6E8A-4147-A177-3AD203B41FA5}">
                      <a16:colId xmlns:a16="http://schemas.microsoft.com/office/drawing/2014/main" val="2324605344"/>
                    </a:ext>
                  </a:extLst>
                </a:gridCol>
              </a:tblGrid>
              <a:tr h="157541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2800" b="1" cap="none" spc="0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Phase 4: Development – Routing &amp; Printing</a:t>
                      </a:r>
                    </a:p>
                  </a:txBody>
                  <a:tcPr marL="110096" marR="262133" marT="31456" marB="235920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2800" b="1" cap="none" spc="0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6 weeks</a:t>
                      </a:r>
                    </a:p>
                  </a:txBody>
                  <a:tcPr marL="110096" marR="262133" marT="31456" marB="235920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2800" b="1" cap="none" spc="0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23</a:t>
                      </a:r>
                    </a:p>
                  </a:txBody>
                  <a:tcPr marL="110096" marR="262133" marT="31456" marB="235920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2800" b="1" cap="none" spc="0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29</a:t>
                      </a:r>
                    </a:p>
                  </a:txBody>
                  <a:tcPr marL="110096" marR="262133" marT="31456" marB="235920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2800" b="1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Phase 3</a:t>
                      </a:r>
                    </a:p>
                  </a:txBody>
                  <a:tcPr marL="110096" marR="157280" marT="31456" marB="235920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4807717"/>
                  </a:ext>
                </a:extLst>
              </a:tr>
              <a:tr h="1125861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sv-SE" sz="2100" b="0" cap="none" spc="0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  4.1 Sprint 5: </a:t>
                      </a:r>
                      <a:r>
                        <a:rPr lang="sv-SE" sz="2100" b="1" cap="none" spc="0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Transmittal Slip Generation</a:t>
                      </a:r>
                    </a:p>
                  </a:txBody>
                  <a:tcPr marL="110096" marR="262133" marT="31456" marB="235920" anchor="ctr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2100" b="0" cap="none" spc="0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2 week</a:t>
                      </a:r>
                    </a:p>
                  </a:txBody>
                  <a:tcPr marL="110096" marR="262133" marT="31456" marB="23592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2100" b="0" cap="none" spc="0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23</a:t>
                      </a:r>
                    </a:p>
                  </a:txBody>
                  <a:tcPr marL="110096" marR="262133" marT="31456" marB="23592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2100" b="0" cap="none" spc="0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25</a:t>
                      </a:r>
                    </a:p>
                  </a:txBody>
                  <a:tcPr marL="110096" marR="262133" marT="31456" marB="23592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21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3.4</a:t>
                      </a:r>
                    </a:p>
                  </a:txBody>
                  <a:tcPr marL="110096" marR="157280" marT="31456" marB="23592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6610643"/>
                  </a:ext>
                </a:extLst>
              </a:tr>
              <a:tr h="1125861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2100" b="0" cap="none" spc="0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  4.2 Sprint 6: </a:t>
                      </a:r>
                      <a:r>
                        <a:rPr lang="en-PH" sz="2100" b="1" cap="none" spc="0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Sticker Printing, Print Queue</a:t>
                      </a:r>
                    </a:p>
                  </a:txBody>
                  <a:tcPr marL="110096" marR="262133" marT="31456" marB="235920" anchor="ctr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2100" b="0" cap="none" spc="0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2 week</a:t>
                      </a:r>
                    </a:p>
                  </a:txBody>
                  <a:tcPr marL="110096" marR="262133" marT="31456" marB="23592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2100" b="0" cap="none" spc="0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25</a:t>
                      </a:r>
                    </a:p>
                  </a:txBody>
                  <a:tcPr marL="110096" marR="262133" marT="31456" marB="23592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2100" b="0" cap="none" spc="0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27</a:t>
                      </a:r>
                    </a:p>
                  </a:txBody>
                  <a:tcPr marL="110096" marR="262133" marT="31456" marB="23592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21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4.1</a:t>
                      </a:r>
                    </a:p>
                  </a:txBody>
                  <a:tcPr marL="110096" marR="157280" marT="31456" marB="23592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8157233"/>
                  </a:ext>
                </a:extLst>
              </a:tr>
              <a:tr h="1125861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sz="2100" b="0" cap="none" spc="0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  4.3 Sprint 7: </a:t>
                      </a:r>
                      <a:r>
                        <a:rPr lang="en-US" sz="2100" b="1" cap="none" spc="0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Routing Workflow (OPM → RC)</a:t>
                      </a:r>
                    </a:p>
                  </a:txBody>
                  <a:tcPr marL="110096" marR="262133" marT="31456" marB="235920" anchor="ctr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2100" b="0" cap="none" spc="0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2 week</a:t>
                      </a:r>
                    </a:p>
                  </a:txBody>
                  <a:tcPr marL="110096" marR="262133" marT="31456" marB="23592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2100" b="0" cap="none" spc="0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27</a:t>
                      </a:r>
                    </a:p>
                  </a:txBody>
                  <a:tcPr marL="110096" marR="262133" marT="31456" marB="23592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2100" b="0" cap="none" spc="0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29</a:t>
                      </a:r>
                    </a:p>
                  </a:txBody>
                  <a:tcPr marL="110096" marR="262133" marT="31456" marB="23592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2100" b="0" cap="none" spc="0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4.2</a:t>
                      </a:r>
                    </a:p>
                  </a:txBody>
                  <a:tcPr marL="110096" marR="157280" marT="31456" marB="23592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66434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47963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A16C3F-02A2-657B-4FB5-F34AD90EA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2D2B266D-3625-4584-A5C3-7D3F672CFF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463B99A-73EE-4FBB-B7C4-F9F9BCC25C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5D2A5D1-BA0D-47D3-B051-DA7743C46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219825"/>
          </a:xfrm>
          <a:custGeom>
            <a:avLst/>
            <a:gdLst>
              <a:gd name="connsiteX0" fmla="*/ 6789701 w 12192000"/>
              <a:gd name="connsiteY0" fmla="*/ 6151588 h 6219825"/>
              <a:gd name="connsiteX1" fmla="*/ 6788702 w 12192000"/>
              <a:gd name="connsiteY1" fmla="*/ 6151666 h 6219825"/>
              <a:gd name="connsiteX2" fmla="*/ 6788476 w 12192000"/>
              <a:gd name="connsiteY2" fmla="*/ 6152200 h 6219825"/>
              <a:gd name="connsiteX3" fmla="*/ 9834 w 12192000"/>
              <a:gd name="connsiteY3" fmla="*/ 0 h 6219825"/>
              <a:gd name="connsiteX4" fmla="*/ 12357 w 12192000"/>
              <a:gd name="connsiteY4" fmla="*/ 1 h 6219825"/>
              <a:gd name="connsiteX5" fmla="*/ 12192000 w 12192000"/>
              <a:gd name="connsiteY5" fmla="*/ 1 h 6219825"/>
              <a:gd name="connsiteX6" fmla="*/ 12192000 w 12192000"/>
              <a:gd name="connsiteY6" fmla="*/ 5105401 h 6219825"/>
              <a:gd name="connsiteX7" fmla="*/ 12191716 w 12192000"/>
              <a:gd name="connsiteY7" fmla="*/ 5105401 h 6219825"/>
              <a:gd name="connsiteX8" fmla="*/ 12192000 w 12192000"/>
              <a:gd name="connsiteY8" fmla="*/ 5256977 h 6219825"/>
              <a:gd name="connsiteX9" fmla="*/ 12061096 w 12192000"/>
              <a:gd name="connsiteY9" fmla="*/ 5296034 h 6219825"/>
              <a:gd name="connsiteX10" fmla="*/ 11676800 w 12192000"/>
              <a:gd name="connsiteY10" fmla="*/ 5399652 h 6219825"/>
              <a:gd name="connsiteX11" fmla="*/ 10425355 w 12192000"/>
              <a:gd name="connsiteY11" fmla="*/ 5683310 h 6219825"/>
              <a:gd name="connsiteX12" fmla="*/ 9424022 w 12192000"/>
              <a:gd name="connsiteY12" fmla="*/ 5858546 h 6219825"/>
              <a:gd name="connsiteX13" fmla="*/ 8458419 w 12192000"/>
              <a:gd name="connsiteY13" fmla="*/ 5992303 h 6219825"/>
              <a:gd name="connsiteX14" fmla="*/ 7715970 w 12192000"/>
              <a:gd name="connsiteY14" fmla="*/ 6072283 h 6219825"/>
              <a:gd name="connsiteX15" fmla="*/ 6951716 w 12192000"/>
              <a:gd name="connsiteY15" fmla="*/ 6138091 h 6219825"/>
              <a:gd name="connsiteX16" fmla="*/ 6936303 w 12192000"/>
              <a:gd name="connsiteY16" fmla="*/ 6140163 h 6219825"/>
              <a:gd name="connsiteX17" fmla="*/ 6790448 w 12192000"/>
              <a:gd name="connsiteY17" fmla="*/ 6151529 h 6219825"/>
              <a:gd name="connsiteX18" fmla="*/ 6799941 w 12192000"/>
              <a:gd name="connsiteY18" fmla="*/ 6153349 h 6219825"/>
              <a:gd name="connsiteX19" fmla="*/ 6835432 w 12192000"/>
              <a:gd name="connsiteY19" fmla="*/ 6151642 h 6219825"/>
              <a:gd name="connsiteX20" fmla="*/ 6884003 w 12192000"/>
              <a:gd name="connsiteY20" fmla="*/ 6148662 h 6219825"/>
              <a:gd name="connsiteX21" fmla="*/ 7578771 w 12192000"/>
              <a:gd name="connsiteY21" fmla="*/ 6116122 h 6219825"/>
              <a:gd name="connsiteX22" fmla="*/ 8623845 w 12192000"/>
              <a:gd name="connsiteY22" fmla="*/ 6029188 h 6219825"/>
              <a:gd name="connsiteX23" fmla="*/ 9479970 w 12192000"/>
              <a:gd name="connsiteY23" fmla="*/ 5925239 h 6219825"/>
              <a:gd name="connsiteX24" fmla="*/ 10629308 w 12192000"/>
              <a:gd name="connsiteY24" fmla="*/ 5731000 h 6219825"/>
              <a:gd name="connsiteX25" fmla="*/ 11998498 w 12192000"/>
              <a:gd name="connsiteY25" fmla="*/ 5404869 h 6219825"/>
              <a:gd name="connsiteX26" fmla="*/ 12192000 w 12192000"/>
              <a:gd name="connsiteY26" fmla="*/ 5347846 h 6219825"/>
              <a:gd name="connsiteX27" fmla="*/ 12192000 w 12192000"/>
              <a:gd name="connsiteY27" fmla="*/ 5402606 h 6219825"/>
              <a:gd name="connsiteX28" fmla="*/ 11829257 w 12192000"/>
              <a:gd name="connsiteY28" fmla="*/ 5507950 h 6219825"/>
              <a:gd name="connsiteX29" fmla="*/ 10939183 w 12192000"/>
              <a:gd name="connsiteY29" fmla="*/ 5722555 h 6219825"/>
              <a:gd name="connsiteX30" fmla="*/ 9985530 w 12192000"/>
              <a:gd name="connsiteY30" fmla="*/ 5902635 h 6219825"/>
              <a:gd name="connsiteX31" fmla="*/ 9186882 w 12192000"/>
              <a:gd name="connsiteY31" fmla="*/ 6018631 h 6219825"/>
              <a:gd name="connsiteX32" fmla="*/ 8578198 w 12192000"/>
              <a:gd name="connsiteY32" fmla="*/ 6088179 h 6219825"/>
              <a:gd name="connsiteX33" fmla="*/ 7864358 w 12192000"/>
              <a:gd name="connsiteY33" fmla="*/ 6149656 h 6219825"/>
              <a:gd name="connsiteX34" fmla="*/ 6935502 w 12192000"/>
              <a:gd name="connsiteY34" fmla="*/ 6201071 h 6219825"/>
              <a:gd name="connsiteX35" fmla="*/ 6477750 w 12192000"/>
              <a:gd name="connsiteY35" fmla="*/ 6214980 h 6219825"/>
              <a:gd name="connsiteX36" fmla="*/ 6362294 w 12192000"/>
              <a:gd name="connsiteY36" fmla="*/ 6219825 h 6219825"/>
              <a:gd name="connsiteX37" fmla="*/ 6057129 w 12192000"/>
              <a:gd name="connsiteY37" fmla="*/ 6219825 h 6219825"/>
              <a:gd name="connsiteX38" fmla="*/ 5977784 w 12192000"/>
              <a:gd name="connsiteY38" fmla="*/ 6215229 h 6219825"/>
              <a:gd name="connsiteX39" fmla="*/ 5265087 w 12192000"/>
              <a:gd name="connsiteY39" fmla="*/ 6178965 h 6219825"/>
              <a:gd name="connsiteX40" fmla="*/ 4346277 w 12192000"/>
              <a:gd name="connsiteY40" fmla="*/ 6116869 h 6219825"/>
              <a:gd name="connsiteX41" fmla="*/ 3373045 w 12192000"/>
              <a:gd name="connsiteY41" fmla="*/ 6018259 h 6219825"/>
              <a:gd name="connsiteX42" fmla="*/ 2362173 w 12192000"/>
              <a:gd name="connsiteY42" fmla="*/ 5899282 h 6219825"/>
              <a:gd name="connsiteX43" fmla="*/ 1233178 w 12192000"/>
              <a:gd name="connsiteY43" fmla="*/ 5726033 h 6219825"/>
              <a:gd name="connsiteX44" fmla="*/ 68500 w 12192000"/>
              <a:gd name="connsiteY44" fmla="*/ 5486226 h 6219825"/>
              <a:gd name="connsiteX45" fmla="*/ 0 w 12192000"/>
              <a:gd name="connsiteY45" fmla="*/ 5468863 h 6219825"/>
              <a:gd name="connsiteX46" fmla="*/ 0 w 12192000"/>
              <a:gd name="connsiteY46" fmla="*/ 5412351 h 6219825"/>
              <a:gd name="connsiteX47" fmla="*/ 72441 w 12192000"/>
              <a:gd name="connsiteY47" fmla="*/ 5431135 h 6219825"/>
              <a:gd name="connsiteX48" fmla="*/ 600716 w 12192000"/>
              <a:gd name="connsiteY48" fmla="*/ 5549555 h 6219825"/>
              <a:gd name="connsiteX49" fmla="*/ 1769512 w 12192000"/>
              <a:gd name="connsiteY49" fmla="*/ 5759811 h 6219825"/>
              <a:gd name="connsiteX50" fmla="*/ 2613554 w 12192000"/>
              <a:gd name="connsiteY50" fmla="*/ 5876802 h 6219825"/>
              <a:gd name="connsiteX51" fmla="*/ 2581134 w 12192000"/>
              <a:gd name="connsiteY51" fmla="*/ 5866867 h 6219825"/>
              <a:gd name="connsiteX52" fmla="*/ 1112635 w 12192000"/>
              <a:gd name="connsiteY52" fmla="*/ 5534031 h 6219825"/>
              <a:gd name="connsiteX53" fmla="*/ 420412 w 12192000"/>
              <a:gd name="connsiteY53" fmla="*/ 5334514 h 6219825"/>
              <a:gd name="connsiteX54" fmla="*/ 0 w 12192000"/>
              <a:gd name="connsiteY54" fmla="*/ 5195539 h 6219825"/>
              <a:gd name="connsiteX55" fmla="*/ 60 w 12192000"/>
              <a:gd name="connsiteY55" fmla="*/ 5105401 h 6219825"/>
              <a:gd name="connsiteX56" fmla="*/ 0 w 12192000"/>
              <a:gd name="connsiteY56" fmla="*/ 5105401 h 6219825"/>
              <a:gd name="connsiteX57" fmla="*/ 0 w 12192000"/>
              <a:gd name="connsiteY57" fmla="*/ 1 h 6219825"/>
              <a:gd name="connsiteX58" fmla="*/ 9834 w 12192000"/>
              <a:gd name="connsiteY58" fmla="*/ 1 h 6219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12192000" h="6219825">
                <a:moveTo>
                  <a:pt x="6789701" y="6151588"/>
                </a:moveTo>
                <a:lnTo>
                  <a:pt x="6788702" y="6151666"/>
                </a:lnTo>
                <a:cubicBezTo>
                  <a:pt x="6788627" y="6151844"/>
                  <a:pt x="6788551" y="6152022"/>
                  <a:pt x="6788476" y="6152200"/>
                </a:cubicBezTo>
                <a:close/>
                <a:moveTo>
                  <a:pt x="9834" y="0"/>
                </a:moveTo>
                <a:lnTo>
                  <a:pt x="12357" y="1"/>
                </a:lnTo>
                <a:lnTo>
                  <a:pt x="12192000" y="1"/>
                </a:lnTo>
                <a:lnTo>
                  <a:pt x="12192000" y="5105401"/>
                </a:lnTo>
                <a:lnTo>
                  <a:pt x="12191716" y="5105401"/>
                </a:lnTo>
                <a:lnTo>
                  <a:pt x="12192000" y="5256977"/>
                </a:lnTo>
                <a:lnTo>
                  <a:pt x="12061096" y="5296034"/>
                </a:lnTo>
                <a:cubicBezTo>
                  <a:pt x="11933500" y="5332263"/>
                  <a:pt x="11805390" y="5366806"/>
                  <a:pt x="11676800" y="5399652"/>
                </a:cubicBezTo>
                <a:cubicBezTo>
                  <a:pt x="11262789" y="5507204"/>
                  <a:pt x="10845343" y="5600846"/>
                  <a:pt x="10425355" y="5683310"/>
                </a:cubicBezTo>
                <a:cubicBezTo>
                  <a:pt x="10092810" y="5748549"/>
                  <a:pt x="9759033" y="5806970"/>
                  <a:pt x="9424022" y="5858546"/>
                </a:cubicBezTo>
                <a:cubicBezTo>
                  <a:pt x="9102997" y="5908224"/>
                  <a:pt x="8781133" y="5952809"/>
                  <a:pt x="8458419" y="5992303"/>
                </a:cubicBezTo>
                <a:cubicBezTo>
                  <a:pt x="8211360" y="6022481"/>
                  <a:pt x="7963792" y="6048065"/>
                  <a:pt x="7715970" y="6072283"/>
                </a:cubicBezTo>
                <a:lnTo>
                  <a:pt x="6951716" y="6138091"/>
                </a:lnTo>
                <a:lnTo>
                  <a:pt x="6936303" y="6140163"/>
                </a:lnTo>
                <a:lnTo>
                  <a:pt x="6790448" y="6151529"/>
                </a:lnTo>
                <a:lnTo>
                  <a:pt x="6799941" y="6153349"/>
                </a:lnTo>
                <a:cubicBezTo>
                  <a:pt x="6811623" y="6153816"/>
                  <a:pt x="6823734" y="6151642"/>
                  <a:pt x="6835432" y="6151642"/>
                </a:cubicBezTo>
                <a:cubicBezTo>
                  <a:pt x="6851580" y="6151642"/>
                  <a:pt x="6867729" y="6149034"/>
                  <a:pt x="6884003" y="6148662"/>
                </a:cubicBezTo>
                <a:cubicBezTo>
                  <a:pt x="7115805" y="6143198"/>
                  <a:pt x="7347351" y="6131026"/>
                  <a:pt x="7578771" y="6116122"/>
                </a:cubicBezTo>
                <a:cubicBezTo>
                  <a:pt x="7927552" y="6093644"/>
                  <a:pt x="8276080" y="6065453"/>
                  <a:pt x="8623845" y="6029188"/>
                </a:cubicBezTo>
                <a:cubicBezTo>
                  <a:pt x="8909939" y="5999878"/>
                  <a:pt x="9195310" y="5965228"/>
                  <a:pt x="9479970" y="5925239"/>
                </a:cubicBezTo>
                <a:cubicBezTo>
                  <a:pt x="9864901" y="5870842"/>
                  <a:pt x="10248014" y="5806101"/>
                  <a:pt x="10629308" y="5731000"/>
                </a:cubicBezTo>
                <a:cubicBezTo>
                  <a:pt x="11090114" y="5639842"/>
                  <a:pt x="11546975" y="5532291"/>
                  <a:pt x="11998498" y="5404869"/>
                </a:cubicBezTo>
                <a:lnTo>
                  <a:pt x="12192000" y="5347846"/>
                </a:lnTo>
                <a:lnTo>
                  <a:pt x="12192000" y="5402606"/>
                </a:lnTo>
                <a:lnTo>
                  <a:pt x="11829257" y="5507950"/>
                </a:lnTo>
                <a:cubicBezTo>
                  <a:pt x="11534769" y="5587680"/>
                  <a:pt x="11238120" y="5658596"/>
                  <a:pt x="10939183" y="5722555"/>
                </a:cubicBezTo>
                <a:cubicBezTo>
                  <a:pt x="10622824" y="5790365"/>
                  <a:pt x="10304941" y="5850387"/>
                  <a:pt x="9985530" y="5902635"/>
                </a:cubicBezTo>
                <a:cubicBezTo>
                  <a:pt x="9720036" y="5946102"/>
                  <a:pt x="9453814" y="5984764"/>
                  <a:pt x="9186882" y="6018631"/>
                </a:cubicBezTo>
                <a:cubicBezTo>
                  <a:pt x="8984197" y="6044216"/>
                  <a:pt x="8781514" y="6068309"/>
                  <a:pt x="8578198" y="6088179"/>
                </a:cubicBezTo>
                <a:lnTo>
                  <a:pt x="7864358" y="6149656"/>
                </a:lnTo>
                <a:cubicBezTo>
                  <a:pt x="7554994" y="6172009"/>
                  <a:pt x="7245502" y="6189895"/>
                  <a:pt x="6935502" y="6201071"/>
                </a:cubicBezTo>
                <a:lnTo>
                  <a:pt x="6477750" y="6214980"/>
                </a:lnTo>
                <a:cubicBezTo>
                  <a:pt x="6439195" y="6212895"/>
                  <a:pt x="6400529" y="6214521"/>
                  <a:pt x="6362294" y="6219825"/>
                </a:cubicBezTo>
                <a:lnTo>
                  <a:pt x="6057129" y="6219825"/>
                </a:lnTo>
                <a:lnTo>
                  <a:pt x="5977784" y="6215229"/>
                </a:lnTo>
                <a:lnTo>
                  <a:pt x="5265087" y="6178965"/>
                </a:lnTo>
                <a:cubicBezTo>
                  <a:pt x="4958267" y="6166544"/>
                  <a:pt x="4651826" y="6146055"/>
                  <a:pt x="4346277" y="6116869"/>
                </a:cubicBezTo>
                <a:lnTo>
                  <a:pt x="3373045" y="6018259"/>
                </a:lnTo>
                <a:cubicBezTo>
                  <a:pt x="3035412" y="5983982"/>
                  <a:pt x="2698456" y="5944327"/>
                  <a:pt x="2362173" y="5899282"/>
                </a:cubicBezTo>
                <a:cubicBezTo>
                  <a:pt x="1984692" y="5849108"/>
                  <a:pt x="1608364" y="5791358"/>
                  <a:pt x="1233178" y="5726033"/>
                </a:cubicBezTo>
                <a:cubicBezTo>
                  <a:pt x="842181" y="5657291"/>
                  <a:pt x="453758" y="5578770"/>
                  <a:pt x="68500" y="5486226"/>
                </a:cubicBezTo>
                <a:lnTo>
                  <a:pt x="0" y="5468863"/>
                </a:lnTo>
                <a:lnTo>
                  <a:pt x="0" y="5412351"/>
                </a:lnTo>
                <a:lnTo>
                  <a:pt x="72441" y="5431135"/>
                </a:lnTo>
                <a:cubicBezTo>
                  <a:pt x="247961" y="5473331"/>
                  <a:pt x="424164" y="5512608"/>
                  <a:pt x="600716" y="5549555"/>
                </a:cubicBezTo>
                <a:cubicBezTo>
                  <a:pt x="988279" y="5630403"/>
                  <a:pt x="1378133" y="5699330"/>
                  <a:pt x="1769512" y="5759811"/>
                </a:cubicBezTo>
                <a:cubicBezTo>
                  <a:pt x="2052426" y="5803406"/>
                  <a:pt x="2335725" y="5843519"/>
                  <a:pt x="2613554" y="5876802"/>
                </a:cubicBezTo>
                <a:cubicBezTo>
                  <a:pt x="2605544" y="5879410"/>
                  <a:pt x="2594611" y="5869350"/>
                  <a:pt x="2581134" y="5866867"/>
                </a:cubicBezTo>
                <a:cubicBezTo>
                  <a:pt x="2087178" y="5774877"/>
                  <a:pt x="1597684" y="5663937"/>
                  <a:pt x="1112635" y="5534031"/>
                </a:cubicBezTo>
                <a:cubicBezTo>
                  <a:pt x="880453" y="5471934"/>
                  <a:pt x="649713" y="5405428"/>
                  <a:pt x="420412" y="5334514"/>
                </a:cubicBezTo>
                <a:lnTo>
                  <a:pt x="0" y="5195539"/>
                </a:lnTo>
                <a:lnTo>
                  <a:pt x="60" y="5105401"/>
                </a:lnTo>
                <a:lnTo>
                  <a:pt x="0" y="5105401"/>
                </a:lnTo>
                <a:lnTo>
                  <a:pt x="0" y="1"/>
                </a:lnTo>
                <a:lnTo>
                  <a:pt x="9834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25A6269-1B53-CA2F-2F42-CE6F8C6222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9853857"/>
              </p:ext>
            </p:extLst>
          </p:nvPr>
        </p:nvGraphicFramePr>
        <p:xfrm>
          <a:off x="228600" y="439767"/>
          <a:ext cx="11658602" cy="4584447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2626373">
                  <a:extLst>
                    <a:ext uri="{9D8B030D-6E8A-4147-A177-3AD203B41FA5}">
                      <a16:colId xmlns:a16="http://schemas.microsoft.com/office/drawing/2014/main" val="4208855007"/>
                    </a:ext>
                  </a:extLst>
                </a:gridCol>
                <a:gridCol w="2973369">
                  <a:extLst>
                    <a:ext uri="{9D8B030D-6E8A-4147-A177-3AD203B41FA5}">
                      <a16:colId xmlns:a16="http://schemas.microsoft.com/office/drawing/2014/main" val="2579775207"/>
                    </a:ext>
                  </a:extLst>
                </a:gridCol>
                <a:gridCol w="1833215">
                  <a:extLst>
                    <a:ext uri="{9D8B030D-6E8A-4147-A177-3AD203B41FA5}">
                      <a16:colId xmlns:a16="http://schemas.microsoft.com/office/drawing/2014/main" val="2102604547"/>
                    </a:ext>
                  </a:extLst>
                </a:gridCol>
                <a:gridCol w="1833215">
                  <a:extLst>
                    <a:ext uri="{9D8B030D-6E8A-4147-A177-3AD203B41FA5}">
                      <a16:colId xmlns:a16="http://schemas.microsoft.com/office/drawing/2014/main" val="173640291"/>
                    </a:ext>
                  </a:extLst>
                </a:gridCol>
                <a:gridCol w="2392430">
                  <a:extLst>
                    <a:ext uri="{9D8B030D-6E8A-4147-A177-3AD203B41FA5}">
                      <a16:colId xmlns:a16="http://schemas.microsoft.com/office/drawing/2014/main" val="219632880"/>
                    </a:ext>
                  </a:extLst>
                </a:gridCol>
              </a:tblGrid>
              <a:tr h="9680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PH" sz="2500" b="1" dirty="0">
                          <a:effectLst/>
                        </a:rPr>
                        <a:t>Phase 5: Testing &amp; QA</a:t>
                      </a:r>
                      <a:endParaRPr lang="en-PH" sz="2500" b="0" dirty="0">
                        <a:effectLst/>
                        <a:latin typeface="quote-cjk-patch"/>
                      </a:endParaRPr>
                    </a:p>
                  </a:txBody>
                  <a:tcPr marL="124735" marR="207892" marT="129933" marB="12993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2500" b="1" dirty="0">
                          <a:effectLst/>
                        </a:rPr>
                        <a:t>6 weeks</a:t>
                      </a:r>
                      <a:endParaRPr lang="en-PH" sz="2500" b="0" dirty="0">
                        <a:effectLst/>
                        <a:latin typeface="quote-cjk-patch"/>
                      </a:endParaRPr>
                    </a:p>
                  </a:txBody>
                  <a:tcPr marL="207892" marR="207892" marT="129933" marB="12993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2500" b="1" dirty="0">
                          <a:effectLst/>
                          <a:latin typeface="quote-cjk-patch"/>
                        </a:rPr>
                        <a:t>29</a:t>
                      </a:r>
                      <a:endParaRPr lang="en-PH" sz="2500" b="0" dirty="0">
                        <a:effectLst/>
                        <a:latin typeface="quote-cjk-patch"/>
                      </a:endParaRPr>
                    </a:p>
                  </a:txBody>
                  <a:tcPr marL="207892" marR="207892" marT="129933" marB="12993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2500" b="1" dirty="0">
                          <a:effectLst/>
                          <a:latin typeface="quote-cjk-patch"/>
                        </a:rPr>
                        <a:t>35</a:t>
                      </a:r>
                      <a:endParaRPr lang="en-PH" sz="2500" b="0" dirty="0">
                        <a:effectLst/>
                        <a:latin typeface="quote-cjk-patch"/>
                      </a:endParaRPr>
                    </a:p>
                  </a:txBody>
                  <a:tcPr marL="207892" marR="207892" marT="129933" marB="12993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2500" b="0">
                          <a:effectLst/>
                        </a:rPr>
                        <a:t>Phase 4</a:t>
                      </a:r>
                      <a:endParaRPr lang="en-PH" sz="2500" b="0">
                        <a:effectLst/>
                        <a:latin typeface="quote-cjk-patch"/>
                      </a:endParaRPr>
                    </a:p>
                  </a:txBody>
                  <a:tcPr marL="207892" marR="124735" marT="129933" marB="129933" anchor="ctr"/>
                </a:tc>
                <a:extLst>
                  <a:ext uri="{0D108BD9-81ED-4DB2-BD59-A6C34878D82A}">
                    <a16:rowId xmlns:a16="http://schemas.microsoft.com/office/drawing/2014/main" val="1655592193"/>
                  </a:ext>
                </a:extLst>
              </a:tr>
              <a:tr h="1297248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2500" b="0" dirty="0">
                          <a:effectLst/>
                        </a:rPr>
                        <a:t>  5.1 Unit &amp; integration testing</a:t>
                      </a:r>
                      <a:endParaRPr lang="en-PH" sz="2500" b="0" dirty="0">
                        <a:effectLst/>
                        <a:latin typeface="quote-cjk-patch"/>
                      </a:endParaRPr>
                    </a:p>
                  </a:txBody>
                  <a:tcPr marL="124735" marR="207892" marT="129933" marB="12993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2500" b="0" dirty="0">
                          <a:effectLst/>
                        </a:rPr>
                        <a:t>3 weeks</a:t>
                      </a:r>
                      <a:endParaRPr lang="en-PH" sz="2500" b="0" dirty="0">
                        <a:effectLst/>
                        <a:latin typeface="quote-cjk-patch"/>
                      </a:endParaRPr>
                    </a:p>
                  </a:txBody>
                  <a:tcPr marL="207892" marR="207892" marT="129933" marB="12993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2500" b="0" dirty="0">
                          <a:effectLst/>
                          <a:latin typeface="quote-cjk-patch"/>
                        </a:rPr>
                        <a:t>29</a:t>
                      </a:r>
                    </a:p>
                  </a:txBody>
                  <a:tcPr marL="207892" marR="207892" marT="129933" marB="12993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2500" b="0" dirty="0">
                          <a:effectLst/>
                          <a:latin typeface="quote-cjk-patch"/>
                        </a:rPr>
                        <a:t>32</a:t>
                      </a:r>
                    </a:p>
                  </a:txBody>
                  <a:tcPr marL="207892" marR="207892" marT="129933" marB="12993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2500" b="0">
                          <a:effectLst/>
                        </a:rPr>
                        <a:t>4.3</a:t>
                      </a:r>
                      <a:endParaRPr lang="en-PH" sz="2500" b="0">
                        <a:effectLst/>
                        <a:latin typeface="quote-cjk-patch"/>
                      </a:endParaRPr>
                    </a:p>
                  </a:txBody>
                  <a:tcPr marL="207892" marR="124735" marT="129933" marB="129933" anchor="ctr"/>
                </a:tc>
                <a:extLst>
                  <a:ext uri="{0D108BD9-81ED-4DB2-BD59-A6C34878D82A}">
                    <a16:rowId xmlns:a16="http://schemas.microsoft.com/office/drawing/2014/main" val="383150086"/>
                  </a:ext>
                </a:extLst>
              </a:tr>
              <a:tr h="1297248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2500" b="0" dirty="0">
                          <a:effectLst/>
                        </a:rPr>
                        <a:t>  5.2 User acceptance testing (UAT)</a:t>
                      </a:r>
                      <a:endParaRPr lang="en-PH" sz="2500" b="0" dirty="0">
                        <a:effectLst/>
                        <a:latin typeface="quote-cjk-patch"/>
                      </a:endParaRPr>
                    </a:p>
                  </a:txBody>
                  <a:tcPr marL="124735" marR="207892" marT="129933" marB="12993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2500" b="0" dirty="0">
                          <a:effectLst/>
                        </a:rPr>
                        <a:t>2 week</a:t>
                      </a:r>
                      <a:endParaRPr lang="en-PH" sz="2500" b="0" dirty="0">
                        <a:effectLst/>
                        <a:latin typeface="quote-cjk-patch"/>
                      </a:endParaRPr>
                    </a:p>
                  </a:txBody>
                  <a:tcPr marL="207892" marR="207892" marT="129933" marB="12993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2500" b="0" dirty="0">
                          <a:effectLst/>
                        </a:rPr>
                        <a:t>32</a:t>
                      </a:r>
                      <a:endParaRPr lang="en-PH" sz="2500" b="0" dirty="0">
                        <a:effectLst/>
                        <a:latin typeface="quote-cjk-patch"/>
                      </a:endParaRPr>
                    </a:p>
                  </a:txBody>
                  <a:tcPr marL="207892" marR="207892" marT="129933" marB="12993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2500" b="0" dirty="0">
                          <a:effectLst/>
                        </a:rPr>
                        <a:t>34</a:t>
                      </a:r>
                      <a:endParaRPr lang="en-PH" sz="2500" b="0" dirty="0">
                        <a:effectLst/>
                        <a:latin typeface="quote-cjk-patch"/>
                      </a:endParaRPr>
                    </a:p>
                  </a:txBody>
                  <a:tcPr marL="207892" marR="207892" marT="129933" marB="12993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2500" b="0">
                          <a:effectLst/>
                        </a:rPr>
                        <a:t>5.1</a:t>
                      </a:r>
                      <a:endParaRPr lang="en-PH" sz="2500" b="0">
                        <a:effectLst/>
                        <a:latin typeface="quote-cjk-patch"/>
                      </a:endParaRPr>
                    </a:p>
                  </a:txBody>
                  <a:tcPr marL="207892" marR="124735" marT="129933" marB="129933" anchor="ctr"/>
                </a:tc>
                <a:extLst>
                  <a:ext uri="{0D108BD9-81ED-4DB2-BD59-A6C34878D82A}">
                    <a16:rowId xmlns:a16="http://schemas.microsoft.com/office/drawing/2014/main" val="16480642"/>
                  </a:ext>
                </a:extLst>
              </a:tr>
              <a:tr h="968085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2500" b="0" dirty="0">
                          <a:effectLst/>
                        </a:rPr>
                        <a:t>  5.3 Bug fixing &amp; refinement</a:t>
                      </a:r>
                      <a:endParaRPr lang="en-PH" sz="2500" b="0" dirty="0">
                        <a:effectLst/>
                        <a:latin typeface="quote-cjk-patch"/>
                      </a:endParaRPr>
                    </a:p>
                  </a:txBody>
                  <a:tcPr marL="124735" marR="207892" marT="129933" marB="12993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2500" b="0" dirty="0">
                          <a:effectLst/>
                        </a:rPr>
                        <a:t>1 week</a:t>
                      </a:r>
                      <a:endParaRPr lang="en-PH" sz="2500" b="0" dirty="0">
                        <a:effectLst/>
                        <a:latin typeface="quote-cjk-patch"/>
                      </a:endParaRPr>
                    </a:p>
                  </a:txBody>
                  <a:tcPr marL="207892" marR="207892" marT="129933" marB="12993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2500" b="0" dirty="0">
                          <a:effectLst/>
                        </a:rPr>
                        <a:t>34</a:t>
                      </a:r>
                      <a:endParaRPr lang="en-PH" sz="2500" b="0" dirty="0">
                        <a:effectLst/>
                        <a:latin typeface="quote-cjk-patch"/>
                      </a:endParaRPr>
                    </a:p>
                  </a:txBody>
                  <a:tcPr marL="207892" marR="207892" marT="129933" marB="12993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2500" b="0" dirty="0">
                          <a:effectLst/>
                        </a:rPr>
                        <a:t>35</a:t>
                      </a:r>
                      <a:endParaRPr lang="en-PH" sz="2500" b="0" dirty="0">
                        <a:effectLst/>
                        <a:latin typeface="quote-cjk-patch"/>
                      </a:endParaRPr>
                    </a:p>
                  </a:txBody>
                  <a:tcPr marL="207892" marR="207892" marT="129933" marB="12993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2500" b="0" dirty="0">
                          <a:effectLst/>
                        </a:rPr>
                        <a:t>5.2</a:t>
                      </a:r>
                      <a:endParaRPr lang="en-PH" sz="2500" b="0" dirty="0">
                        <a:effectLst/>
                        <a:latin typeface="quote-cjk-patch"/>
                      </a:endParaRPr>
                    </a:p>
                  </a:txBody>
                  <a:tcPr marL="207892" marR="124735" marT="129933" marB="129933" anchor="ctr"/>
                </a:tc>
                <a:extLst>
                  <a:ext uri="{0D108BD9-81ED-4DB2-BD59-A6C34878D82A}">
                    <a16:rowId xmlns:a16="http://schemas.microsoft.com/office/drawing/2014/main" val="37917430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04769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8F4815-2F49-0337-90AF-D6983A227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2D2B266D-3625-4584-A5C3-7D3F672CFF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463B99A-73EE-4FBB-B7C4-F9F9BCC25C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5D2A5D1-BA0D-47D3-B051-DA7743C46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219825"/>
          </a:xfrm>
          <a:custGeom>
            <a:avLst/>
            <a:gdLst>
              <a:gd name="connsiteX0" fmla="*/ 6789701 w 12192000"/>
              <a:gd name="connsiteY0" fmla="*/ 6151588 h 6219825"/>
              <a:gd name="connsiteX1" fmla="*/ 6788702 w 12192000"/>
              <a:gd name="connsiteY1" fmla="*/ 6151666 h 6219825"/>
              <a:gd name="connsiteX2" fmla="*/ 6788476 w 12192000"/>
              <a:gd name="connsiteY2" fmla="*/ 6152200 h 6219825"/>
              <a:gd name="connsiteX3" fmla="*/ 9834 w 12192000"/>
              <a:gd name="connsiteY3" fmla="*/ 0 h 6219825"/>
              <a:gd name="connsiteX4" fmla="*/ 12357 w 12192000"/>
              <a:gd name="connsiteY4" fmla="*/ 1 h 6219825"/>
              <a:gd name="connsiteX5" fmla="*/ 12192000 w 12192000"/>
              <a:gd name="connsiteY5" fmla="*/ 1 h 6219825"/>
              <a:gd name="connsiteX6" fmla="*/ 12192000 w 12192000"/>
              <a:gd name="connsiteY6" fmla="*/ 5105401 h 6219825"/>
              <a:gd name="connsiteX7" fmla="*/ 12191716 w 12192000"/>
              <a:gd name="connsiteY7" fmla="*/ 5105401 h 6219825"/>
              <a:gd name="connsiteX8" fmla="*/ 12192000 w 12192000"/>
              <a:gd name="connsiteY8" fmla="*/ 5256977 h 6219825"/>
              <a:gd name="connsiteX9" fmla="*/ 12061096 w 12192000"/>
              <a:gd name="connsiteY9" fmla="*/ 5296034 h 6219825"/>
              <a:gd name="connsiteX10" fmla="*/ 11676800 w 12192000"/>
              <a:gd name="connsiteY10" fmla="*/ 5399652 h 6219825"/>
              <a:gd name="connsiteX11" fmla="*/ 10425355 w 12192000"/>
              <a:gd name="connsiteY11" fmla="*/ 5683310 h 6219825"/>
              <a:gd name="connsiteX12" fmla="*/ 9424022 w 12192000"/>
              <a:gd name="connsiteY12" fmla="*/ 5858546 h 6219825"/>
              <a:gd name="connsiteX13" fmla="*/ 8458419 w 12192000"/>
              <a:gd name="connsiteY13" fmla="*/ 5992303 h 6219825"/>
              <a:gd name="connsiteX14" fmla="*/ 7715970 w 12192000"/>
              <a:gd name="connsiteY14" fmla="*/ 6072283 h 6219825"/>
              <a:gd name="connsiteX15" fmla="*/ 6951716 w 12192000"/>
              <a:gd name="connsiteY15" fmla="*/ 6138091 h 6219825"/>
              <a:gd name="connsiteX16" fmla="*/ 6936303 w 12192000"/>
              <a:gd name="connsiteY16" fmla="*/ 6140163 h 6219825"/>
              <a:gd name="connsiteX17" fmla="*/ 6790448 w 12192000"/>
              <a:gd name="connsiteY17" fmla="*/ 6151529 h 6219825"/>
              <a:gd name="connsiteX18" fmla="*/ 6799941 w 12192000"/>
              <a:gd name="connsiteY18" fmla="*/ 6153349 h 6219825"/>
              <a:gd name="connsiteX19" fmla="*/ 6835432 w 12192000"/>
              <a:gd name="connsiteY19" fmla="*/ 6151642 h 6219825"/>
              <a:gd name="connsiteX20" fmla="*/ 6884003 w 12192000"/>
              <a:gd name="connsiteY20" fmla="*/ 6148662 h 6219825"/>
              <a:gd name="connsiteX21" fmla="*/ 7578771 w 12192000"/>
              <a:gd name="connsiteY21" fmla="*/ 6116122 h 6219825"/>
              <a:gd name="connsiteX22" fmla="*/ 8623845 w 12192000"/>
              <a:gd name="connsiteY22" fmla="*/ 6029188 h 6219825"/>
              <a:gd name="connsiteX23" fmla="*/ 9479970 w 12192000"/>
              <a:gd name="connsiteY23" fmla="*/ 5925239 h 6219825"/>
              <a:gd name="connsiteX24" fmla="*/ 10629308 w 12192000"/>
              <a:gd name="connsiteY24" fmla="*/ 5731000 h 6219825"/>
              <a:gd name="connsiteX25" fmla="*/ 11998498 w 12192000"/>
              <a:gd name="connsiteY25" fmla="*/ 5404869 h 6219825"/>
              <a:gd name="connsiteX26" fmla="*/ 12192000 w 12192000"/>
              <a:gd name="connsiteY26" fmla="*/ 5347846 h 6219825"/>
              <a:gd name="connsiteX27" fmla="*/ 12192000 w 12192000"/>
              <a:gd name="connsiteY27" fmla="*/ 5402606 h 6219825"/>
              <a:gd name="connsiteX28" fmla="*/ 11829257 w 12192000"/>
              <a:gd name="connsiteY28" fmla="*/ 5507950 h 6219825"/>
              <a:gd name="connsiteX29" fmla="*/ 10939183 w 12192000"/>
              <a:gd name="connsiteY29" fmla="*/ 5722555 h 6219825"/>
              <a:gd name="connsiteX30" fmla="*/ 9985530 w 12192000"/>
              <a:gd name="connsiteY30" fmla="*/ 5902635 h 6219825"/>
              <a:gd name="connsiteX31" fmla="*/ 9186882 w 12192000"/>
              <a:gd name="connsiteY31" fmla="*/ 6018631 h 6219825"/>
              <a:gd name="connsiteX32" fmla="*/ 8578198 w 12192000"/>
              <a:gd name="connsiteY32" fmla="*/ 6088179 h 6219825"/>
              <a:gd name="connsiteX33" fmla="*/ 7864358 w 12192000"/>
              <a:gd name="connsiteY33" fmla="*/ 6149656 h 6219825"/>
              <a:gd name="connsiteX34" fmla="*/ 6935502 w 12192000"/>
              <a:gd name="connsiteY34" fmla="*/ 6201071 h 6219825"/>
              <a:gd name="connsiteX35" fmla="*/ 6477750 w 12192000"/>
              <a:gd name="connsiteY35" fmla="*/ 6214980 h 6219825"/>
              <a:gd name="connsiteX36" fmla="*/ 6362294 w 12192000"/>
              <a:gd name="connsiteY36" fmla="*/ 6219825 h 6219825"/>
              <a:gd name="connsiteX37" fmla="*/ 6057129 w 12192000"/>
              <a:gd name="connsiteY37" fmla="*/ 6219825 h 6219825"/>
              <a:gd name="connsiteX38" fmla="*/ 5977784 w 12192000"/>
              <a:gd name="connsiteY38" fmla="*/ 6215229 h 6219825"/>
              <a:gd name="connsiteX39" fmla="*/ 5265087 w 12192000"/>
              <a:gd name="connsiteY39" fmla="*/ 6178965 h 6219825"/>
              <a:gd name="connsiteX40" fmla="*/ 4346277 w 12192000"/>
              <a:gd name="connsiteY40" fmla="*/ 6116869 h 6219825"/>
              <a:gd name="connsiteX41" fmla="*/ 3373045 w 12192000"/>
              <a:gd name="connsiteY41" fmla="*/ 6018259 h 6219825"/>
              <a:gd name="connsiteX42" fmla="*/ 2362173 w 12192000"/>
              <a:gd name="connsiteY42" fmla="*/ 5899282 h 6219825"/>
              <a:gd name="connsiteX43" fmla="*/ 1233178 w 12192000"/>
              <a:gd name="connsiteY43" fmla="*/ 5726033 h 6219825"/>
              <a:gd name="connsiteX44" fmla="*/ 68500 w 12192000"/>
              <a:gd name="connsiteY44" fmla="*/ 5486226 h 6219825"/>
              <a:gd name="connsiteX45" fmla="*/ 0 w 12192000"/>
              <a:gd name="connsiteY45" fmla="*/ 5468863 h 6219825"/>
              <a:gd name="connsiteX46" fmla="*/ 0 w 12192000"/>
              <a:gd name="connsiteY46" fmla="*/ 5412351 h 6219825"/>
              <a:gd name="connsiteX47" fmla="*/ 72441 w 12192000"/>
              <a:gd name="connsiteY47" fmla="*/ 5431135 h 6219825"/>
              <a:gd name="connsiteX48" fmla="*/ 600716 w 12192000"/>
              <a:gd name="connsiteY48" fmla="*/ 5549555 h 6219825"/>
              <a:gd name="connsiteX49" fmla="*/ 1769512 w 12192000"/>
              <a:gd name="connsiteY49" fmla="*/ 5759811 h 6219825"/>
              <a:gd name="connsiteX50" fmla="*/ 2613554 w 12192000"/>
              <a:gd name="connsiteY50" fmla="*/ 5876802 h 6219825"/>
              <a:gd name="connsiteX51" fmla="*/ 2581134 w 12192000"/>
              <a:gd name="connsiteY51" fmla="*/ 5866867 h 6219825"/>
              <a:gd name="connsiteX52" fmla="*/ 1112635 w 12192000"/>
              <a:gd name="connsiteY52" fmla="*/ 5534031 h 6219825"/>
              <a:gd name="connsiteX53" fmla="*/ 420412 w 12192000"/>
              <a:gd name="connsiteY53" fmla="*/ 5334514 h 6219825"/>
              <a:gd name="connsiteX54" fmla="*/ 0 w 12192000"/>
              <a:gd name="connsiteY54" fmla="*/ 5195539 h 6219825"/>
              <a:gd name="connsiteX55" fmla="*/ 60 w 12192000"/>
              <a:gd name="connsiteY55" fmla="*/ 5105401 h 6219825"/>
              <a:gd name="connsiteX56" fmla="*/ 0 w 12192000"/>
              <a:gd name="connsiteY56" fmla="*/ 5105401 h 6219825"/>
              <a:gd name="connsiteX57" fmla="*/ 0 w 12192000"/>
              <a:gd name="connsiteY57" fmla="*/ 1 h 6219825"/>
              <a:gd name="connsiteX58" fmla="*/ 9834 w 12192000"/>
              <a:gd name="connsiteY58" fmla="*/ 1 h 6219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12192000" h="6219825">
                <a:moveTo>
                  <a:pt x="6789701" y="6151588"/>
                </a:moveTo>
                <a:lnTo>
                  <a:pt x="6788702" y="6151666"/>
                </a:lnTo>
                <a:cubicBezTo>
                  <a:pt x="6788627" y="6151844"/>
                  <a:pt x="6788551" y="6152022"/>
                  <a:pt x="6788476" y="6152200"/>
                </a:cubicBezTo>
                <a:close/>
                <a:moveTo>
                  <a:pt x="9834" y="0"/>
                </a:moveTo>
                <a:lnTo>
                  <a:pt x="12357" y="1"/>
                </a:lnTo>
                <a:lnTo>
                  <a:pt x="12192000" y="1"/>
                </a:lnTo>
                <a:lnTo>
                  <a:pt x="12192000" y="5105401"/>
                </a:lnTo>
                <a:lnTo>
                  <a:pt x="12191716" y="5105401"/>
                </a:lnTo>
                <a:lnTo>
                  <a:pt x="12192000" y="5256977"/>
                </a:lnTo>
                <a:lnTo>
                  <a:pt x="12061096" y="5296034"/>
                </a:lnTo>
                <a:cubicBezTo>
                  <a:pt x="11933500" y="5332263"/>
                  <a:pt x="11805390" y="5366806"/>
                  <a:pt x="11676800" y="5399652"/>
                </a:cubicBezTo>
                <a:cubicBezTo>
                  <a:pt x="11262789" y="5507204"/>
                  <a:pt x="10845343" y="5600846"/>
                  <a:pt x="10425355" y="5683310"/>
                </a:cubicBezTo>
                <a:cubicBezTo>
                  <a:pt x="10092810" y="5748549"/>
                  <a:pt x="9759033" y="5806970"/>
                  <a:pt x="9424022" y="5858546"/>
                </a:cubicBezTo>
                <a:cubicBezTo>
                  <a:pt x="9102997" y="5908224"/>
                  <a:pt x="8781133" y="5952809"/>
                  <a:pt x="8458419" y="5992303"/>
                </a:cubicBezTo>
                <a:cubicBezTo>
                  <a:pt x="8211360" y="6022481"/>
                  <a:pt x="7963792" y="6048065"/>
                  <a:pt x="7715970" y="6072283"/>
                </a:cubicBezTo>
                <a:lnTo>
                  <a:pt x="6951716" y="6138091"/>
                </a:lnTo>
                <a:lnTo>
                  <a:pt x="6936303" y="6140163"/>
                </a:lnTo>
                <a:lnTo>
                  <a:pt x="6790448" y="6151529"/>
                </a:lnTo>
                <a:lnTo>
                  <a:pt x="6799941" y="6153349"/>
                </a:lnTo>
                <a:cubicBezTo>
                  <a:pt x="6811623" y="6153816"/>
                  <a:pt x="6823734" y="6151642"/>
                  <a:pt x="6835432" y="6151642"/>
                </a:cubicBezTo>
                <a:cubicBezTo>
                  <a:pt x="6851580" y="6151642"/>
                  <a:pt x="6867729" y="6149034"/>
                  <a:pt x="6884003" y="6148662"/>
                </a:cubicBezTo>
                <a:cubicBezTo>
                  <a:pt x="7115805" y="6143198"/>
                  <a:pt x="7347351" y="6131026"/>
                  <a:pt x="7578771" y="6116122"/>
                </a:cubicBezTo>
                <a:cubicBezTo>
                  <a:pt x="7927552" y="6093644"/>
                  <a:pt x="8276080" y="6065453"/>
                  <a:pt x="8623845" y="6029188"/>
                </a:cubicBezTo>
                <a:cubicBezTo>
                  <a:pt x="8909939" y="5999878"/>
                  <a:pt x="9195310" y="5965228"/>
                  <a:pt x="9479970" y="5925239"/>
                </a:cubicBezTo>
                <a:cubicBezTo>
                  <a:pt x="9864901" y="5870842"/>
                  <a:pt x="10248014" y="5806101"/>
                  <a:pt x="10629308" y="5731000"/>
                </a:cubicBezTo>
                <a:cubicBezTo>
                  <a:pt x="11090114" y="5639842"/>
                  <a:pt x="11546975" y="5532291"/>
                  <a:pt x="11998498" y="5404869"/>
                </a:cubicBezTo>
                <a:lnTo>
                  <a:pt x="12192000" y="5347846"/>
                </a:lnTo>
                <a:lnTo>
                  <a:pt x="12192000" y="5402606"/>
                </a:lnTo>
                <a:lnTo>
                  <a:pt x="11829257" y="5507950"/>
                </a:lnTo>
                <a:cubicBezTo>
                  <a:pt x="11534769" y="5587680"/>
                  <a:pt x="11238120" y="5658596"/>
                  <a:pt x="10939183" y="5722555"/>
                </a:cubicBezTo>
                <a:cubicBezTo>
                  <a:pt x="10622824" y="5790365"/>
                  <a:pt x="10304941" y="5850387"/>
                  <a:pt x="9985530" y="5902635"/>
                </a:cubicBezTo>
                <a:cubicBezTo>
                  <a:pt x="9720036" y="5946102"/>
                  <a:pt x="9453814" y="5984764"/>
                  <a:pt x="9186882" y="6018631"/>
                </a:cubicBezTo>
                <a:cubicBezTo>
                  <a:pt x="8984197" y="6044216"/>
                  <a:pt x="8781514" y="6068309"/>
                  <a:pt x="8578198" y="6088179"/>
                </a:cubicBezTo>
                <a:lnTo>
                  <a:pt x="7864358" y="6149656"/>
                </a:lnTo>
                <a:cubicBezTo>
                  <a:pt x="7554994" y="6172009"/>
                  <a:pt x="7245502" y="6189895"/>
                  <a:pt x="6935502" y="6201071"/>
                </a:cubicBezTo>
                <a:lnTo>
                  <a:pt x="6477750" y="6214980"/>
                </a:lnTo>
                <a:cubicBezTo>
                  <a:pt x="6439195" y="6212895"/>
                  <a:pt x="6400529" y="6214521"/>
                  <a:pt x="6362294" y="6219825"/>
                </a:cubicBezTo>
                <a:lnTo>
                  <a:pt x="6057129" y="6219825"/>
                </a:lnTo>
                <a:lnTo>
                  <a:pt x="5977784" y="6215229"/>
                </a:lnTo>
                <a:lnTo>
                  <a:pt x="5265087" y="6178965"/>
                </a:lnTo>
                <a:cubicBezTo>
                  <a:pt x="4958267" y="6166544"/>
                  <a:pt x="4651826" y="6146055"/>
                  <a:pt x="4346277" y="6116869"/>
                </a:cubicBezTo>
                <a:lnTo>
                  <a:pt x="3373045" y="6018259"/>
                </a:lnTo>
                <a:cubicBezTo>
                  <a:pt x="3035412" y="5983982"/>
                  <a:pt x="2698456" y="5944327"/>
                  <a:pt x="2362173" y="5899282"/>
                </a:cubicBezTo>
                <a:cubicBezTo>
                  <a:pt x="1984692" y="5849108"/>
                  <a:pt x="1608364" y="5791358"/>
                  <a:pt x="1233178" y="5726033"/>
                </a:cubicBezTo>
                <a:cubicBezTo>
                  <a:pt x="842181" y="5657291"/>
                  <a:pt x="453758" y="5578770"/>
                  <a:pt x="68500" y="5486226"/>
                </a:cubicBezTo>
                <a:lnTo>
                  <a:pt x="0" y="5468863"/>
                </a:lnTo>
                <a:lnTo>
                  <a:pt x="0" y="5412351"/>
                </a:lnTo>
                <a:lnTo>
                  <a:pt x="72441" y="5431135"/>
                </a:lnTo>
                <a:cubicBezTo>
                  <a:pt x="247961" y="5473331"/>
                  <a:pt x="424164" y="5512608"/>
                  <a:pt x="600716" y="5549555"/>
                </a:cubicBezTo>
                <a:cubicBezTo>
                  <a:pt x="988279" y="5630403"/>
                  <a:pt x="1378133" y="5699330"/>
                  <a:pt x="1769512" y="5759811"/>
                </a:cubicBezTo>
                <a:cubicBezTo>
                  <a:pt x="2052426" y="5803406"/>
                  <a:pt x="2335725" y="5843519"/>
                  <a:pt x="2613554" y="5876802"/>
                </a:cubicBezTo>
                <a:cubicBezTo>
                  <a:pt x="2605544" y="5879410"/>
                  <a:pt x="2594611" y="5869350"/>
                  <a:pt x="2581134" y="5866867"/>
                </a:cubicBezTo>
                <a:cubicBezTo>
                  <a:pt x="2087178" y="5774877"/>
                  <a:pt x="1597684" y="5663937"/>
                  <a:pt x="1112635" y="5534031"/>
                </a:cubicBezTo>
                <a:cubicBezTo>
                  <a:pt x="880453" y="5471934"/>
                  <a:pt x="649713" y="5405428"/>
                  <a:pt x="420412" y="5334514"/>
                </a:cubicBezTo>
                <a:lnTo>
                  <a:pt x="0" y="5195539"/>
                </a:lnTo>
                <a:lnTo>
                  <a:pt x="60" y="5105401"/>
                </a:lnTo>
                <a:lnTo>
                  <a:pt x="0" y="5105401"/>
                </a:lnTo>
                <a:lnTo>
                  <a:pt x="0" y="1"/>
                </a:lnTo>
                <a:lnTo>
                  <a:pt x="9834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AEB992B-7211-6B9F-6F68-E84183E847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2667182"/>
              </p:ext>
            </p:extLst>
          </p:nvPr>
        </p:nvGraphicFramePr>
        <p:xfrm>
          <a:off x="970201" y="228600"/>
          <a:ext cx="10175400" cy="3291841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3506285">
                  <a:extLst>
                    <a:ext uri="{9D8B030D-6E8A-4147-A177-3AD203B41FA5}">
                      <a16:colId xmlns:a16="http://schemas.microsoft.com/office/drawing/2014/main" val="542610214"/>
                    </a:ext>
                  </a:extLst>
                </a:gridCol>
                <a:gridCol w="2203376">
                  <a:extLst>
                    <a:ext uri="{9D8B030D-6E8A-4147-A177-3AD203B41FA5}">
                      <a16:colId xmlns:a16="http://schemas.microsoft.com/office/drawing/2014/main" val="3539009245"/>
                    </a:ext>
                  </a:extLst>
                </a:gridCol>
                <a:gridCol w="1240193">
                  <a:extLst>
                    <a:ext uri="{9D8B030D-6E8A-4147-A177-3AD203B41FA5}">
                      <a16:colId xmlns:a16="http://schemas.microsoft.com/office/drawing/2014/main" val="1150156036"/>
                    </a:ext>
                  </a:extLst>
                </a:gridCol>
                <a:gridCol w="1240193">
                  <a:extLst>
                    <a:ext uri="{9D8B030D-6E8A-4147-A177-3AD203B41FA5}">
                      <a16:colId xmlns:a16="http://schemas.microsoft.com/office/drawing/2014/main" val="3915068556"/>
                    </a:ext>
                  </a:extLst>
                </a:gridCol>
                <a:gridCol w="1985353">
                  <a:extLst>
                    <a:ext uri="{9D8B030D-6E8A-4147-A177-3AD203B41FA5}">
                      <a16:colId xmlns:a16="http://schemas.microsoft.com/office/drawing/2014/main" val="3918346516"/>
                    </a:ext>
                  </a:extLst>
                </a:gridCol>
              </a:tblGrid>
              <a:tr h="1360087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2400" b="0" cap="none" spc="0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Phase 6: Deployment &amp; Training</a:t>
                      </a:r>
                    </a:p>
                  </a:txBody>
                  <a:tcPr marL="0" marR="358394" marT="43007" marB="215036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2400" b="0" cap="none" spc="0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4 weeks</a:t>
                      </a:r>
                    </a:p>
                  </a:txBody>
                  <a:tcPr marL="0" marR="358394" marT="43007" marB="215036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2400" b="0" cap="none" spc="0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35</a:t>
                      </a:r>
                    </a:p>
                  </a:txBody>
                  <a:tcPr marL="0" marR="358394" marT="43007" marB="215036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2400" b="0" cap="none" spc="0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39</a:t>
                      </a:r>
                    </a:p>
                  </a:txBody>
                  <a:tcPr marL="0" marR="358394" marT="43007" marB="215036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2400" b="0" cap="none" spc="0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Phase 5</a:t>
                      </a:r>
                    </a:p>
                  </a:txBody>
                  <a:tcPr marL="0" marR="215036" marT="43007" marB="215036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5847457"/>
                  </a:ext>
                </a:extLst>
              </a:tr>
              <a:tr h="965877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2400" b="0" cap="none" spc="0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  6.1 Deploy to production</a:t>
                      </a:r>
                    </a:p>
                  </a:txBody>
                  <a:tcPr marL="0" marR="358394" marT="64511" marB="21503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2400" b="0" cap="none" spc="0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1 week</a:t>
                      </a:r>
                    </a:p>
                  </a:txBody>
                  <a:tcPr marL="0" marR="358394" marT="64511" marB="21503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2400" b="0" cap="none" spc="0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35</a:t>
                      </a:r>
                    </a:p>
                  </a:txBody>
                  <a:tcPr marL="0" marR="358394" marT="64511" marB="21503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2400" b="0" cap="none" spc="0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36</a:t>
                      </a:r>
                    </a:p>
                  </a:txBody>
                  <a:tcPr marL="0" marR="358394" marT="64511" marB="21503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24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5.3</a:t>
                      </a:r>
                    </a:p>
                  </a:txBody>
                  <a:tcPr marL="0" marR="215036" marT="64511" marB="21503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069556"/>
                  </a:ext>
                </a:extLst>
              </a:tr>
              <a:tr h="965877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2400" b="0" cap="none" spc="0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  6.2 User training &amp; documentation</a:t>
                      </a:r>
                    </a:p>
                  </a:txBody>
                  <a:tcPr marL="0" marR="358394" marT="64511" marB="21503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2400" b="0" cap="none" spc="0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3 weeks</a:t>
                      </a:r>
                    </a:p>
                  </a:txBody>
                  <a:tcPr marL="0" marR="358394" marT="64511" marB="21503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2400" b="0" cap="none" spc="0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36</a:t>
                      </a:r>
                    </a:p>
                  </a:txBody>
                  <a:tcPr marL="0" marR="358394" marT="64511" marB="21503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2400" b="0" cap="none" spc="0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39</a:t>
                      </a:r>
                    </a:p>
                  </a:txBody>
                  <a:tcPr marL="0" marR="358394" marT="64511" marB="21503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2400" b="0" cap="none" spc="0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6.1</a:t>
                      </a:r>
                    </a:p>
                  </a:txBody>
                  <a:tcPr marL="0" marR="215036" marT="64511" marB="21503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288903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E135211-8E68-8A14-7F10-0961192FEF8B}"/>
              </a:ext>
            </a:extLst>
          </p:cNvPr>
          <p:cNvSpPr txBox="1"/>
          <p:nvPr/>
        </p:nvSpPr>
        <p:spPr>
          <a:xfrm>
            <a:off x="970201" y="3749041"/>
            <a:ext cx="609447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i="0" dirty="0">
                <a:solidFill>
                  <a:srgbClr val="0F1115"/>
                </a:solidFill>
                <a:effectLst/>
                <a:latin typeface="quote-cjk-patch"/>
              </a:rPr>
              <a:t>Total estimated duration: 40 weeks</a:t>
            </a:r>
            <a:r>
              <a:rPr lang="en-US" sz="3600" b="0" i="0" dirty="0">
                <a:solidFill>
                  <a:srgbClr val="0F1115"/>
                </a:solidFill>
                <a:effectLst/>
                <a:latin typeface="quote-cjk-patch"/>
              </a:rPr>
              <a:t> (including buffer).</a:t>
            </a:r>
            <a:endParaRPr lang="en-PH" sz="3600" dirty="0"/>
          </a:p>
        </p:txBody>
      </p:sp>
    </p:spTree>
    <p:extLst>
      <p:ext uri="{BB962C8B-B14F-4D97-AF65-F5344CB8AC3E}">
        <p14:creationId xmlns:p14="http://schemas.microsoft.com/office/powerpoint/2010/main" val="8774510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A988F2-D0BD-14BE-2C22-35218E6D2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3BA099-15DF-0BF3-461F-E134140B1798}"/>
              </a:ext>
            </a:extLst>
          </p:cNvPr>
          <p:cNvSpPr txBox="1"/>
          <p:nvPr/>
        </p:nvSpPr>
        <p:spPr>
          <a:xfrm>
            <a:off x="645064" y="525982"/>
            <a:ext cx="4282983" cy="120036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sz="3600" b="1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Software Requirements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2644863-14B6-C9C2-67C8-D81357885F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066" y="2031101"/>
            <a:ext cx="4282984" cy="3511943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-228600" defTabSz="9144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+mn-lt"/>
              </a:rPr>
              <a:t>1. Development Framework &amp; Programming Languages</a:t>
            </a:r>
          </a:p>
          <a:p>
            <a:pPr marL="0" marR="0" lvl="0" indent="-228600" defTabSz="9144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b="0" i="0" u="none" strike="noStrike" cap="none" normalizeH="0" baseline="0">
              <a:ln>
                <a:noFill/>
              </a:ln>
              <a:effectLst/>
              <a:latin typeface="+mn-lt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58A3514-8157-3B26-102F-329F3D4EF0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1255861"/>
              </p:ext>
            </p:extLst>
          </p:nvPr>
        </p:nvGraphicFramePr>
        <p:xfrm>
          <a:off x="5987738" y="1117133"/>
          <a:ext cx="5628019" cy="4799604"/>
        </p:xfrm>
        <a:graphic>
          <a:graphicData uri="http://schemas.openxmlformats.org/drawingml/2006/table">
            <a:tbl>
              <a:tblPr firstRow="1" bandRow="1"/>
              <a:tblGrid>
                <a:gridCol w="1518431">
                  <a:extLst>
                    <a:ext uri="{9D8B030D-6E8A-4147-A177-3AD203B41FA5}">
                      <a16:colId xmlns:a16="http://schemas.microsoft.com/office/drawing/2014/main" val="4085740632"/>
                    </a:ext>
                  </a:extLst>
                </a:gridCol>
                <a:gridCol w="2209261">
                  <a:extLst>
                    <a:ext uri="{9D8B030D-6E8A-4147-A177-3AD203B41FA5}">
                      <a16:colId xmlns:a16="http://schemas.microsoft.com/office/drawing/2014/main" val="200273848"/>
                    </a:ext>
                  </a:extLst>
                </a:gridCol>
                <a:gridCol w="1900327">
                  <a:extLst>
                    <a:ext uri="{9D8B030D-6E8A-4147-A177-3AD203B41FA5}">
                      <a16:colId xmlns:a16="http://schemas.microsoft.com/office/drawing/2014/main" val="735222075"/>
                    </a:ext>
                  </a:extLst>
                </a:gridCol>
              </a:tblGrid>
              <a:tr h="652902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</a:pPr>
                      <a:r>
                        <a:rPr lang="en-PH" sz="1700" b="1">
                          <a:effectLst/>
                          <a:latin typeface="quote-cjk-patch"/>
                        </a:rPr>
                        <a:t>Component</a:t>
                      </a:r>
                      <a:endParaRPr lang="en-PH" sz="1700" b="0">
                        <a:effectLst/>
                        <a:latin typeface="quote-cjk-patch"/>
                      </a:endParaRPr>
                    </a:p>
                  </a:txBody>
                  <a:tcPr marL="83701" marR="139501" marT="87188" marB="871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</a:pPr>
                      <a:r>
                        <a:rPr lang="en-PH" sz="1700" b="1">
                          <a:effectLst/>
                          <a:latin typeface="quote-cjk-patch"/>
                        </a:rPr>
                        <a:t>Recommended Options</a:t>
                      </a:r>
                      <a:endParaRPr lang="en-PH" sz="1700" b="0">
                        <a:effectLst/>
                        <a:latin typeface="quote-cjk-patch"/>
                      </a:endParaRPr>
                    </a:p>
                  </a:txBody>
                  <a:tcPr marL="139501" marR="139501" marT="87188" marB="871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</a:pPr>
                      <a:r>
                        <a:rPr lang="en-PH" sz="1700" b="1">
                          <a:effectLst/>
                          <a:latin typeface="quote-cjk-patch"/>
                        </a:rPr>
                        <a:t>Purpose</a:t>
                      </a:r>
                      <a:endParaRPr lang="en-PH" sz="1700" b="0">
                        <a:effectLst/>
                        <a:latin typeface="quote-cjk-patch"/>
                      </a:endParaRPr>
                    </a:p>
                  </a:txBody>
                  <a:tcPr marL="139501" marR="139501" marT="87188" marB="871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3233917"/>
                  </a:ext>
                </a:extLst>
              </a:tr>
              <a:tr h="154253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1700" b="1">
                          <a:effectLst/>
                          <a:latin typeface="quote-cjk-patch"/>
                        </a:rPr>
                        <a:t>Backend Framework</a:t>
                      </a:r>
                      <a:endParaRPr lang="en-PH" sz="1700" b="0">
                        <a:effectLst/>
                        <a:latin typeface="quote-cjk-patch"/>
                      </a:endParaRPr>
                    </a:p>
                  </a:txBody>
                  <a:tcPr marL="83701" marR="139501" marT="87188" marB="871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1700" b="1">
                          <a:effectLst/>
                          <a:latin typeface="quote-cjk-patch"/>
                        </a:rPr>
                        <a:t>Django</a:t>
                      </a:r>
                      <a:r>
                        <a:rPr lang="en-PH" sz="1700" b="0">
                          <a:effectLst/>
                          <a:latin typeface="quote-cjk-patch"/>
                        </a:rPr>
                        <a:t> (Python) or </a:t>
                      </a:r>
                      <a:r>
                        <a:rPr lang="en-PH" sz="1700" b="1">
                          <a:effectLst/>
                          <a:latin typeface="quote-cjk-patch"/>
                        </a:rPr>
                        <a:t>Flask</a:t>
                      </a:r>
                      <a:r>
                        <a:rPr lang="en-PH" sz="1700" b="0">
                          <a:effectLst/>
                          <a:latin typeface="quote-cjk-patch"/>
                        </a:rPr>
                        <a:t> (Python)</a:t>
                      </a:r>
                    </a:p>
                  </a:txBody>
                  <a:tcPr marL="139501" marR="139501" marT="87188" marB="871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sz="1700" b="0">
                          <a:effectLst/>
                          <a:latin typeface="quote-cjk-patch"/>
                        </a:rPr>
                        <a:t>Main application framework to handle document processing, user authentication, and business logic </a:t>
                      </a:r>
                    </a:p>
                  </a:txBody>
                  <a:tcPr marL="139501" marR="83701" marT="87188" marB="871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6393514"/>
                  </a:ext>
                </a:extLst>
              </a:tr>
              <a:tr h="1320123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1700" b="1">
                          <a:effectLst/>
                          <a:latin typeface="quote-cjk-patch"/>
                        </a:rPr>
                        <a:t>Programming Language</a:t>
                      </a:r>
                      <a:endParaRPr lang="en-PH" sz="1700" b="0">
                        <a:effectLst/>
                        <a:latin typeface="quote-cjk-patch"/>
                      </a:endParaRPr>
                    </a:p>
                  </a:txBody>
                  <a:tcPr marL="83701" marR="139501" marT="87188" marB="871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1700" b="1">
                          <a:effectLst/>
                          <a:latin typeface="quote-cjk-patch"/>
                        </a:rPr>
                        <a:t>Python 3.9+</a:t>
                      </a:r>
                      <a:endParaRPr lang="en-PH" sz="1700" b="0">
                        <a:effectLst/>
                        <a:latin typeface="quote-cjk-patch"/>
                      </a:endParaRPr>
                    </a:p>
                  </a:txBody>
                  <a:tcPr marL="139501" marR="139501" marT="87188" marB="871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sz="1700" b="0">
                          <a:effectLst/>
                          <a:latin typeface="quote-cjk-patch"/>
                        </a:rPr>
                        <a:t>Core language with extensive libraries for OCR, PDF manipulation, and Excel integration</a:t>
                      </a:r>
                    </a:p>
                  </a:txBody>
                  <a:tcPr marL="139501" marR="83701" marT="87188" marB="871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0617652"/>
                  </a:ext>
                </a:extLst>
              </a:tr>
              <a:tr h="875309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1700" b="1">
                          <a:effectLst/>
                          <a:latin typeface="quote-cjk-patch"/>
                        </a:rPr>
                        <a:t>Frontend</a:t>
                      </a:r>
                      <a:endParaRPr lang="en-PH" sz="1700" b="0">
                        <a:effectLst/>
                        <a:latin typeface="quote-cjk-patch"/>
                      </a:endParaRPr>
                    </a:p>
                  </a:txBody>
                  <a:tcPr marL="83701" marR="139501" marT="87188" marB="871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1700" b="0">
                          <a:effectLst/>
                          <a:latin typeface="quote-cjk-patch"/>
                        </a:rPr>
                        <a:t>HTML, CSS, JavaScript, </a:t>
                      </a:r>
                      <a:r>
                        <a:rPr lang="en-PH" sz="1700" b="1">
                          <a:effectLst/>
                          <a:latin typeface="quote-cjk-patch"/>
                        </a:rPr>
                        <a:t>Bootstrap</a:t>
                      </a:r>
                      <a:endParaRPr lang="en-PH" sz="1700" b="0">
                        <a:effectLst/>
                        <a:latin typeface="quote-cjk-patch"/>
                      </a:endParaRPr>
                    </a:p>
                  </a:txBody>
                  <a:tcPr marL="139501" marR="139501" marT="87188" marB="871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sz="1700" b="0">
                          <a:effectLst/>
                          <a:latin typeface="quote-cjk-patch"/>
                        </a:rPr>
                        <a:t>User interface for staff to interact with the system</a:t>
                      </a:r>
                    </a:p>
                  </a:txBody>
                  <a:tcPr marL="139501" marR="83701" marT="87188" marB="871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78063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90737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FC05701B-8F17-3A64-925A-44CA0590EC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3810" y="2960716"/>
            <a:ext cx="4036334" cy="238760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1" fontAlgn="base" hangingPunct="1">
              <a:lnSpc>
                <a:spcPct val="90000"/>
              </a:lnSpc>
              <a:spcAft>
                <a:spcPts val="600"/>
              </a:spcAft>
              <a:buClrTx/>
              <a:buSzTx/>
              <a:tabLst/>
            </a:pPr>
            <a:r>
              <a:rPr kumimoji="0" lang="en-US" altLang="en-US" sz="5400" b="1" i="0" u="none" strike="noStrike" kern="1200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2. Database</a:t>
            </a:r>
          </a:p>
          <a:p>
            <a:pPr marL="0" marR="0" lvl="0" indent="0" defTabSz="914400" eaLnBrk="1" fontAlgn="base" hangingPunct="1">
              <a:lnSpc>
                <a:spcPct val="90000"/>
              </a:lnSpc>
              <a:spcAft>
                <a:spcPts val="600"/>
              </a:spcAft>
              <a:buClrTx/>
              <a:buSzTx/>
              <a:tabLst/>
            </a:pPr>
            <a:endParaRPr kumimoji="0" lang="en-US" altLang="en-US" sz="5400" b="0" i="0" u="none" strike="noStrike" kern="1200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+mj-ea"/>
              <a:cs typeface="+mj-cs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7E24D23-EAD6-16AC-3307-5BEE20FC28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2393568"/>
              </p:ext>
            </p:extLst>
          </p:nvPr>
        </p:nvGraphicFramePr>
        <p:xfrm>
          <a:off x="5922492" y="1493444"/>
          <a:ext cx="5536002" cy="3812360"/>
        </p:xfrm>
        <a:graphic>
          <a:graphicData uri="http://schemas.openxmlformats.org/drawingml/2006/table">
            <a:tbl>
              <a:tblPr firstRow="1" bandRow="1"/>
              <a:tblGrid>
                <a:gridCol w="1573255">
                  <a:extLst>
                    <a:ext uri="{9D8B030D-6E8A-4147-A177-3AD203B41FA5}">
                      <a16:colId xmlns:a16="http://schemas.microsoft.com/office/drawing/2014/main" val="142859768"/>
                    </a:ext>
                  </a:extLst>
                </a:gridCol>
                <a:gridCol w="1974944">
                  <a:extLst>
                    <a:ext uri="{9D8B030D-6E8A-4147-A177-3AD203B41FA5}">
                      <a16:colId xmlns:a16="http://schemas.microsoft.com/office/drawing/2014/main" val="3055530396"/>
                    </a:ext>
                  </a:extLst>
                </a:gridCol>
                <a:gridCol w="1987803">
                  <a:extLst>
                    <a:ext uri="{9D8B030D-6E8A-4147-A177-3AD203B41FA5}">
                      <a16:colId xmlns:a16="http://schemas.microsoft.com/office/drawing/2014/main" val="3228296393"/>
                    </a:ext>
                  </a:extLst>
                </a:gridCol>
              </a:tblGrid>
              <a:tr h="756408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</a:pPr>
                      <a:r>
                        <a:rPr lang="en-PH" sz="1900" b="1">
                          <a:effectLst/>
                          <a:latin typeface="quote-cjk-patch"/>
                        </a:rPr>
                        <a:t>Component</a:t>
                      </a:r>
                      <a:endParaRPr lang="en-PH" sz="1900" b="0">
                        <a:effectLst/>
                        <a:latin typeface="quote-cjk-patch"/>
                      </a:endParaRPr>
                    </a:p>
                  </a:txBody>
                  <a:tcPr marL="97461" marR="162435" marT="101522" marB="1015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</a:pPr>
                      <a:r>
                        <a:rPr lang="en-PH" sz="1900" b="1">
                          <a:effectLst/>
                          <a:latin typeface="quote-cjk-patch"/>
                        </a:rPr>
                        <a:t>Recommended Options</a:t>
                      </a:r>
                      <a:endParaRPr lang="en-PH" sz="1900" b="0">
                        <a:effectLst/>
                        <a:latin typeface="quote-cjk-patch"/>
                      </a:endParaRPr>
                    </a:p>
                  </a:txBody>
                  <a:tcPr marL="162435" marR="162435" marT="101522" marB="1015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</a:pPr>
                      <a:r>
                        <a:rPr lang="en-PH" sz="1900" b="1">
                          <a:effectLst/>
                          <a:latin typeface="quote-cjk-patch"/>
                        </a:rPr>
                        <a:t>Purpose</a:t>
                      </a:r>
                      <a:endParaRPr lang="en-PH" sz="1900" b="0">
                        <a:effectLst/>
                        <a:latin typeface="quote-cjk-patch"/>
                      </a:endParaRPr>
                    </a:p>
                  </a:txBody>
                  <a:tcPr marL="162435" marR="162435" marT="101522" marB="1015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3848687"/>
                  </a:ext>
                </a:extLst>
              </a:tr>
              <a:tr h="1785165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1900" b="1">
                          <a:effectLst/>
                          <a:latin typeface="quote-cjk-patch"/>
                        </a:rPr>
                        <a:t>Database System</a:t>
                      </a:r>
                      <a:endParaRPr lang="en-PH" sz="1900" b="0">
                        <a:effectLst/>
                        <a:latin typeface="quote-cjk-patch"/>
                      </a:endParaRPr>
                    </a:p>
                  </a:txBody>
                  <a:tcPr marL="97461" marR="162435" marT="101522" marB="1015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1900" b="1">
                          <a:effectLst/>
                          <a:latin typeface="quote-cjk-patch"/>
                        </a:rPr>
                        <a:t>PostgreSQL 13+</a:t>
                      </a:r>
                      <a:r>
                        <a:rPr lang="en-PH" sz="1900" b="0">
                          <a:effectLst/>
                          <a:latin typeface="quote-cjk-patch"/>
                        </a:rPr>
                        <a:t> or </a:t>
                      </a:r>
                      <a:r>
                        <a:rPr lang="en-PH" sz="1900" b="1">
                          <a:effectLst/>
                          <a:latin typeface="quote-cjk-patch"/>
                        </a:rPr>
                        <a:t>MySQL</a:t>
                      </a:r>
                      <a:endParaRPr lang="en-PH" sz="1900" b="0">
                        <a:effectLst/>
                        <a:latin typeface="quote-cjk-patch"/>
                      </a:endParaRPr>
                    </a:p>
                  </a:txBody>
                  <a:tcPr marL="162435" marR="162435" marT="101522" marB="1015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sz="1900" b="0">
                          <a:effectLst/>
                          <a:latin typeface="quote-cjk-patch"/>
                        </a:rPr>
                        <a:t>Store document metadata, tracking numbers, routing history, and user information </a:t>
                      </a:r>
                    </a:p>
                  </a:txBody>
                  <a:tcPr marL="162435" marR="97461" marT="101522" marB="1015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2953595"/>
                  </a:ext>
                </a:extLst>
              </a:tr>
              <a:tr h="1270787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1900" b="1">
                          <a:effectLst/>
                          <a:latin typeface="quote-cjk-patch"/>
                        </a:rPr>
                        <a:t>Database Tools</a:t>
                      </a:r>
                      <a:endParaRPr lang="en-PH" sz="1900" b="0">
                        <a:effectLst/>
                        <a:latin typeface="quote-cjk-patch"/>
                      </a:endParaRPr>
                    </a:p>
                  </a:txBody>
                  <a:tcPr marL="97461" marR="162435" marT="101522" marB="1015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1900" b="0">
                          <a:effectLst/>
                          <a:latin typeface="quote-cjk-patch"/>
                        </a:rPr>
                        <a:t>pgAdmin (for PostgreSQL) or phpMyAdmin (for MySQL)</a:t>
                      </a:r>
                    </a:p>
                  </a:txBody>
                  <a:tcPr marL="162435" marR="162435" marT="101522" marB="1015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1900" b="0">
                          <a:effectLst/>
                          <a:latin typeface="quote-cjk-patch"/>
                        </a:rPr>
                        <a:t>Database administration and management</a:t>
                      </a:r>
                    </a:p>
                  </a:txBody>
                  <a:tcPr marL="162435" marR="97461" marT="101522" marB="1015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34030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32584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CDC204F2-652B-F3B2-A2E6-D79219CFE3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3810" y="2960716"/>
            <a:ext cx="4036334" cy="238760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1" fontAlgn="base" hangingPunct="1">
              <a:lnSpc>
                <a:spcPct val="90000"/>
              </a:lnSpc>
              <a:spcAft>
                <a:spcPts val="600"/>
              </a:spcAft>
              <a:buClrTx/>
              <a:buSzTx/>
              <a:tabLst/>
            </a:pPr>
            <a:r>
              <a:rPr kumimoji="0" lang="en-US" altLang="en-US" sz="3800" b="1" i="0" u="none" strike="noStrike" kern="1200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3. OCR &amp; Document Processing Libraries</a:t>
            </a:r>
          </a:p>
          <a:p>
            <a:pPr marL="0" marR="0" lvl="0" indent="0" defTabSz="914400" eaLnBrk="1" fontAlgn="base" hangingPunct="1">
              <a:lnSpc>
                <a:spcPct val="90000"/>
              </a:lnSpc>
              <a:spcAft>
                <a:spcPts val="600"/>
              </a:spcAft>
              <a:buClrTx/>
              <a:buSzTx/>
              <a:tabLst/>
            </a:pPr>
            <a:endParaRPr kumimoji="0" lang="en-US" altLang="en-US" sz="3800" b="0" i="0" u="none" strike="noStrike" kern="1200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+mj-ea"/>
              <a:cs typeface="+mj-cs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8FC078B-8ECE-8EB0-BA7A-C2CDD1C1C6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1399612"/>
              </p:ext>
            </p:extLst>
          </p:nvPr>
        </p:nvGraphicFramePr>
        <p:xfrm>
          <a:off x="5922492" y="1955279"/>
          <a:ext cx="5536002" cy="3232024"/>
        </p:xfrm>
        <a:graphic>
          <a:graphicData uri="http://schemas.openxmlformats.org/drawingml/2006/table">
            <a:tbl>
              <a:tblPr firstRow="1" bandRow="1"/>
              <a:tblGrid>
                <a:gridCol w="1196842">
                  <a:extLst>
                    <a:ext uri="{9D8B030D-6E8A-4147-A177-3AD203B41FA5}">
                      <a16:colId xmlns:a16="http://schemas.microsoft.com/office/drawing/2014/main" val="537559735"/>
                    </a:ext>
                  </a:extLst>
                </a:gridCol>
                <a:gridCol w="2538621">
                  <a:extLst>
                    <a:ext uri="{9D8B030D-6E8A-4147-A177-3AD203B41FA5}">
                      <a16:colId xmlns:a16="http://schemas.microsoft.com/office/drawing/2014/main" val="3774215335"/>
                    </a:ext>
                  </a:extLst>
                </a:gridCol>
                <a:gridCol w="1800539">
                  <a:extLst>
                    <a:ext uri="{9D8B030D-6E8A-4147-A177-3AD203B41FA5}">
                      <a16:colId xmlns:a16="http://schemas.microsoft.com/office/drawing/2014/main" val="2725790479"/>
                    </a:ext>
                  </a:extLst>
                </a:gridCol>
              </a:tblGrid>
              <a:tr h="379777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</a:pPr>
                      <a:r>
                        <a:rPr lang="en-PH" sz="1500" b="1">
                          <a:effectLst/>
                          <a:latin typeface="quote-cjk-patch"/>
                        </a:rPr>
                        <a:t>Component</a:t>
                      </a:r>
                      <a:endParaRPr lang="en-PH" sz="1500" b="0">
                        <a:effectLst/>
                        <a:latin typeface="quote-cjk-patch"/>
                      </a:endParaRPr>
                    </a:p>
                  </a:txBody>
                  <a:tcPr marL="74143" marR="123571" marT="77232" marB="772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</a:pPr>
                      <a:r>
                        <a:rPr lang="en-PH" sz="1500" b="1">
                          <a:effectLst/>
                          <a:latin typeface="quote-cjk-patch"/>
                        </a:rPr>
                        <a:t>Recommended Options</a:t>
                      </a:r>
                      <a:endParaRPr lang="en-PH" sz="1500" b="0">
                        <a:effectLst/>
                        <a:latin typeface="quote-cjk-patch"/>
                      </a:endParaRPr>
                    </a:p>
                  </a:txBody>
                  <a:tcPr marL="123571" marR="123571" marT="77232" marB="772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</a:pPr>
                      <a:r>
                        <a:rPr lang="en-PH" sz="1500" b="1">
                          <a:effectLst/>
                          <a:latin typeface="quote-cjk-patch"/>
                        </a:rPr>
                        <a:t>Purpose</a:t>
                      </a:r>
                      <a:endParaRPr lang="en-PH" sz="1500" b="0">
                        <a:effectLst/>
                        <a:latin typeface="quote-cjk-patch"/>
                      </a:endParaRPr>
                    </a:p>
                  </a:txBody>
                  <a:tcPr marL="123571" marR="123571" marT="77232" marB="772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2972603"/>
                  </a:ext>
                </a:extLst>
              </a:tr>
              <a:tr h="966741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1500" b="1">
                          <a:effectLst/>
                          <a:latin typeface="quote-cjk-patch"/>
                        </a:rPr>
                        <a:t>OCR Engine</a:t>
                      </a:r>
                      <a:endParaRPr lang="en-PH" sz="1500" b="0">
                        <a:effectLst/>
                        <a:latin typeface="quote-cjk-patch"/>
                      </a:endParaRPr>
                    </a:p>
                  </a:txBody>
                  <a:tcPr marL="74143" marR="123571" marT="77232" marB="772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sz="1500" b="1">
                          <a:effectLst/>
                          <a:latin typeface="quote-cjk-patch"/>
                        </a:rPr>
                        <a:t>Tesseract OCR</a:t>
                      </a:r>
                      <a:r>
                        <a:rPr lang="en-US" sz="1500" b="0">
                          <a:effectLst/>
                          <a:latin typeface="quote-cjk-patch"/>
                        </a:rPr>
                        <a:t> (open-source) or </a:t>
                      </a:r>
                      <a:r>
                        <a:rPr lang="en-US" sz="1500" b="1">
                          <a:effectLst/>
                          <a:latin typeface="quote-cjk-patch"/>
                        </a:rPr>
                        <a:t>EasyOCR</a:t>
                      </a:r>
                      <a:r>
                        <a:rPr lang="en-US" sz="1500" b="0">
                          <a:effectLst/>
                          <a:latin typeface="quote-cjk-patch"/>
                        </a:rPr>
                        <a:t> or </a:t>
                      </a:r>
                      <a:r>
                        <a:rPr lang="en-US" sz="1500" b="1">
                          <a:effectLst/>
                          <a:latin typeface="quote-cjk-patch"/>
                        </a:rPr>
                        <a:t>PaddleOCR</a:t>
                      </a:r>
                      <a:endParaRPr lang="en-US" sz="1500" b="0">
                        <a:effectLst/>
                        <a:latin typeface="quote-cjk-patch"/>
                      </a:endParaRPr>
                    </a:p>
                  </a:txBody>
                  <a:tcPr marL="123571" marR="123571" marT="77232" marB="772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sz="1500" b="0">
                          <a:effectLst/>
                          <a:latin typeface="quote-cjk-patch"/>
                        </a:rPr>
                        <a:t>Convert scanned images to searchable/editable text </a:t>
                      </a:r>
                    </a:p>
                  </a:txBody>
                  <a:tcPr marL="123571" marR="74143" marT="77232" marB="772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1218468"/>
                  </a:ext>
                </a:extLst>
              </a:tr>
              <a:tr h="966741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1500" b="1">
                          <a:effectLst/>
                          <a:latin typeface="quote-cjk-patch"/>
                        </a:rPr>
                        <a:t>PDF Processing</a:t>
                      </a:r>
                      <a:endParaRPr lang="en-PH" sz="1500" b="0">
                        <a:effectLst/>
                        <a:latin typeface="quote-cjk-patch"/>
                      </a:endParaRPr>
                    </a:p>
                  </a:txBody>
                  <a:tcPr marL="74143" marR="123571" marT="77232" marB="772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1500" b="1">
                          <a:effectLst/>
                          <a:latin typeface="quote-cjk-patch"/>
                        </a:rPr>
                        <a:t>PyPDF2</a:t>
                      </a:r>
                      <a:r>
                        <a:rPr lang="en-PH" sz="1500" b="0">
                          <a:effectLst/>
                          <a:latin typeface="quote-cjk-patch"/>
                        </a:rPr>
                        <a:t>, </a:t>
                      </a:r>
                      <a:r>
                        <a:rPr lang="en-PH" sz="1500" b="1">
                          <a:effectLst/>
                          <a:latin typeface="quote-cjk-patch"/>
                        </a:rPr>
                        <a:t>pdfplumber</a:t>
                      </a:r>
                      <a:r>
                        <a:rPr lang="en-PH" sz="1500" b="0">
                          <a:effectLst/>
                          <a:latin typeface="quote-cjk-patch"/>
                        </a:rPr>
                        <a:t>, or </a:t>
                      </a:r>
                      <a:r>
                        <a:rPr lang="en-PH" sz="1500" b="1">
                          <a:effectLst/>
                          <a:latin typeface="quote-cjk-patch"/>
                        </a:rPr>
                        <a:t>pdf2image</a:t>
                      </a:r>
                      <a:endParaRPr lang="en-PH" sz="1500" b="0">
                        <a:effectLst/>
                        <a:latin typeface="quote-cjk-patch"/>
                      </a:endParaRPr>
                    </a:p>
                  </a:txBody>
                  <a:tcPr marL="123571" marR="123571" marT="77232" marB="772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sz="1500" b="0">
                          <a:effectLst/>
                          <a:latin typeface="quote-cjk-patch"/>
                        </a:rPr>
                        <a:t>Manipulate PDFs, embed tracking numbers, convert images to PDF</a:t>
                      </a:r>
                    </a:p>
                  </a:txBody>
                  <a:tcPr marL="123571" marR="74143" marT="77232" marB="772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2125290"/>
                  </a:ext>
                </a:extLst>
              </a:tr>
              <a:tr h="575431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1500" b="1">
                          <a:effectLst/>
                          <a:latin typeface="quote-cjk-patch"/>
                        </a:rPr>
                        <a:t>Image Processing</a:t>
                      </a:r>
                      <a:endParaRPr lang="en-PH" sz="1500" b="0">
                        <a:effectLst/>
                        <a:latin typeface="quote-cjk-patch"/>
                      </a:endParaRPr>
                    </a:p>
                  </a:txBody>
                  <a:tcPr marL="74143" marR="123571" marT="77232" marB="772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1500" b="1">
                          <a:effectLst/>
                          <a:latin typeface="quote-cjk-patch"/>
                        </a:rPr>
                        <a:t>OpenCV-Python</a:t>
                      </a:r>
                      <a:r>
                        <a:rPr lang="en-PH" sz="1500" b="0">
                          <a:effectLst/>
                          <a:latin typeface="quote-cjk-patch"/>
                        </a:rPr>
                        <a:t>, </a:t>
                      </a:r>
                      <a:r>
                        <a:rPr lang="en-PH" sz="1500" b="1">
                          <a:effectLst/>
                          <a:latin typeface="quote-cjk-patch"/>
                        </a:rPr>
                        <a:t>Pillow (PIL)</a:t>
                      </a:r>
                      <a:endParaRPr lang="en-PH" sz="1500" b="0">
                        <a:effectLst/>
                        <a:latin typeface="quote-cjk-patch"/>
                      </a:endParaRPr>
                    </a:p>
                  </a:txBody>
                  <a:tcPr marL="123571" marR="123571" marT="77232" marB="772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sz="1500" b="0">
                          <a:effectLst/>
                          <a:latin typeface="quote-cjk-patch"/>
                        </a:rPr>
                        <a:t>Process scanned images before OCR</a:t>
                      </a:r>
                    </a:p>
                  </a:txBody>
                  <a:tcPr marL="123571" marR="74143" marT="77232" marB="772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31303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96262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08809DF-B721-B071-1A6B-8FEFCC3505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3810" y="2960716"/>
            <a:ext cx="4036334" cy="238760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1" fontAlgn="base" hangingPunct="1">
              <a:lnSpc>
                <a:spcPct val="90000"/>
              </a:lnSpc>
              <a:spcAft>
                <a:spcPts val="600"/>
              </a:spcAft>
              <a:buClrTx/>
              <a:buSzTx/>
              <a:tabLst/>
            </a:pPr>
            <a:r>
              <a:rPr kumimoji="0" lang="en-US" altLang="en-US" sz="5000" b="1" i="0" u="none" strike="noStrike" kern="1200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4. QR Code &amp; Barcode Handling</a:t>
            </a:r>
          </a:p>
          <a:p>
            <a:pPr marL="0" marR="0" lvl="0" indent="0" defTabSz="914400" eaLnBrk="1" fontAlgn="base" hangingPunct="1">
              <a:lnSpc>
                <a:spcPct val="90000"/>
              </a:lnSpc>
              <a:spcAft>
                <a:spcPts val="600"/>
              </a:spcAft>
              <a:buClrTx/>
              <a:buSzTx/>
              <a:tabLst/>
            </a:pPr>
            <a:endParaRPr kumimoji="0" lang="en-US" altLang="en-US" sz="5000" b="0" i="0" u="none" strike="noStrike" kern="1200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+mj-ea"/>
              <a:cs typeface="+mj-cs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3BBB1F2-A0A4-423F-AB33-6051816AE3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444728"/>
              </p:ext>
            </p:extLst>
          </p:nvPr>
        </p:nvGraphicFramePr>
        <p:xfrm>
          <a:off x="5922492" y="1283928"/>
          <a:ext cx="5536002" cy="4231394"/>
        </p:xfrm>
        <a:graphic>
          <a:graphicData uri="http://schemas.openxmlformats.org/drawingml/2006/table">
            <a:tbl>
              <a:tblPr firstRow="1" bandRow="1"/>
              <a:tblGrid>
                <a:gridCol w="1543997">
                  <a:extLst>
                    <a:ext uri="{9D8B030D-6E8A-4147-A177-3AD203B41FA5}">
                      <a16:colId xmlns:a16="http://schemas.microsoft.com/office/drawing/2014/main" val="1694773587"/>
                    </a:ext>
                  </a:extLst>
                </a:gridCol>
                <a:gridCol w="2029546">
                  <a:extLst>
                    <a:ext uri="{9D8B030D-6E8A-4147-A177-3AD203B41FA5}">
                      <a16:colId xmlns:a16="http://schemas.microsoft.com/office/drawing/2014/main" val="699569160"/>
                    </a:ext>
                  </a:extLst>
                </a:gridCol>
                <a:gridCol w="1962459">
                  <a:extLst>
                    <a:ext uri="{9D8B030D-6E8A-4147-A177-3AD203B41FA5}">
                      <a16:colId xmlns:a16="http://schemas.microsoft.com/office/drawing/2014/main" val="1854024470"/>
                    </a:ext>
                  </a:extLst>
                </a:gridCol>
              </a:tblGrid>
              <a:tr h="742341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</a:pPr>
                      <a:r>
                        <a:rPr lang="en-PH" sz="1900" b="1">
                          <a:effectLst/>
                          <a:latin typeface="quote-cjk-patch"/>
                        </a:rPr>
                        <a:t>Component</a:t>
                      </a:r>
                      <a:endParaRPr lang="en-PH" sz="1900" b="0">
                        <a:effectLst/>
                        <a:latin typeface="quote-cjk-patch"/>
                      </a:endParaRPr>
                    </a:p>
                  </a:txBody>
                  <a:tcPr marL="95649" marR="159414" marT="99634" marB="996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</a:pPr>
                      <a:r>
                        <a:rPr lang="en-PH" sz="1900" b="1">
                          <a:effectLst/>
                          <a:latin typeface="quote-cjk-patch"/>
                        </a:rPr>
                        <a:t>Recommended Options</a:t>
                      </a:r>
                      <a:endParaRPr lang="en-PH" sz="1900" b="0">
                        <a:effectLst/>
                        <a:latin typeface="quote-cjk-patch"/>
                      </a:endParaRPr>
                    </a:p>
                  </a:txBody>
                  <a:tcPr marL="159414" marR="159414" marT="99634" marB="996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</a:pPr>
                      <a:r>
                        <a:rPr lang="en-PH" sz="1900" b="1">
                          <a:effectLst/>
                          <a:latin typeface="quote-cjk-patch"/>
                        </a:rPr>
                        <a:t>Purpose</a:t>
                      </a:r>
                      <a:endParaRPr lang="en-PH" sz="1900" b="0">
                        <a:effectLst/>
                        <a:latin typeface="quote-cjk-patch"/>
                      </a:endParaRPr>
                    </a:p>
                  </a:txBody>
                  <a:tcPr marL="159414" marR="159414" marT="99634" marB="996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5139089"/>
                  </a:ext>
                </a:extLst>
              </a:tr>
              <a:tr h="994747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1900" b="1">
                          <a:effectLst/>
                          <a:latin typeface="quote-cjk-patch"/>
                        </a:rPr>
                        <a:t>QR Code Generation</a:t>
                      </a:r>
                      <a:endParaRPr lang="en-PH" sz="1900" b="0">
                        <a:effectLst/>
                        <a:latin typeface="quote-cjk-patch"/>
                      </a:endParaRPr>
                    </a:p>
                  </a:txBody>
                  <a:tcPr marL="95649" marR="159414" marT="99634" marB="996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1900" b="1">
                          <a:effectLst/>
                          <a:latin typeface="quote-cjk-patch"/>
                        </a:rPr>
                        <a:t>qrcode</a:t>
                      </a:r>
                      <a:r>
                        <a:rPr lang="en-PH" sz="1900" b="0">
                          <a:effectLst/>
                          <a:latin typeface="quote-cjk-patch"/>
                        </a:rPr>
                        <a:t> (Python library)</a:t>
                      </a:r>
                    </a:p>
                  </a:txBody>
                  <a:tcPr marL="159414" marR="159414" marT="99634" marB="996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sz="1900" b="0">
                          <a:effectLst/>
                          <a:latin typeface="quote-cjk-patch"/>
                        </a:rPr>
                        <a:t>Generate QR codes for division tracking</a:t>
                      </a:r>
                    </a:p>
                  </a:txBody>
                  <a:tcPr marL="159414" marR="95649" marT="99634" marB="996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5266138"/>
                  </a:ext>
                </a:extLst>
              </a:tr>
              <a:tr h="1247153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1900" b="1">
                          <a:effectLst/>
                          <a:latin typeface="quote-cjk-patch"/>
                        </a:rPr>
                        <a:t>QR Code Scanning</a:t>
                      </a:r>
                      <a:endParaRPr lang="en-PH" sz="1900" b="0">
                        <a:effectLst/>
                        <a:latin typeface="quote-cjk-patch"/>
                      </a:endParaRPr>
                    </a:p>
                  </a:txBody>
                  <a:tcPr marL="95649" marR="159414" marT="99634" marB="996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1900" b="1">
                          <a:effectLst/>
                          <a:latin typeface="quote-cjk-patch"/>
                        </a:rPr>
                        <a:t>pyzbar</a:t>
                      </a:r>
                      <a:r>
                        <a:rPr lang="en-PH" sz="1900" b="0">
                          <a:effectLst/>
                          <a:latin typeface="quote-cjk-patch"/>
                        </a:rPr>
                        <a:t>, </a:t>
                      </a:r>
                      <a:r>
                        <a:rPr lang="en-PH" sz="1900" b="1">
                          <a:effectLst/>
                          <a:latin typeface="quote-cjk-patch"/>
                        </a:rPr>
                        <a:t>OpenCV</a:t>
                      </a:r>
                      <a:endParaRPr lang="en-PH" sz="1900" b="0">
                        <a:effectLst/>
                        <a:latin typeface="quote-cjk-patch"/>
                      </a:endParaRPr>
                    </a:p>
                  </a:txBody>
                  <a:tcPr marL="159414" marR="159414" marT="99634" marB="996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sz="1900" b="0">
                          <a:effectLst/>
                          <a:latin typeface="quote-cjk-patch"/>
                        </a:rPr>
                        <a:t>Read QR codes from scanner/camera input </a:t>
                      </a:r>
                    </a:p>
                  </a:txBody>
                  <a:tcPr marL="159414" marR="95649" marT="99634" marB="996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5544688"/>
                  </a:ext>
                </a:extLst>
              </a:tr>
              <a:tr h="1247153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1900" b="1">
                          <a:effectLst/>
                          <a:latin typeface="quote-cjk-patch"/>
                        </a:rPr>
                        <a:t>Barcode Support</a:t>
                      </a:r>
                      <a:endParaRPr lang="en-PH" sz="1900" b="0">
                        <a:effectLst/>
                        <a:latin typeface="quote-cjk-patch"/>
                      </a:endParaRPr>
                    </a:p>
                  </a:txBody>
                  <a:tcPr marL="95649" marR="159414" marT="99634" marB="996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1900" b="1">
                          <a:effectLst/>
                          <a:latin typeface="quote-cjk-patch"/>
                        </a:rPr>
                        <a:t>python-barcode</a:t>
                      </a:r>
                      <a:endParaRPr lang="en-PH" sz="1900" b="0">
                        <a:effectLst/>
                        <a:latin typeface="quote-cjk-patch"/>
                      </a:endParaRPr>
                    </a:p>
                  </a:txBody>
                  <a:tcPr marL="159414" marR="159414" marT="99634" marB="996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sz="1900" b="0">
                          <a:effectLst/>
                          <a:latin typeface="quote-cjk-patch"/>
                        </a:rPr>
                        <a:t>Generate control number barcodes if needed</a:t>
                      </a:r>
                    </a:p>
                  </a:txBody>
                  <a:tcPr marL="159414" marR="95649" marT="99634" marB="996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12916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48653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B5EA5E3-6012-039D-6D75-9C8C0446E3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3810" y="2960716"/>
            <a:ext cx="4036334" cy="238760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1" fontAlgn="base" hangingPunct="1">
              <a:lnSpc>
                <a:spcPct val="90000"/>
              </a:lnSpc>
              <a:spcAft>
                <a:spcPts val="600"/>
              </a:spcAft>
              <a:buClrTx/>
              <a:buSzTx/>
              <a:tabLst/>
            </a:pPr>
            <a:r>
              <a:rPr kumimoji="0" lang="en-US" altLang="en-US" sz="5400" b="1" i="0" u="none" strike="noStrike" kern="1200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5. Excel &amp; Reporting</a:t>
            </a:r>
          </a:p>
          <a:p>
            <a:pPr marL="0" marR="0" lvl="0" indent="0" defTabSz="914400" eaLnBrk="1" fontAlgn="base" hangingPunct="1">
              <a:lnSpc>
                <a:spcPct val="90000"/>
              </a:lnSpc>
              <a:spcAft>
                <a:spcPts val="600"/>
              </a:spcAft>
              <a:buClrTx/>
              <a:buSzTx/>
              <a:tabLst/>
            </a:pPr>
            <a:endParaRPr kumimoji="0" lang="en-US" altLang="en-US" sz="5400" b="0" i="0" u="none" strike="noStrike" kern="1200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+mj-ea"/>
              <a:cs typeface="+mj-cs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37F90AE-D0B9-0287-AC06-211E74598F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6768186"/>
              </p:ext>
            </p:extLst>
          </p:nvPr>
        </p:nvGraphicFramePr>
        <p:xfrm>
          <a:off x="5922492" y="1697392"/>
          <a:ext cx="5536002" cy="3462746"/>
        </p:xfrm>
        <a:graphic>
          <a:graphicData uri="http://schemas.openxmlformats.org/drawingml/2006/table">
            <a:tbl>
              <a:tblPr firstRow="1" bandRow="1"/>
              <a:tblGrid>
                <a:gridCol w="1404928">
                  <a:extLst>
                    <a:ext uri="{9D8B030D-6E8A-4147-A177-3AD203B41FA5}">
                      <a16:colId xmlns:a16="http://schemas.microsoft.com/office/drawing/2014/main" val="527227328"/>
                    </a:ext>
                  </a:extLst>
                </a:gridCol>
                <a:gridCol w="2482875">
                  <a:extLst>
                    <a:ext uri="{9D8B030D-6E8A-4147-A177-3AD203B41FA5}">
                      <a16:colId xmlns:a16="http://schemas.microsoft.com/office/drawing/2014/main" val="290859305"/>
                    </a:ext>
                  </a:extLst>
                </a:gridCol>
                <a:gridCol w="1648199">
                  <a:extLst>
                    <a:ext uri="{9D8B030D-6E8A-4147-A177-3AD203B41FA5}">
                      <a16:colId xmlns:a16="http://schemas.microsoft.com/office/drawing/2014/main" val="4101789320"/>
                    </a:ext>
                  </a:extLst>
                </a:gridCol>
              </a:tblGrid>
              <a:tr h="445806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</a:pPr>
                      <a:r>
                        <a:rPr lang="en-PH" sz="1700" b="1">
                          <a:effectLst/>
                          <a:latin typeface="quote-cjk-patch"/>
                        </a:rPr>
                        <a:t>Component</a:t>
                      </a:r>
                      <a:endParaRPr lang="en-PH" sz="1700" b="0">
                        <a:effectLst/>
                        <a:latin typeface="quote-cjk-patch"/>
                      </a:endParaRPr>
                    </a:p>
                  </a:txBody>
                  <a:tcPr marL="87034" marR="145056" marT="90660" marB="90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</a:pPr>
                      <a:r>
                        <a:rPr lang="en-PH" sz="1700" b="1">
                          <a:effectLst/>
                          <a:latin typeface="quote-cjk-patch"/>
                        </a:rPr>
                        <a:t>Recommended Options</a:t>
                      </a:r>
                      <a:endParaRPr lang="en-PH" sz="1700" b="0">
                        <a:effectLst/>
                        <a:latin typeface="quote-cjk-patch"/>
                      </a:endParaRPr>
                    </a:p>
                  </a:txBody>
                  <a:tcPr marL="145056" marR="145056" marT="90660" marB="90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</a:pPr>
                      <a:r>
                        <a:rPr lang="en-PH" sz="1700" b="1">
                          <a:effectLst/>
                          <a:latin typeface="quote-cjk-patch"/>
                        </a:rPr>
                        <a:t>Purpose</a:t>
                      </a:r>
                      <a:endParaRPr lang="en-PH" sz="1700" b="0">
                        <a:effectLst/>
                        <a:latin typeface="quote-cjk-patch"/>
                      </a:endParaRPr>
                    </a:p>
                  </a:txBody>
                  <a:tcPr marL="145056" marR="145056" marT="90660" marB="90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4898009"/>
                  </a:ext>
                </a:extLst>
              </a:tr>
              <a:tr h="1594166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1700" b="1">
                          <a:effectLst/>
                          <a:latin typeface="quote-cjk-patch"/>
                        </a:rPr>
                        <a:t>Excel Integration</a:t>
                      </a:r>
                      <a:endParaRPr lang="en-PH" sz="1700" b="0">
                        <a:effectLst/>
                        <a:latin typeface="quote-cjk-patch"/>
                      </a:endParaRPr>
                    </a:p>
                  </a:txBody>
                  <a:tcPr marL="87034" marR="145056" marT="90660" marB="90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1700" b="1">
                          <a:effectLst/>
                          <a:latin typeface="quote-cjk-patch"/>
                        </a:rPr>
                        <a:t>pandas</a:t>
                      </a:r>
                      <a:r>
                        <a:rPr lang="en-PH" sz="1700" b="0">
                          <a:effectLst/>
                          <a:latin typeface="quote-cjk-patch"/>
                        </a:rPr>
                        <a:t>, </a:t>
                      </a:r>
                      <a:r>
                        <a:rPr lang="en-PH" sz="1700" b="1">
                          <a:effectLst/>
                          <a:latin typeface="quote-cjk-patch"/>
                        </a:rPr>
                        <a:t>openpyxl</a:t>
                      </a:r>
                      <a:endParaRPr lang="en-PH" sz="1700" b="0">
                        <a:effectLst/>
                        <a:latin typeface="quote-cjk-patch"/>
                      </a:endParaRPr>
                    </a:p>
                  </a:txBody>
                  <a:tcPr marL="145056" marR="145056" marT="90660" marB="90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sz="1700" b="0">
                          <a:effectLst/>
                          <a:latin typeface="quote-cjk-patch"/>
                        </a:rPr>
                        <a:t>Append document details to monitoring log sheet automatically</a:t>
                      </a:r>
                    </a:p>
                  </a:txBody>
                  <a:tcPr marL="145056" marR="87034" marT="90660" marB="90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9466518"/>
                  </a:ext>
                </a:extLst>
              </a:tr>
              <a:tr h="1364494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1700" b="1">
                          <a:effectLst/>
                          <a:latin typeface="quote-cjk-patch"/>
                        </a:rPr>
                        <a:t>Report Generation</a:t>
                      </a:r>
                      <a:endParaRPr lang="en-PH" sz="1700" b="0">
                        <a:effectLst/>
                        <a:latin typeface="quote-cjk-patch"/>
                      </a:endParaRPr>
                    </a:p>
                  </a:txBody>
                  <a:tcPr marL="87034" marR="145056" marT="90660" marB="90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1700" b="1">
                          <a:effectLst/>
                          <a:latin typeface="quote-cjk-patch"/>
                        </a:rPr>
                        <a:t>ReportLab</a:t>
                      </a:r>
                      <a:r>
                        <a:rPr lang="en-PH" sz="1700" b="0">
                          <a:effectLst/>
                          <a:latin typeface="quote-cjk-patch"/>
                        </a:rPr>
                        <a:t>, </a:t>
                      </a:r>
                      <a:r>
                        <a:rPr lang="en-PH" sz="1700" b="1">
                          <a:effectLst/>
                          <a:latin typeface="quote-cjk-patch"/>
                        </a:rPr>
                        <a:t>WeasyPrint</a:t>
                      </a:r>
                      <a:endParaRPr lang="en-PH" sz="1700" b="0">
                        <a:effectLst/>
                        <a:latin typeface="quote-cjk-patch"/>
                      </a:endParaRPr>
                    </a:p>
                  </a:txBody>
                  <a:tcPr marL="145056" marR="145056" marT="90660" marB="90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sz="1700" b="0">
                          <a:effectLst/>
                          <a:latin typeface="quote-cjk-patch"/>
                        </a:rPr>
                        <a:t>Generate printable transmittal slips and sticker sheets</a:t>
                      </a:r>
                    </a:p>
                  </a:txBody>
                  <a:tcPr marL="145056" marR="87034" marT="90660" marB="90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27503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35007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A1D52FD9-0FAB-905B-C0A9-080CB8DBF0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3810" y="2960716"/>
            <a:ext cx="4036334" cy="238760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1" fontAlgn="base" hangingPunct="1">
              <a:lnSpc>
                <a:spcPct val="90000"/>
              </a:lnSpc>
              <a:spcAft>
                <a:spcPts val="600"/>
              </a:spcAft>
              <a:buClrTx/>
              <a:buSzTx/>
              <a:tabLst/>
            </a:pPr>
            <a:r>
              <a:rPr kumimoji="0" lang="en-US" altLang="en-US" sz="5000" b="1" i="0" u="none" strike="noStrike" kern="1200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6. Web Server &amp; Deployment</a:t>
            </a:r>
          </a:p>
          <a:p>
            <a:pPr marL="0" marR="0" lvl="0" indent="0" defTabSz="914400" eaLnBrk="1" fontAlgn="base" hangingPunct="1">
              <a:lnSpc>
                <a:spcPct val="90000"/>
              </a:lnSpc>
              <a:spcAft>
                <a:spcPts val="600"/>
              </a:spcAft>
              <a:buClrTx/>
              <a:buSzTx/>
              <a:tabLst/>
            </a:pPr>
            <a:endParaRPr kumimoji="0" lang="en-US" altLang="en-US" sz="5000" b="0" i="0" u="none" strike="noStrike" kern="1200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+mj-ea"/>
              <a:cs typeface="+mj-cs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DC04B80-029B-8FF4-9C97-31FE8215E4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4979568"/>
              </p:ext>
            </p:extLst>
          </p:nvPr>
        </p:nvGraphicFramePr>
        <p:xfrm>
          <a:off x="5922492" y="1476064"/>
          <a:ext cx="5536003" cy="3872741"/>
        </p:xfrm>
        <a:graphic>
          <a:graphicData uri="http://schemas.openxmlformats.org/drawingml/2006/table">
            <a:tbl>
              <a:tblPr firstRow="1" bandRow="1"/>
              <a:tblGrid>
                <a:gridCol w="1838591">
                  <a:extLst>
                    <a:ext uri="{9D8B030D-6E8A-4147-A177-3AD203B41FA5}">
                      <a16:colId xmlns:a16="http://schemas.microsoft.com/office/drawing/2014/main" val="4264662761"/>
                    </a:ext>
                  </a:extLst>
                </a:gridCol>
                <a:gridCol w="2132089">
                  <a:extLst>
                    <a:ext uri="{9D8B030D-6E8A-4147-A177-3AD203B41FA5}">
                      <a16:colId xmlns:a16="http://schemas.microsoft.com/office/drawing/2014/main" val="1580244050"/>
                    </a:ext>
                  </a:extLst>
                </a:gridCol>
                <a:gridCol w="1565323">
                  <a:extLst>
                    <a:ext uri="{9D8B030D-6E8A-4147-A177-3AD203B41FA5}">
                      <a16:colId xmlns:a16="http://schemas.microsoft.com/office/drawing/2014/main" val="2973191777"/>
                    </a:ext>
                  </a:extLst>
                </a:gridCol>
              </a:tblGrid>
              <a:tr h="674925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</a:pPr>
                      <a:r>
                        <a:rPr lang="en-PH" sz="1700" b="1">
                          <a:effectLst/>
                          <a:latin typeface="quote-cjk-patch"/>
                        </a:rPr>
                        <a:t>Component</a:t>
                      </a:r>
                      <a:endParaRPr lang="en-PH" sz="1700" b="0">
                        <a:effectLst/>
                        <a:latin typeface="quote-cjk-patch"/>
                      </a:endParaRPr>
                    </a:p>
                  </a:txBody>
                  <a:tcPr marL="86962" marR="144937" marT="90586" marB="905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</a:pPr>
                      <a:r>
                        <a:rPr lang="en-PH" sz="1700" b="1">
                          <a:effectLst/>
                          <a:latin typeface="quote-cjk-patch"/>
                        </a:rPr>
                        <a:t>Recommended Options</a:t>
                      </a:r>
                      <a:endParaRPr lang="en-PH" sz="1700" b="0">
                        <a:effectLst/>
                        <a:latin typeface="quote-cjk-patch"/>
                      </a:endParaRPr>
                    </a:p>
                  </a:txBody>
                  <a:tcPr marL="144937" marR="144937" marT="90586" marB="905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</a:pPr>
                      <a:r>
                        <a:rPr lang="en-PH" sz="1700" b="1">
                          <a:effectLst/>
                          <a:latin typeface="quote-cjk-patch"/>
                        </a:rPr>
                        <a:t>Purpose</a:t>
                      </a:r>
                      <a:endParaRPr lang="en-PH" sz="1700" b="0">
                        <a:effectLst/>
                        <a:latin typeface="quote-cjk-patch"/>
                      </a:endParaRPr>
                    </a:p>
                  </a:txBody>
                  <a:tcPr marL="144937" marR="144937" marT="90586" marB="905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945310"/>
                  </a:ext>
                </a:extLst>
              </a:tr>
              <a:tr h="904409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1700" b="1">
                          <a:effectLst/>
                          <a:latin typeface="quote-cjk-patch"/>
                        </a:rPr>
                        <a:t>Web Server</a:t>
                      </a:r>
                      <a:endParaRPr lang="en-PH" sz="1700" b="0">
                        <a:effectLst/>
                        <a:latin typeface="quote-cjk-patch"/>
                      </a:endParaRPr>
                    </a:p>
                  </a:txBody>
                  <a:tcPr marL="86962" marR="144937" marT="90586" marB="905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1700" b="1">
                          <a:effectLst/>
                          <a:latin typeface="quote-cjk-patch"/>
                        </a:rPr>
                        <a:t>Nginx</a:t>
                      </a:r>
                      <a:r>
                        <a:rPr lang="en-PH" sz="1700" b="0">
                          <a:effectLst/>
                          <a:latin typeface="quote-cjk-patch"/>
                        </a:rPr>
                        <a:t> or </a:t>
                      </a:r>
                      <a:r>
                        <a:rPr lang="en-PH" sz="1700" b="1">
                          <a:effectLst/>
                          <a:latin typeface="quote-cjk-patch"/>
                        </a:rPr>
                        <a:t>Apache</a:t>
                      </a:r>
                      <a:endParaRPr lang="en-PH" sz="1700" b="0">
                        <a:effectLst/>
                        <a:latin typeface="quote-cjk-patch"/>
                      </a:endParaRPr>
                    </a:p>
                  </a:txBody>
                  <a:tcPr marL="144937" marR="144937" marT="90586" marB="905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sz="1700" b="0">
                          <a:effectLst/>
                          <a:latin typeface="quote-cjk-patch"/>
                        </a:rPr>
                        <a:t>Serve the application to users</a:t>
                      </a:r>
                    </a:p>
                  </a:txBody>
                  <a:tcPr marL="144937" marR="86962" marT="90586" marB="905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8274428"/>
                  </a:ext>
                </a:extLst>
              </a:tr>
              <a:tr h="904409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1700" b="1">
                          <a:effectLst/>
                          <a:latin typeface="quote-cjk-patch"/>
                        </a:rPr>
                        <a:t>WSGI Server</a:t>
                      </a:r>
                      <a:endParaRPr lang="en-PH" sz="1700" b="0">
                        <a:effectLst/>
                        <a:latin typeface="quote-cjk-patch"/>
                      </a:endParaRPr>
                    </a:p>
                  </a:txBody>
                  <a:tcPr marL="86962" marR="144937" marT="90586" marB="905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1700" b="1">
                          <a:effectLst/>
                          <a:latin typeface="quote-cjk-patch"/>
                        </a:rPr>
                        <a:t>Gunicorn</a:t>
                      </a:r>
                      <a:r>
                        <a:rPr lang="en-PH" sz="1700" b="0">
                          <a:effectLst/>
                          <a:latin typeface="quote-cjk-patch"/>
                        </a:rPr>
                        <a:t> or </a:t>
                      </a:r>
                      <a:r>
                        <a:rPr lang="en-PH" sz="1700" b="1">
                          <a:effectLst/>
                          <a:latin typeface="quote-cjk-patch"/>
                        </a:rPr>
                        <a:t>uWSGI</a:t>
                      </a:r>
                      <a:endParaRPr lang="en-PH" sz="1700" b="0">
                        <a:effectLst/>
                        <a:latin typeface="quote-cjk-patch"/>
                      </a:endParaRPr>
                    </a:p>
                  </a:txBody>
                  <a:tcPr marL="144937" marR="144937" marT="90586" marB="905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sz="1700" b="0">
                          <a:effectLst/>
                          <a:latin typeface="quote-cjk-patch"/>
                        </a:rPr>
                        <a:t>Run Python application in production</a:t>
                      </a:r>
                    </a:p>
                  </a:txBody>
                  <a:tcPr marL="144937" marR="86962" marT="90586" marB="905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8227848"/>
                  </a:ext>
                </a:extLst>
              </a:tr>
              <a:tr h="1363377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1700" b="1">
                          <a:effectLst/>
                          <a:latin typeface="quote-cjk-patch"/>
                        </a:rPr>
                        <a:t>Containerization</a:t>
                      </a:r>
                      <a:endParaRPr lang="en-PH" sz="1700" b="0">
                        <a:effectLst/>
                        <a:latin typeface="quote-cjk-patch"/>
                      </a:endParaRPr>
                    </a:p>
                  </a:txBody>
                  <a:tcPr marL="86962" marR="144937" marT="90586" marB="905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1700" b="1">
                          <a:effectLst/>
                          <a:latin typeface="quote-cjk-patch"/>
                        </a:rPr>
                        <a:t>Docker</a:t>
                      </a:r>
                      <a:r>
                        <a:rPr lang="en-PH" sz="1700" b="0">
                          <a:effectLst/>
                          <a:latin typeface="quote-cjk-patch"/>
                        </a:rPr>
                        <a:t> (optional)</a:t>
                      </a:r>
                    </a:p>
                  </a:txBody>
                  <a:tcPr marL="144937" marR="144937" marT="90586" marB="905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sz="1700" b="0">
                          <a:effectLst/>
                          <a:latin typeface="quote-cjk-patch"/>
                        </a:rPr>
                        <a:t>Simplify deployment and environment consistency</a:t>
                      </a:r>
                    </a:p>
                  </a:txBody>
                  <a:tcPr marL="144937" marR="86962" marT="90586" marB="905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54246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64029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82AE6639-327D-E6C4-EA30-4C6081E59E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3810" y="2960716"/>
            <a:ext cx="4036334" cy="238760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1" fontAlgn="base" hangingPunct="1">
              <a:lnSpc>
                <a:spcPct val="90000"/>
              </a:lnSpc>
              <a:spcAft>
                <a:spcPts val="600"/>
              </a:spcAft>
              <a:buClrTx/>
              <a:buSzTx/>
              <a:tabLst/>
            </a:pPr>
            <a:r>
              <a:rPr kumimoji="0" lang="en-US" altLang="en-US" sz="5400" b="1" i="0" u="none" strike="noStrike" kern="1200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7. Operating System</a:t>
            </a:r>
          </a:p>
          <a:p>
            <a:pPr marL="0" marR="0" lvl="0" indent="0" defTabSz="914400" eaLnBrk="1" fontAlgn="base" hangingPunct="1">
              <a:lnSpc>
                <a:spcPct val="90000"/>
              </a:lnSpc>
              <a:spcAft>
                <a:spcPts val="600"/>
              </a:spcAft>
              <a:buClrTx/>
              <a:buSzTx/>
              <a:tabLst/>
            </a:pPr>
            <a:endParaRPr kumimoji="0" lang="en-US" altLang="en-US" sz="5400" b="0" i="0" u="none" strike="noStrike" kern="1200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+mj-ea"/>
              <a:cs typeface="+mj-cs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C142336-207C-EA44-A47C-327615A775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3480315"/>
              </p:ext>
            </p:extLst>
          </p:nvPr>
        </p:nvGraphicFramePr>
        <p:xfrm>
          <a:off x="5922492" y="1922568"/>
          <a:ext cx="5536003" cy="2954112"/>
        </p:xfrm>
        <a:graphic>
          <a:graphicData uri="http://schemas.openxmlformats.org/drawingml/2006/table">
            <a:tbl>
              <a:tblPr firstRow="1" bandRow="1"/>
              <a:tblGrid>
                <a:gridCol w="1528409">
                  <a:extLst>
                    <a:ext uri="{9D8B030D-6E8A-4147-A177-3AD203B41FA5}">
                      <a16:colId xmlns:a16="http://schemas.microsoft.com/office/drawing/2014/main" val="2398478960"/>
                    </a:ext>
                  </a:extLst>
                </a:gridCol>
                <a:gridCol w="2561375">
                  <a:extLst>
                    <a:ext uri="{9D8B030D-6E8A-4147-A177-3AD203B41FA5}">
                      <a16:colId xmlns:a16="http://schemas.microsoft.com/office/drawing/2014/main" val="257793882"/>
                    </a:ext>
                  </a:extLst>
                </a:gridCol>
                <a:gridCol w="1446219">
                  <a:extLst>
                    <a:ext uri="{9D8B030D-6E8A-4147-A177-3AD203B41FA5}">
                      <a16:colId xmlns:a16="http://schemas.microsoft.com/office/drawing/2014/main" val="2403612812"/>
                    </a:ext>
                  </a:extLst>
                </a:gridCol>
              </a:tblGrid>
              <a:tr h="734846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</a:pPr>
                      <a:r>
                        <a:rPr lang="en-PH" sz="1900" b="1">
                          <a:effectLst/>
                          <a:latin typeface="quote-cjk-patch"/>
                        </a:rPr>
                        <a:t>Component</a:t>
                      </a:r>
                      <a:endParaRPr lang="en-PH" sz="1900" b="0">
                        <a:effectLst/>
                        <a:latin typeface="quote-cjk-patch"/>
                      </a:endParaRPr>
                    </a:p>
                  </a:txBody>
                  <a:tcPr marL="94683" marR="157805" marT="98628" marB="9862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</a:pPr>
                      <a:r>
                        <a:rPr lang="en-PH" sz="1900" b="1">
                          <a:effectLst/>
                          <a:latin typeface="quote-cjk-patch"/>
                        </a:rPr>
                        <a:t>Recommended Options</a:t>
                      </a:r>
                      <a:endParaRPr lang="en-PH" sz="1900" b="0">
                        <a:effectLst/>
                        <a:latin typeface="quote-cjk-patch"/>
                      </a:endParaRPr>
                    </a:p>
                  </a:txBody>
                  <a:tcPr marL="157805" marR="157805" marT="98628" marB="9862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</a:pPr>
                      <a:r>
                        <a:rPr lang="en-PH" sz="1900" b="1">
                          <a:effectLst/>
                          <a:latin typeface="quote-cjk-patch"/>
                        </a:rPr>
                        <a:t>Purpose</a:t>
                      </a:r>
                      <a:endParaRPr lang="en-PH" sz="1900" b="0">
                        <a:effectLst/>
                        <a:latin typeface="quote-cjk-patch"/>
                      </a:endParaRPr>
                    </a:p>
                  </a:txBody>
                  <a:tcPr marL="157805" marR="157805" marT="98628" marB="9862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6014062"/>
                  </a:ext>
                </a:extLst>
              </a:tr>
              <a:tr h="123456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1900" b="1">
                          <a:effectLst/>
                          <a:latin typeface="quote-cjk-patch"/>
                        </a:rPr>
                        <a:t>Server OS</a:t>
                      </a:r>
                      <a:endParaRPr lang="en-PH" sz="1900" b="0">
                        <a:effectLst/>
                        <a:latin typeface="quote-cjk-patch"/>
                      </a:endParaRPr>
                    </a:p>
                  </a:txBody>
                  <a:tcPr marL="94683" marR="157805" marT="98628" marB="9862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sz="1900" b="1">
                          <a:effectLst/>
                          <a:latin typeface="quote-cjk-patch"/>
                        </a:rPr>
                        <a:t>Windows Server 2019/2022</a:t>
                      </a:r>
                      <a:r>
                        <a:rPr lang="en-US" sz="1900" b="0">
                          <a:effectLst/>
                          <a:latin typeface="quote-cjk-patch"/>
                        </a:rPr>
                        <a:t> or </a:t>
                      </a:r>
                      <a:r>
                        <a:rPr lang="en-US" sz="1900" b="1">
                          <a:effectLst/>
                          <a:latin typeface="quote-cjk-patch"/>
                        </a:rPr>
                        <a:t>Ubuntu Server 20.04 LTS+</a:t>
                      </a:r>
                      <a:endParaRPr lang="en-US" sz="1900" b="0">
                        <a:effectLst/>
                        <a:latin typeface="quote-cjk-patch"/>
                      </a:endParaRPr>
                    </a:p>
                  </a:txBody>
                  <a:tcPr marL="157805" marR="157805" marT="98628" marB="9862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sz="1900" b="0">
                          <a:effectLst/>
                          <a:latin typeface="quote-cjk-patch"/>
                        </a:rPr>
                        <a:t>Host the application and database </a:t>
                      </a:r>
                    </a:p>
                  </a:txBody>
                  <a:tcPr marL="157805" marR="94683" marT="98628" marB="9862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5185780"/>
                  </a:ext>
                </a:extLst>
              </a:tr>
              <a:tr h="984704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1900" b="1">
                          <a:effectLst/>
                          <a:latin typeface="quote-cjk-patch"/>
                        </a:rPr>
                        <a:t>Client OS</a:t>
                      </a:r>
                      <a:endParaRPr lang="en-PH" sz="1900" b="0">
                        <a:effectLst/>
                        <a:latin typeface="quote-cjk-patch"/>
                      </a:endParaRPr>
                    </a:p>
                  </a:txBody>
                  <a:tcPr marL="94683" marR="157805" marT="98628" marB="9862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sz="1900" b="0">
                          <a:effectLst/>
                          <a:latin typeface="quote-cjk-patch"/>
                        </a:rPr>
                        <a:t>Windows 10/11 (for staff workstations)</a:t>
                      </a:r>
                    </a:p>
                  </a:txBody>
                  <a:tcPr marL="157805" marR="157805" marT="98628" marB="9862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1900" b="0">
                          <a:effectLst/>
                          <a:latin typeface="quote-cjk-patch"/>
                        </a:rPr>
                        <a:t>Access the web-based system</a:t>
                      </a:r>
                    </a:p>
                  </a:txBody>
                  <a:tcPr marL="157805" marR="94683" marT="98628" marB="9862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03094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33254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F70B98C-A361-512B-8F19-6C1F41E0AC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064" y="525982"/>
            <a:ext cx="4282983" cy="1200361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b" anchorCtr="0" compatLnSpc="1">
            <a:prstTxWarp prst="textNoShape">
              <a:avLst/>
            </a:prstTxWarp>
            <a:norm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1" fontAlgn="base" hangingPunct="1">
              <a:lnSpc>
                <a:spcPct val="90000"/>
              </a:lnSpc>
              <a:spcAft>
                <a:spcPts val="600"/>
              </a:spcAft>
              <a:buClrTx/>
              <a:buSzTx/>
              <a:tabLst/>
            </a:pPr>
            <a:r>
              <a:rPr kumimoji="0" lang="en-US" altLang="en-US" sz="3100" b="1" i="0" u="none" strike="noStrike" kern="1200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Hardware Requirements</a:t>
            </a:r>
          </a:p>
          <a:p>
            <a:pPr marL="0" marR="0" lvl="0" indent="0" defTabSz="914400" eaLnBrk="1" fontAlgn="base" hangingPunct="1">
              <a:lnSpc>
                <a:spcPct val="90000"/>
              </a:lnSpc>
              <a:spcAft>
                <a:spcPts val="600"/>
              </a:spcAft>
              <a:buClrTx/>
              <a:buSzTx/>
              <a:tabLst/>
            </a:pPr>
            <a:r>
              <a:rPr kumimoji="0" lang="en-US" altLang="en-US" sz="3100" b="1" i="0" u="none" strike="noStrike" kern="1200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1. Server Hardware</a:t>
            </a:r>
          </a:p>
          <a:p>
            <a:pPr marL="0" marR="0" lvl="0" indent="0" defTabSz="914400" eaLnBrk="1" fontAlgn="base" hangingPunct="1">
              <a:lnSpc>
                <a:spcPct val="90000"/>
              </a:lnSpc>
              <a:spcAft>
                <a:spcPts val="600"/>
              </a:spcAft>
              <a:buClrTx/>
              <a:buSzTx/>
              <a:tabLst/>
            </a:pPr>
            <a:endParaRPr kumimoji="0" lang="en-US" altLang="en-US" sz="3100" b="0" i="0" u="none" strike="noStrike" kern="1200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+mj-ea"/>
              <a:cs typeface="+mj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98E681F2-DDA4-0C0A-4918-EA91F97245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066" y="2031101"/>
            <a:ext cx="4282984" cy="3511943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1" u="none" strike="noStrike" cap="none" normalizeH="0" baseline="0">
                <a:ln>
                  <a:noFill/>
                </a:ln>
                <a:effectLst/>
              </a:rPr>
              <a:t>Storage Note: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 A 256 GB drive can hold approximately 50,000-100,000 scanned documents (depending on file size). Plan for growth 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1834ED2-DFE4-2C85-54FC-0708DA70D5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7876250"/>
              </p:ext>
            </p:extLst>
          </p:nvPr>
        </p:nvGraphicFramePr>
        <p:xfrm>
          <a:off x="5987738" y="1539164"/>
          <a:ext cx="5628020" cy="4323880"/>
        </p:xfrm>
        <a:graphic>
          <a:graphicData uri="http://schemas.openxmlformats.org/drawingml/2006/table">
            <a:tbl>
              <a:tblPr/>
              <a:tblGrid>
                <a:gridCol w="1134996">
                  <a:extLst>
                    <a:ext uri="{9D8B030D-6E8A-4147-A177-3AD203B41FA5}">
                      <a16:colId xmlns:a16="http://schemas.microsoft.com/office/drawing/2014/main" val="3975073451"/>
                    </a:ext>
                  </a:extLst>
                </a:gridCol>
                <a:gridCol w="1567487">
                  <a:extLst>
                    <a:ext uri="{9D8B030D-6E8A-4147-A177-3AD203B41FA5}">
                      <a16:colId xmlns:a16="http://schemas.microsoft.com/office/drawing/2014/main" val="2483655416"/>
                    </a:ext>
                  </a:extLst>
                </a:gridCol>
                <a:gridCol w="1370260">
                  <a:extLst>
                    <a:ext uri="{9D8B030D-6E8A-4147-A177-3AD203B41FA5}">
                      <a16:colId xmlns:a16="http://schemas.microsoft.com/office/drawing/2014/main" val="3463557696"/>
                    </a:ext>
                  </a:extLst>
                </a:gridCol>
                <a:gridCol w="1555277">
                  <a:extLst>
                    <a:ext uri="{9D8B030D-6E8A-4147-A177-3AD203B41FA5}">
                      <a16:colId xmlns:a16="http://schemas.microsoft.com/office/drawing/2014/main" val="1946366562"/>
                    </a:ext>
                  </a:extLst>
                </a:gridCol>
              </a:tblGrid>
              <a:tr h="530917">
                <a:tc>
                  <a:txBody>
                    <a:bodyPr/>
                    <a:lstStyle/>
                    <a:p>
                      <a:pPr algn="l" fontAlgn="ctr">
                        <a:lnSpc>
                          <a:spcPts val="1875"/>
                        </a:lnSpc>
                        <a:buNone/>
                      </a:pPr>
                      <a:r>
                        <a:rPr lang="en-PH" sz="1300" b="1" i="0" u="none" strike="noStrike">
                          <a:effectLst/>
                          <a:latin typeface="quote-cjk-patch"/>
                        </a:rPr>
                        <a:t>Component</a:t>
                      </a:r>
                      <a:endParaRPr lang="en-PH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7621" marR="112701" marT="70438" marB="704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ts val="1875"/>
                        </a:lnSpc>
                        <a:buNone/>
                      </a:pPr>
                      <a:r>
                        <a:rPr lang="en-PH" sz="1300" b="1" i="0" u="none" strike="noStrike">
                          <a:effectLst/>
                          <a:latin typeface="quote-cjk-patch"/>
                        </a:rPr>
                        <a:t>Minimum Recommendation</a:t>
                      </a:r>
                      <a:endParaRPr lang="en-PH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2701" marR="112701" marT="70438" marB="704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ts val="1875"/>
                        </a:lnSpc>
                        <a:buNone/>
                      </a:pPr>
                      <a:r>
                        <a:rPr lang="en-PH" sz="1300" b="1" i="0" u="none" strike="noStrike">
                          <a:effectLst/>
                          <a:latin typeface="quote-cjk-patch"/>
                        </a:rPr>
                        <a:t>Recommended for Production</a:t>
                      </a:r>
                      <a:endParaRPr lang="en-PH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2701" marR="112701" marT="70438" marB="704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ts val="1875"/>
                        </a:lnSpc>
                        <a:buNone/>
                      </a:pPr>
                      <a:r>
                        <a:rPr lang="en-PH" sz="1300" b="1" i="0" u="none" strike="noStrike">
                          <a:effectLst/>
                          <a:latin typeface="quote-cjk-patch"/>
                        </a:rPr>
                        <a:t>Notes</a:t>
                      </a:r>
                      <a:endParaRPr lang="en-PH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2701" marR="112701" marT="70438" marB="704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2190325"/>
                  </a:ext>
                </a:extLst>
              </a:tr>
              <a:tr h="887804">
                <a:tc>
                  <a:txBody>
                    <a:bodyPr/>
                    <a:lstStyle/>
                    <a:p>
                      <a:pPr algn="l" fontAlgn="ctr">
                        <a:lnSpc>
                          <a:spcPts val="1875"/>
                        </a:lnSpc>
                        <a:buNone/>
                      </a:pPr>
                      <a:r>
                        <a:rPr lang="en-PH" sz="1300" b="1" i="0" u="none" strike="noStrike">
                          <a:effectLst/>
                          <a:latin typeface="quote-cjk-patch"/>
                        </a:rPr>
                        <a:t>Processor (CPU)</a:t>
                      </a:r>
                      <a:endParaRPr lang="en-PH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7621" marR="112701" marT="70438" marB="704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ts val="1875"/>
                        </a:lnSpc>
                        <a:buNone/>
                      </a:pPr>
                      <a:r>
                        <a:rPr lang="en-PH" sz="1300" b="0" i="0" u="none" strike="noStrike">
                          <a:effectLst/>
                          <a:latin typeface="quote-cjk-patch"/>
                        </a:rPr>
                        <a:t>4 cores, 2.0 GHz+</a:t>
                      </a:r>
                      <a:endParaRPr lang="en-PH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2701" marR="112701" marT="70438" marB="704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ts val="1875"/>
                        </a:lnSpc>
                        <a:buNone/>
                      </a:pPr>
                      <a:r>
                        <a:rPr lang="en-PH" sz="1300" b="1" i="0" u="none" strike="noStrike">
                          <a:effectLst/>
                          <a:latin typeface="quote-cjk-patch"/>
                        </a:rPr>
                        <a:t>8+ cores, 2.5 GHz+</a:t>
                      </a:r>
                      <a:endParaRPr lang="en-PH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2701" marR="112701" marT="70438" marB="704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ts val="1875"/>
                        </a:lnSpc>
                        <a:buNone/>
                      </a:pPr>
                      <a:r>
                        <a:rPr lang="en-US" sz="1300" b="0" i="0" u="none" strike="noStrike">
                          <a:effectLst/>
                          <a:latin typeface="quote-cjk-patch"/>
                        </a:rPr>
                        <a:t>More cores for handling multiple document uploads simultaneously 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2701" marR="67621" marT="70438" marB="704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7921057"/>
                  </a:ext>
                </a:extLst>
              </a:tr>
              <a:tr h="709361">
                <a:tc>
                  <a:txBody>
                    <a:bodyPr/>
                    <a:lstStyle/>
                    <a:p>
                      <a:pPr algn="l" fontAlgn="ctr">
                        <a:lnSpc>
                          <a:spcPts val="1875"/>
                        </a:lnSpc>
                        <a:buNone/>
                      </a:pPr>
                      <a:r>
                        <a:rPr lang="en-PH" sz="1300" b="1" i="0" u="none" strike="noStrike">
                          <a:effectLst/>
                          <a:latin typeface="quote-cjk-patch"/>
                        </a:rPr>
                        <a:t>Memory (RAM)</a:t>
                      </a:r>
                      <a:endParaRPr lang="en-PH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7621" marR="112701" marT="70438" marB="704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ts val="1875"/>
                        </a:lnSpc>
                        <a:buNone/>
                      </a:pPr>
                      <a:r>
                        <a:rPr lang="en-PH" sz="1300" b="0" i="0" u="none" strike="noStrike">
                          <a:effectLst/>
                          <a:latin typeface="quote-cjk-patch"/>
                        </a:rPr>
                        <a:t>8 GB</a:t>
                      </a:r>
                      <a:endParaRPr lang="en-PH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2701" marR="112701" marT="70438" marB="704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ts val="1875"/>
                        </a:lnSpc>
                        <a:buNone/>
                      </a:pPr>
                      <a:r>
                        <a:rPr lang="en-PH" sz="1300" b="1" i="0" u="none" strike="noStrike">
                          <a:effectLst/>
                          <a:latin typeface="quote-cjk-patch"/>
                        </a:rPr>
                        <a:t>16-32 GB</a:t>
                      </a:r>
                      <a:endParaRPr lang="en-PH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2701" marR="112701" marT="70438" marB="704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ts val="1875"/>
                        </a:lnSpc>
                        <a:buNone/>
                      </a:pPr>
                      <a:r>
                        <a:rPr lang="en-US" sz="1300" b="0" i="0" u="none" strike="noStrike">
                          <a:effectLst/>
                          <a:latin typeface="quote-cjk-patch"/>
                        </a:rPr>
                        <a:t>OCR and PDF processing are memory-intensive 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2701" marR="67621" marT="70438" marB="704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5042445"/>
                  </a:ext>
                </a:extLst>
              </a:tr>
              <a:tr h="887804">
                <a:tc>
                  <a:txBody>
                    <a:bodyPr/>
                    <a:lstStyle/>
                    <a:p>
                      <a:pPr algn="l" fontAlgn="ctr">
                        <a:lnSpc>
                          <a:spcPts val="1875"/>
                        </a:lnSpc>
                        <a:buNone/>
                      </a:pPr>
                      <a:r>
                        <a:rPr lang="en-PH" sz="1300" b="1" i="0" u="none" strike="noStrike">
                          <a:effectLst/>
                          <a:latin typeface="quote-cjk-patch"/>
                        </a:rPr>
                        <a:t>Storage (Hard Drive)</a:t>
                      </a:r>
                      <a:endParaRPr lang="en-PH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7621" marR="112701" marT="70438" marB="704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ts val="1875"/>
                        </a:lnSpc>
                        <a:buNone/>
                      </a:pPr>
                      <a:r>
                        <a:rPr lang="en-PH" sz="1300" b="0" i="0" u="none" strike="noStrike">
                          <a:effectLst/>
                          <a:latin typeface="quote-cjk-patch"/>
                        </a:rPr>
                        <a:t>256 GB SSD</a:t>
                      </a:r>
                      <a:endParaRPr lang="en-PH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2701" marR="112701" marT="70438" marB="704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ts val="1875"/>
                        </a:lnSpc>
                        <a:buNone/>
                      </a:pPr>
                      <a:r>
                        <a:rPr lang="en-PH" sz="1300" b="1" i="0" u="none" strike="noStrike">
                          <a:effectLst/>
                          <a:latin typeface="quote-cjk-patch"/>
                        </a:rPr>
                        <a:t>512 GB+ SSD</a:t>
                      </a:r>
                      <a:endParaRPr lang="en-PH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2701" marR="112701" marT="70438" marB="704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ts val="1875"/>
                        </a:lnSpc>
                        <a:buNone/>
                      </a:pPr>
                      <a:r>
                        <a:rPr lang="en-US" sz="1300" b="0" i="0" u="none" strike="noStrike">
                          <a:effectLst/>
                          <a:latin typeface="quote-cjk-patch"/>
                        </a:rPr>
                        <a:t>SSD strongly recommended for database performance 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2701" marR="67621" marT="70438" marB="704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9328680"/>
                  </a:ext>
                </a:extLst>
              </a:tr>
              <a:tr h="530917">
                <a:tc>
                  <a:txBody>
                    <a:bodyPr/>
                    <a:lstStyle/>
                    <a:p>
                      <a:pPr algn="l" fontAlgn="ctr">
                        <a:lnSpc>
                          <a:spcPts val="1875"/>
                        </a:lnSpc>
                        <a:buNone/>
                      </a:pPr>
                      <a:r>
                        <a:rPr lang="en-PH" sz="1300" b="1" i="0" u="none" strike="noStrike">
                          <a:effectLst/>
                          <a:latin typeface="quote-cjk-patch"/>
                        </a:rPr>
                        <a:t>Network</a:t>
                      </a:r>
                      <a:endParaRPr lang="en-PH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7621" marR="112701" marT="70438" marB="704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ts val="1875"/>
                        </a:lnSpc>
                        <a:buNone/>
                      </a:pPr>
                      <a:r>
                        <a:rPr lang="en-PH" sz="1300" b="0" i="0" u="none" strike="noStrike">
                          <a:effectLst/>
                          <a:latin typeface="quote-cjk-patch"/>
                        </a:rPr>
                        <a:t>Gigabit Ethernet</a:t>
                      </a:r>
                      <a:endParaRPr lang="en-PH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2701" marR="112701" marT="70438" marB="704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ts val="1875"/>
                        </a:lnSpc>
                        <a:buNone/>
                      </a:pPr>
                      <a:r>
                        <a:rPr lang="en-PH" sz="1300" b="0" i="0" u="none" strike="noStrike">
                          <a:effectLst/>
                          <a:latin typeface="quote-cjk-patch"/>
                        </a:rPr>
                        <a:t>Gigabit Ethernet</a:t>
                      </a:r>
                      <a:endParaRPr lang="en-PH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2701" marR="112701" marT="70438" marB="704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ts val="1875"/>
                        </a:lnSpc>
                        <a:buNone/>
                      </a:pPr>
                      <a:r>
                        <a:rPr lang="en-PH" sz="1300" b="0" i="0" u="none" strike="noStrike">
                          <a:effectLst/>
                          <a:latin typeface="quote-cjk-patch"/>
                        </a:rPr>
                        <a:t>For fast document transfer</a:t>
                      </a:r>
                      <a:endParaRPr lang="en-PH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2701" marR="67621" marT="70438" marB="704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66031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75769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D5B137B7-192D-78BB-1D07-3C02FCFC97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3810" y="2960716"/>
            <a:ext cx="4036334" cy="238760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1" fontAlgn="base" hangingPunct="1">
              <a:lnSpc>
                <a:spcPct val="90000"/>
              </a:lnSpc>
              <a:spcAft>
                <a:spcPts val="600"/>
              </a:spcAft>
              <a:buClrTx/>
              <a:buSzTx/>
              <a:tabLst/>
            </a:pPr>
            <a:r>
              <a:rPr kumimoji="0" lang="en-US" altLang="en-US" sz="4600" b="1" i="0" u="none" strike="noStrike" kern="12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2. Workstation/Client Computers</a:t>
            </a:r>
          </a:p>
          <a:p>
            <a:pPr marL="0" marR="0" lvl="0" indent="0" defTabSz="914400" eaLnBrk="1" fontAlgn="base" hangingPunct="1">
              <a:lnSpc>
                <a:spcPct val="90000"/>
              </a:lnSpc>
              <a:spcAft>
                <a:spcPts val="600"/>
              </a:spcAft>
              <a:buClrTx/>
              <a:buSzTx/>
              <a:tabLst/>
            </a:pPr>
            <a:endParaRPr kumimoji="0" lang="en-US" altLang="en-US" sz="46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ea typeface="+mj-ea"/>
              <a:cs typeface="+mj-cs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69B3210-D03E-76E8-1387-B6D5B53385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5033689"/>
              </p:ext>
            </p:extLst>
          </p:nvPr>
        </p:nvGraphicFramePr>
        <p:xfrm>
          <a:off x="5922492" y="696975"/>
          <a:ext cx="5536002" cy="5405300"/>
        </p:xfrm>
        <a:graphic>
          <a:graphicData uri="http://schemas.openxmlformats.org/drawingml/2006/table">
            <a:tbl>
              <a:tblPr firstRow="1" bandRow="1"/>
              <a:tblGrid>
                <a:gridCol w="1527502">
                  <a:extLst>
                    <a:ext uri="{9D8B030D-6E8A-4147-A177-3AD203B41FA5}">
                      <a16:colId xmlns:a16="http://schemas.microsoft.com/office/drawing/2014/main" val="3419394130"/>
                    </a:ext>
                  </a:extLst>
                </a:gridCol>
                <a:gridCol w="2182004">
                  <a:extLst>
                    <a:ext uri="{9D8B030D-6E8A-4147-A177-3AD203B41FA5}">
                      <a16:colId xmlns:a16="http://schemas.microsoft.com/office/drawing/2014/main" val="1374877639"/>
                    </a:ext>
                  </a:extLst>
                </a:gridCol>
                <a:gridCol w="1826496">
                  <a:extLst>
                    <a:ext uri="{9D8B030D-6E8A-4147-A177-3AD203B41FA5}">
                      <a16:colId xmlns:a16="http://schemas.microsoft.com/office/drawing/2014/main" val="388677345"/>
                    </a:ext>
                  </a:extLst>
                </a:gridCol>
              </a:tblGrid>
              <a:tr h="48470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</a:pPr>
                      <a:r>
                        <a:rPr lang="en-PH" sz="1900" b="1">
                          <a:effectLst/>
                          <a:latin typeface="quote-cjk-patch"/>
                        </a:rPr>
                        <a:t>Component</a:t>
                      </a:r>
                      <a:endParaRPr lang="en-PH" sz="1900" b="0">
                        <a:effectLst/>
                        <a:latin typeface="quote-cjk-patch"/>
                      </a:endParaRPr>
                    </a:p>
                  </a:txBody>
                  <a:tcPr marL="94627" marR="157711" marT="98570" marB="985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</a:pPr>
                      <a:r>
                        <a:rPr lang="en-PH" sz="1900" b="1">
                          <a:effectLst/>
                          <a:latin typeface="quote-cjk-patch"/>
                        </a:rPr>
                        <a:t>Recommendation</a:t>
                      </a:r>
                      <a:endParaRPr lang="en-PH" sz="1900" b="0">
                        <a:effectLst/>
                        <a:latin typeface="quote-cjk-patch"/>
                      </a:endParaRPr>
                    </a:p>
                  </a:txBody>
                  <a:tcPr marL="157711" marR="157711" marT="98570" marB="985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</a:pPr>
                      <a:r>
                        <a:rPr lang="en-PH" sz="1900" b="1">
                          <a:effectLst/>
                          <a:latin typeface="quote-cjk-patch"/>
                        </a:rPr>
                        <a:t>Purpose</a:t>
                      </a:r>
                      <a:endParaRPr lang="en-PH" sz="1900" b="0">
                        <a:effectLst/>
                        <a:latin typeface="quote-cjk-patch"/>
                      </a:endParaRPr>
                    </a:p>
                  </a:txBody>
                  <a:tcPr marL="157711" marR="157711" marT="98570" marB="985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4858210"/>
                  </a:ext>
                </a:extLst>
              </a:tr>
              <a:tr h="123383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1900" b="1">
                          <a:effectLst/>
                          <a:latin typeface="quote-cjk-patch"/>
                        </a:rPr>
                        <a:t>Processor</a:t>
                      </a:r>
                      <a:endParaRPr lang="en-PH" sz="1900" b="0">
                        <a:effectLst/>
                        <a:latin typeface="quote-cjk-patch"/>
                      </a:endParaRPr>
                    </a:p>
                  </a:txBody>
                  <a:tcPr marL="94627" marR="157711" marT="98570" marB="985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1900" b="0">
                          <a:effectLst/>
                          <a:latin typeface="quote-cjk-patch"/>
                        </a:rPr>
                        <a:t>Intel Core i5 or equivalent</a:t>
                      </a:r>
                    </a:p>
                  </a:txBody>
                  <a:tcPr marL="157711" marR="157711" marT="98570" marB="985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sz="1900" b="0">
                          <a:effectLst/>
                          <a:latin typeface="quote-cjk-patch"/>
                        </a:rPr>
                        <a:t>Run web browser and connect to scanner</a:t>
                      </a:r>
                    </a:p>
                  </a:txBody>
                  <a:tcPr marL="157711" marR="94627" marT="98570" marB="985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3549137"/>
                  </a:ext>
                </a:extLst>
              </a:tr>
              <a:tr h="73441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1900" b="1">
                          <a:effectLst/>
                          <a:latin typeface="quote-cjk-patch"/>
                        </a:rPr>
                        <a:t>Memory</a:t>
                      </a:r>
                      <a:endParaRPr lang="en-PH" sz="1900" b="0">
                        <a:effectLst/>
                        <a:latin typeface="quote-cjk-patch"/>
                      </a:endParaRPr>
                    </a:p>
                  </a:txBody>
                  <a:tcPr marL="94627" marR="157711" marT="98570" marB="985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1900" b="0">
                          <a:effectLst/>
                          <a:latin typeface="quote-cjk-patch"/>
                        </a:rPr>
                        <a:t>8 GB RAM</a:t>
                      </a:r>
                    </a:p>
                  </a:txBody>
                  <a:tcPr marL="157711" marR="157711" marT="98570" marB="985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1900" b="0">
                          <a:effectLst/>
                          <a:latin typeface="quote-cjk-patch"/>
                        </a:rPr>
                        <a:t>Smooth multitasking</a:t>
                      </a:r>
                    </a:p>
                  </a:txBody>
                  <a:tcPr marL="157711" marR="94627" marT="98570" marB="985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5027447"/>
                  </a:ext>
                </a:extLst>
              </a:tr>
              <a:tr h="73441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1900" b="1">
                          <a:effectLst/>
                          <a:latin typeface="quote-cjk-patch"/>
                        </a:rPr>
                        <a:t>Storage</a:t>
                      </a:r>
                      <a:endParaRPr lang="en-PH" sz="1900" b="0">
                        <a:effectLst/>
                        <a:latin typeface="quote-cjk-patch"/>
                      </a:endParaRPr>
                    </a:p>
                  </a:txBody>
                  <a:tcPr marL="94627" marR="157711" marT="98570" marB="985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1900" b="0">
                          <a:effectLst/>
                          <a:latin typeface="quote-cjk-patch"/>
                        </a:rPr>
                        <a:t>256 GB SSD</a:t>
                      </a:r>
                    </a:p>
                  </a:txBody>
                  <a:tcPr marL="157711" marR="157711" marT="98570" marB="985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1900" b="0">
                          <a:effectLst/>
                          <a:latin typeface="quote-cjk-patch"/>
                        </a:rPr>
                        <a:t>Local storage if needed</a:t>
                      </a:r>
                    </a:p>
                  </a:txBody>
                  <a:tcPr marL="157711" marR="94627" marT="98570" marB="985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8103737"/>
                  </a:ext>
                </a:extLst>
              </a:tr>
              <a:tr h="98412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1900" b="1">
                          <a:effectLst/>
                          <a:latin typeface="quote-cjk-patch"/>
                        </a:rPr>
                        <a:t>Display</a:t>
                      </a:r>
                      <a:endParaRPr lang="en-PH" sz="1900" b="0">
                        <a:effectLst/>
                        <a:latin typeface="quote-cjk-patch"/>
                      </a:endParaRPr>
                    </a:p>
                  </a:txBody>
                  <a:tcPr marL="94627" marR="157711" marT="98570" marB="985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1900" b="0">
                          <a:effectLst/>
                          <a:latin typeface="quote-cjk-patch"/>
                        </a:rPr>
                        <a:t>1080p monitor</a:t>
                      </a:r>
                    </a:p>
                  </a:txBody>
                  <a:tcPr marL="157711" marR="157711" marT="98570" marB="985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1900" b="0">
                          <a:effectLst/>
                          <a:latin typeface="quote-cjk-patch"/>
                        </a:rPr>
                        <a:t>View documents clearly</a:t>
                      </a:r>
                    </a:p>
                  </a:txBody>
                  <a:tcPr marL="157711" marR="94627" marT="98570" marB="985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6454871"/>
                  </a:ext>
                </a:extLst>
              </a:tr>
              <a:tr h="123383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1900" b="1">
                          <a:effectLst/>
                          <a:latin typeface="quote-cjk-patch"/>
                        </a:rPr>
                        <a:t>Operating System</a:t>
                      </a:r>
                      <a:endParaRPr lang="en-PH" sz="1900" b="0">
                        <a:effectLst/>
                        <a:latin typeface="quote-cjk-patch"/>
                      </a:endParaRPr>
                    </a:p>
                  </a:txBody>
                  <a:tcPr marL="94627" marR="157711" marT="98570" marB="985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1900" b="0">
                          <a:effectLst/>
                          <a:latin typeface="quote-cjk-patch"/>
                        </a:rPr>
                        <a:t>Windows 10/11 Pro</a:t>
                      </a:r>
                    </a:p>
                  </a:txBody>
                  <a:tcPr marL="157711" marR="157711" marT="98570" marB="985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sz="1900" b="0">
                          <a:effectLst/>
                          <a:latin typeface="quote-cjk-patch"/>
                        </a:rPr>
                        <a:t>Compatible with most scanners and printers </a:t>
                      </a:r>
                    </a:p>
                  </a:txBody>
                  <a:tcPr marL="157711" marR="94627" marT="98570" marB="985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69795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04686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4F242B4-B2FA-7C95-1CC3-813A260D16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064" y="525982"/>
            <a:ext cx="4282983" cy="1200361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b" anchorCtr="0" compatLnSpc="1">
            <a:prstTxWarp prst="textNoShape">
              <a:avLst/>
            </a:prstTxWarp>
            <a:norm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1" fontAlgn="base" hangingPunct="1">
              <a:lnSpc>
                <a:spcPct val="90000"/>
              </a:lnSpc>
              <a:spcAft>
                <a:spcPts val="600"/>
              </a:spcAft>
              <a:buClrTx/>
              <a:buSzTx/>
              <a:tabLst/>
            </a:pPr>
            <a:r>
              <a:rPr kumimoji="0" lang="en-US" altLang="en-US" sz="3600" b="1" i="0" u="none" strike="noStrike" kern="1200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3. Scanner</a:t>
            </a:r>
          </a:p>
          <a:p>
            <a:pPr marL="0" marR="0" lvl="0" indent="0" defTabSz="914400" eaLnBrk="1" fontAlgn="base" hangingPunct="1">
              <a:lnSpc>
                <a:spcPct val="90000"/>
              </a:lnSpc>
              <a:spcAft>
                <a:spcPts val="600"/>
              </a:spcAft>
              <a:buClrTx/>
              <a:buSzTx/>
              <a:tabLst/>
            </a:pPr>
            <a:endParaRPr kumimoji="0" lang="en-US" altLang="en-US" sz="3600" b="0" i="0" u="none" strike="noStrike" kern="1200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+mj-ea"/>
              <a:cs typeface="+mj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3619465-20C9-B69F-C51E-0A280180D8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066" y="2031101"/>
            <a:ext cx="4282984" cy="3511943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</a:rPr>
              <a:t>Scanner Integration Options:</a:t>
            </a:r>
            <a:endParaRPr kumimoji="0" lang="en-US" altLang="en-US" b="0" i="0" u="none" strike="noStrike" cap="none" normalizeH="0" baseline="0">
              <a:ln>
                <a:noFill/>
              </a:ln>
              <a:effectLst/>
            </a:endParaRPr>
          </a:p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</a:rPr>
              <a:t>Option A (Recommended):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 Scanner saves to a network folder; Python app monitors folder and auto-processes new files</a:t>
            </a:r>
          </a:p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</a:rPr>
              <a:t>Option B: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 Scanner with API integration (more complex but real-time)</a:t>
            </a:r>
          </a:p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</a:rPr>
              <a:t>Option C: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 USB scanner connected to workstation with manual upload trigger</a:t>
            </a:r>
          </a:p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b="0" i="0" u="none" strike="noStrike" cap="none" normalizeH="0" baseline="0">
              <a:ln>
                <a:noFill/>
              </a:ln>
              <a:effectLst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FC6B6B8-537E-BBEF-F333-4942A57AC8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7574568"/>
              </p:ext>
            </p:extLst>
          </p:nvPr>
        </p:nvGraphicFramePr>
        <p:xfrm>
          <a:off x="5987738" y="1295117"/>
          <a:ext cx="5628018" cy="4703815"/>
        </p:xfrm>
        <a:graphic>
          <a:graphicData uri="http://schemas.openxmlformats.org/drawingml/2006/table">
            <a:tbl>
              <a:tblPr firstRow="1" bandRow="1">
                <a:solidFill>
                  <a:schemeClr val="bg1"/>
                </a:solidFill>
              </a:tblPr>
              <a:tblGrid>
                <a:gridCol w="1820782">
                  <a:extLst>
                    <a:ext uri="{9D8B030D-6E8A-4147-A177-3AD203B41FA5}">
                      <a16:colId xmlns:a16="http://schemas.microsoft.com/office/drawing/2014/main" val="1368120276"/>
                    </a:ext>
                  </a:extLst>
                </a:gridCol>
                <a:gridCol w="1920359">
                  <a:extLst>
                    <a:ext uri="{9D8B030D-6E8A-4147-A177-3AD203B41FA5}">
                      <a16:colId xmlns:a16="http://schemas.microsoft.com/office/drawing/2014/main" val="3359291925"/>
                    </a:ext>
                  </a:extLst>
                </a:gridCol>
                <a:gridCol w="1886877">
                  <a:extLst>
                    <a:ext uri="{9D8B030D-6E8A-4147-A177-3AD203B41FA5}">
                      <a16:colId xmlns:a16="http://schemas.microsoft.com/office/drawing/2014/main" val="3478423749"/>
                    </a:ext>
                  </a:extLst>
                </a:gridCol>
              </a:tblGrid>
              <a:tr h="351697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</a:pPr>
                      <a:r>
                        <a:rPr lang="en-PH" sz="1100" b="0" cap="none" spc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Component</a:t>
                      </a:r>
                    </a:p>
                  </a:txBody>
                  <a:tcPr marL="93453" marR="83266" marT="71887" marB="71887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</a:pPr>
                      <a:r>
                        <a:rPr lang="en-PH" sz="1100" b="0" cap="none" spc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Recommendation</a:t>
                      </a:r>
                    </a:p>
                  </a:txBody>
                  <a:tcPr marL="93453" marR="83266" marT="71887" marB="71887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</a:pPr>
                      <a:r>
                        <a:rPr lang="en-PH" sz="1100" b="0" cap="none" spc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Why It Matters</a:t>
                      </a:r>
                    </a:p>
                  </a:txBody>
                  <a:tcPr marL="93453" marR="83266" marT="71887" marB="71887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0896155"/>
                  </a:ext>
                </a:extLst>
              </a:tr>
              <a:tr h="731099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1100" b="1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Type</a:t>
                      </a:r>
                      <a:endParaRPr lang="en-PH" sz="1100" b="0" cap="none" spc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L="93453" marR="83266" marT="71887" marB="71887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sz="1100" b="1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Network scanner with ADF</a:t>
                      </a:r>
                      <a:r>
                        <a:rPr lang="en-US" sz="11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 (Automatic Document Feeder)</a:t>
                      </a:r>
                    </a:p>
                  </a:txBody>
                  <a:tcPr marL="93453" marR="83266" marT="71887" marB="71887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sz="11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Scan multiple pages without manual feeding</a:t>
                      </a:r>
                    </a:p>
                  </a:txBody>
                  <a:tcPr marL="93453" marR="49960" marT="71887" marB="71887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6903908"/>
                  </a:ext>
                </a:extLst>
              </a:tr>
              <a:tr h="92080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1100" b="1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Recommended Model</a:t>
                      </a:r>
                      <a:endParaRPr lang="en-PH" sz="1100" b="0" cap="none" spc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L="93453" marR="83266" marT="71887" marB="71887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sz="1100" b="1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Plustek eScan A450 Pro</a:t>
                      </a:r>
                      <a:r>
                        <a:rPr lang="en-US" sz="11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 or similar network scanner</a:t>
                      </a:r>
                    </a:p>
                  </a:txBody>
                  <a:tcPr marL="93453" marR="83266" marT="71887" marB="71887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sz="11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Scans directly to network folder; built-in OCR; 7" touchscreen; scans to PDF; 60 ppm speed </a:t>
                      </a:r>
                    </a:p>
                  </a:txBody>
                  <a:tcPr marL="93453" marR="49960" marT="71887" marB="71887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0340925"/>
                  </a:ext>
                </a:extLst>
              </a:tr>
              <a:tr h="1489904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1100" b="1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Key Features Needed</a:t>
                      </a:r>
                      <a:endParaRPr lang="en-PH" sz="1100" b="0" cap="none" spc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L="93453" marR="83266" marT="71887" marB="71887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sz="11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- Duplex scanning (both sides)</a:t>
                      </a:r>
                      <a:br>
                        <a:rPr lang="en-US" sz="11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</a:br>
                      <a:r>
                        <a:rPr lang="en-US" sz="11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- 600 dpi optical resolution</a:t>
                      </a:r>
                      <a:br>
                        <a:rPr lang="en-US" sz="11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</a:br>
                      <a:r>
                        <a:rPr lang="en-US" sz="11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- Scan to network folder (SMB/FTP)</a:t>
                      </a:r>
                      <a:br>
                        <a:rPr lang="en-US" sz="11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</a:br>
                      <a:r>
                        <a:rPr lang="en-US" sz="11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- 50+ sheet ADF capacity</a:t>
                      </a:r>
                      <a:br>
                        <a:rPr lang="en-US" sz="11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</a:br>
                      <a:r>
                        <a:rPr lang="en-US" sz="11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- Daily duty cycle: 8,000+ pages</a:t>
                      </a:r>
                    </a:p>
                  </a:txBody>
                  <a:tcPr marL="93453" marR="83266" marT="71887" marB="71887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11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Matches workflow requirements </a:t>
                      </a:r>
                    </a:p>
                  </a:txBody>
                  <a:tcPr marL="93453" marR="49960" marT="71887" marB="71887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3499057"/>
                  </a:ext>
                </a:extLst>
              </a:tr>
              <a:tr h="541398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1100" b="1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Alternative</a:t>
                      </a:r>
                      <a:endParaRPr lang="en-PH" sz="1100" b="0" cap="none" spc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L="93453" marR="83266" marT="71887" marB="71887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11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Fujitsu fi series or Canon imageFORMULA</a:t>
                      </a:r>
                    </a:p>
                  </a:txBody>
                  <a:tcPr marL="93453" marR="83266" marT="71887" marB="71887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11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Reliable workgroup scanners</a:t>
                      </a:r>
                    </a:p>
                  </a:txBody>
                  <a:tcPr marL="93453" marR="49960" marT="71887" marB="71887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09364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94653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DBE82402-1943-EDF0-6BA7-833C85154A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3810" y="2960716"/>
            <a:ext cx="4036334" cy="238760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1" fontAlgn="base" hangingPunct="1">
              <a:lnSpc>
                <a:spcPct val="90000"/>
              </a:lnSpc>
              <a:spcAft>
                <a:spcPts val="600"/>
              </a:spcAft>
              <a:buClrTx/>
              <a:buSzTx/>
              <a:tabLst/>
            </a:pPr>
            <a:r>
              <a:rPr kumimoji="0" lang="en-US" altLang="en-US" sz="5400" b="1" i="0" u="none" strike="noStrike" kern="1200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4. QR Code Scanner</a:t>
            </a:r>
          </a:p>
          <a:p>
            <a:pPr marL="0" marR="0" lvl="0" indent="0" defTabSz="914400" eaLnBrk="1" fontAlgn="base" hangingPunct="1">
              <a:lnSpc>
                <a:spcPct val="90000"/>
              </a:lnSpc>
              <a:spcAft>
                <a:spcPts val="600"/>
              </a:spcAft>
              <a:buClrTx/>
              <a:buSzTx/>
              <a:tabLst/>
            </a:pPr>
            <a:endParaRPr kumimoji="0" lang="en-US" altLang="en-US" sz="5400" b="0" i="0" u="none" strike="noStrike" kern="1200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+mj-ea"/>
              <a:cs typeface="+mj-cs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77308F7-24AC-B322-4713-4C40314CC6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7842284"/>
              </p:ext>
            </p:extLst>
          </p:nvPr>
        </p:nvGraphicFramePr>
        <p:xfrm>
          <a:off x="5922492" y="926301"/>
          <a:ext cx="5536002" cy="5046352"/>
        </p:xfrm>
        <a:graphic>
          <a:graphicData uri="http://schemas.openxmlformats.org/drawingml/2006/table">
            <a:tbl>
              <a:tblPr firstRow="1" bandRow="1"/>
              <a:tblGrid>
                <a:gridCol w="1845334">
                  <a:extLst>
                    <a:ext uri="{9D8B030D-6E8A-4147-A177-3AD203B41FA5}">
                      <a16:colId xmlns:a16="http://schemas.microsoft.com/office/drawing/2014/main" val="412752880"/>
                    </a:ext>
                  </a:extLst>
                </a:gridCol>
                <a:gridCol w="1845334">
                  <a:extLst>
                    <a:ext uri="{9D8B030D-6E8A-4147-A177-3AD203B41FA5}">
                      <a16:colId xmlns:a16="http://schemas.microsoft.com/office/drawing/2014/main" val="3601653309"/>
                    </a:ext>
                  </a:extLst>
                </a:gridCol>
                <a:gridCol w="1845334">
                  <a:extLst>
                    <a:ext uri="{9D8B030D-6E8A-4147-A177-3AD203B41FA5}">
                      <a16:colId xmlns:a16="http://schemas.microsoft.com/office/drawing/2014/main" val="3767260233"/>
                    </a:ext>
                  </a:extLst>
                </a:gridCol>
              </a:tblGrid>
              <a:tr h="399182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</a:pPr>
                      <a:r>
                        <a:rPr lang="en-PH" sz="1400" b="1">
                          <a:effectLst/>
                          <a:latin typeface="quote-cjk-patch"/>
                        </a:rPr>
                        <a:t>Component</a:t>
                      </a:r>
                      <a:endParaRPr lang="en-PH" sz="1400" b="0">
                        <a:effectLst/>
                        <a:latin typeface="quote-cjk-patch"/>
                      </a:endParaRPr>
                    </a:p>
                  </a:txBody>
                  <a:tcPr marL="70672" marR="117787" marT="73617" marB="736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</a:pPr>
                      <a:r>
                        <a:rPr lang="en-PH" sz="1400" b="1">
                          <a:effectLst/>
                          <a:latin typeface="quote-cjk-patch"/>
                        </a:rPr>
                        <a:t>Recommendation</a:t>
                      </a:r>
                      <a:endParaRPr lang="en-PH" sz="1400" b="0">
                        <a:effectLst/>
                        <a:latin typeface="quote-cjk-patch"/>
                      </a:endParaRPr>
                    </a:p>
                  </a:txBody>
                  <a:tcPr marL="117787" marR="117787" marT="73617" marB="736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</a:pPr>
                      <a:r>
                        <a:rPr lang="en-PH" sz="1400" b="1">
                          <a:effectLst/>
                          <a:latin typeface="quote-cjk-patch"/>
                        </a:rPr>
                        <a:t>Purpose</a:t>
                      </a:r>
                      <a:endParaRPr lang="en-PH" sz="1400" b="0">
                        <a:effectLst/>
                        <a:latin typeface="quote-cjk-patch"/>
                      </a:endParaRPr>
                    </a:p>
                  </a:txBody>
                  <a:tcPr marL="117787" marR="117787" marT="73617" marB="736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4288148"/>
                  </a:ext>
                </a:extLst>
              </a:tr>
              <a:tr h="62616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1400" b="1">
                          <a:effectLst/>
                          <a:latin typeface="quote-cjk-patch"/>
                        </a:rPr>
                        <a:t>Type</a:t>
                      </a:r>
                      <a:endParaRPr lang="en-PH" sz="1400" b="0">
                        <a:effectLst/>
                        <a:latin typeface="quote-cjk-patch"/>
                      </a:endParaRPr>
                    </a:p>
                  </a:txBody>
                  <a:tcPr marL="70672" marR="117787" marT="73617" marB="736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it-IT" sz="1400" b="1">
                          <a:effectLst/>
                          <a:latin typeface="quote-cjk-patch"/>
                        </a:rPr>
                        <a:t>USB 2D barcode/QR scanner</a:t>
                      </a:r>
                      <a:endParaRPr lang="it-IT" sz="1400" b="0">
                        <a:effectLst/>
                        <a:latin typeface="quote-cjk-patch"/>
                      </a:endParaRPr>
                    </a:p>
                  </a:txBody>
                  <a:tcPr marL="117787" marR="117787" marT="73617" marB="736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1400" b="0">
                          <a:effectLst/>
                          <a:latin typeface="quote-cjk-patch"/>
                        </a:rPr>
                        <a:t>Plug-and-play with workstation </a:t>
                      </a:r>
                    </a:p>
                  </a:txBody>
                  <a:tcPr marL="117787" marR="70672" marT="73617" marB="736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6393061"/>
                  </a:ext>
                </a:extLst>
              </a:tr>
              <a:tr h="198804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1400" b="1">
                          <a:effectLst/>
                          <a:latin typeface="quote-cjk-patch"/>
                        </a:rPr>
                        <a:t>Recommended Features</a:t>
                      </a:r>
                      <a:endParaRPr lang="en-PH" sz="1400" b="0">
                        <a:effectLst/>
                        <a:latin typeface="quote-cjk-patch"/>
                      </a:endParaRPr>
                    </a:p>
                  </a:txBody>
                  <a:tcPr marL="70672" marR="117787" marT="73617" marB="736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sz="1400" b="0">
                          <a:effectLst/>
                          <a:latin typeface="quote-cjk-patch"/>
                        </a:rPr>
                        <a:t>- Reads 2D QR codes and 1D barcodes</a:t>
                      </a:r>
                      <a:br>
                        <a:rPr lang="en-US" sz="1400" b="0">
                          <a:effectLst/>
                          <a:latin typeface="quote-cjk-patch"/>
                        </a:rPr>
                      </a:br>
                      <a:r>
                        <a:rPr lang="en-US" sz="1400" b="0">
                          <a:effectLst/>
                          <a:latin typeface="quote-cjk-patch"/>
                        </a:rPr>
                        <a:t>- Hands-free operation (stand included)</a:t>
                      </a:r>
                      <a:br>
                        <a:rPr lang="en-US" sz="1400" b="0">
                          <a:effectLst/>
                          <a:latin typeface="quote-cjk-patch"/>
                        </a:rPr>
                      </a:br>
                      <a:r>
                        <a:rPr lang="en-US" sz="1400" b="0">
                          <a:effectLst/>
                          <a:latin typeface="quote-cjk-patch"/>
                        </a:rPr>
                        <a:t>- USB connection</a:t>
                      </a:r>
                      <a:br>
                        <a:rPr lang="en-US" sz="1400" b="0">
                          <a:effectLst/>
                          <a:latin typeface="quote-cjk-patch"/>
                        </a:rPr>
                      </a:br>
                      <a:r>
                        <a:rPr lang="en-US" sz="1400" b="0">
                          <a:effectLst/>
                          <a:latin typeface="quote-cjk-patch"/>
                        </a:rPr>
                        <a:t>- Reads OCR fonts (optional) </a:t>
                      </a:r>
                    </a:p>
                  </a:txBody>
                  <a:tcPr marL="117787" marR="117787" marT="73617" marB="736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endParaRPr lang="en-PH" sz="1400" b="0">
                        <a:effectLst/>
                        <a:latin typeface="quote-cjk-patch"/>
                      </a:endParaRPr>
                    </a:p>
                  </a:txBody>
                  <a:tcPr marL="117787" marR="70672" marT="73617" marB="736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668227"/>
                  </a:ext>
                </a:extLst>
              </a:tr>
              <a:tr h="108012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1400" b="1">
                          <a:effectLst/>
                          <a:latin typeface="quote-cjk-patch"/>
                        </a:rPr>
                        <a:t>Examples</a:t>
                      </a:r>
                      <a:endParaRPr lang="en-PH" sz="1400" b="0">
                        <a:effectLst/>
                        <a:latin typeface="quote-cjk-patch"/>
                      </a:endParaRPr>
                    </a:p>
                  </a:txBody>
                  <a:tcPr marL="70672" marR="117787" marT="73617" marB="736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1400" b="0">
                          <a:effectLst/>
                          <a:latin typeface="quote-cjk-patch"/>
                        </a:rPr>
                        <a:t>Honeywell Granit, Zebra DS2208, Opticon MDI-4700 series </a:t>
                      </a:r>
                    </a:p>
                  </a:txBody>
                  <a:tcPr marL="117787" marR="117787" marT="73617" marB="736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sz="1400" b="0">
                          <a:effectLst/>
                          <a:latin typeface="quote-cjk-patch"/>
                        </a:rPr>
                        <a:t>Reliable brands with good support</a:t>
                      </a:r>
                    </a:p>
                  </a:txBody>
                  <a:tcPr marL="117787" marR="70672" marT="73617" marB="736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3494098"/>
                  </a:ext>
                </a:extLst>
              </a:tr>
              <a:tr h="85314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1400" b="1">
                          <a:effectLst/>
                          <a:latin typeface="quote-cjk-patch"/>
                        </a:rPr>
                        <a:t>Alternative</a:t>
                      </a:r>
                      <a:endParaRPr lang="en-PH" sz="1400" b="0">
                        <a:effectLst/>
                        <a:latin typeface="quote-cjk-patch"/>
                      </a:endParaRPr>
                    </a:p>
                  </a:txBody>
                  <a:tcPr marL="70672" marR="117787" marT="73617" marB="736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1400" b="0">
                          <a:effectLst/>
                          <a:latin typeface="quote-cjk-patch"/>
                        </a:rPr>
                        <a:t>Webcam + QR software</a:t>
                      </a:r>
                    </a:p>
                  </a:txBody>
                  <a:tcPr marL="117787" marR="117787" marT="73617" marB="736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sz="1400" b="0">
                          <a:effectLst/>
                          <a:latin typeface="quote-cjk-patch"/>
                        </a:rPr>
                        <a:t>Lower cost but less reliable for high volume</a:t>
                      </a:r>
                    </a:p>
                  </a:txBody>
                  <a:tcPr marL="117787" marR="70672" marT="73617" marB="736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21897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00877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A77437A7-6295-DCEE-621C-8880534A77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3810" y="2960716"/>
            <a:ext cx="4036334" cy="238760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1" fontAlgn="base" hangingPunct="1">
              <a:lnSpc>
                <a:spcPct val="90000"/>
              </a:lnSpc>
              <a:spcAft>
                <a:spcPts val="600"/>
              </a:spcAft>
              <a:buClrTx/>
              <a:buSzTx/>
              <a:tabLst/>
            </a:pPr>
            <a:r>
              <a:rPr kumimoji="0" lang="en-US" altLang="en-US" sz="5400" b="1" i="0" u="none" strike="noStrike" kern="1200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5. Printers</a:t>
            </a:r>
          </a:p>
          <a:p>
            <a:pPr marL="0" marR="0" lvl="0" indent="0" defTabSz="914400" eaLnBrk="1" fontAlgn="base" hangingPunct="1">
              <a:lnSpc>
                <a:spcPct val="90000"/>
              </a:lnSpc>
              <a:spcAft>
                <a:spcPts val="600"/>
              </a:spcAft>
              <a:buClrTx/>
              <a:buSzTx/>
              <a:tabLst/>
            </a:pPr>
            <a:endParaRPr kumimoji="0" lang="en-US" altLang="en-US" sz="5400" b="0" i="0" u="none" strike="noStrike" kern="1200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+mj-ea"/>
              <a:cs typeface="+mj-cs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4B1AAE0-3BA6-1A08-03A6-486CCCF186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4899870"/>
              </p:ext>
            </p:extLst>
          </p:nvPr>
        </p:nvGraphicFramePr>
        <p:xfrm>
          <a:off x="5922492" y="1801550"/>
          <a:ext cx="5536002" cy="3197324"/>
        </p:xfrm>
        <a:graphic>
          <a:graphicData uri="http://schemas.openxmlformats.org/drawingml/2006/table">
            <a:tbl>
              <a:tblPr firstRow="1" bandRow="1"/>
              <a:tblGrid>
                <a:gridCol w="1515152">
                  <a:extLst>
                    <a:ext uri="{9D8B030D-6E8A-4147-A177-3AD203B41FA5}">
                      <a16:colId xmlns:a16="http://schemas.microsoft.com/office/drawing/2014/main" val="2281878891"/>
                    </a:ext>
                  </a:extLst>
                </a:gridCol>
                <a:gridCol w="2429314">
                  <a:extLst>
                    <a:ext uri="{9D8B030D-6E8A-4147-A177-3AD203B41FA5}">
                      <a16:colId xmlns:a16="http://schemas.microsoft.com/office/drawing/2014/main" val="759631798"/>
                    </a:ext>
                  </a:extLst>
                </a:gridCol>
                <a:gridCol w="1591536">
                  <a:extLst>
                    <a:ext uri="{9D8B030D-6E8A-4147-A177-3AD203B41FA5}">
                      <a16:colId xmlns:a16="http://schemas.microsoft.com/office/drawing/2014/main" val="2630663327"/>
                    </a:ext>
                  </a:extLst>
                </a:gridCol>
              </a:tblGrid>
              <a:tr h="450727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</a:pPr>
                      <a:r>
                        <a:rPr lang="en-PH" sz="1700" b="1">
                          <a:effectLst/>
                          <a:latin typeface="quote-cjk-patch"/>
                        </a:rPr>
                        <a:t>Component</a:t>
                      </a:r>
                      <a:endParaRPr lang="en-PH" sz="1700" b="0">
                        <a:effectLst/>
                        <a:latin typeface="quote-cjk-patch"/>
                      </a:endParaRPr>
                    </a:p>
                  </a:txBody>
                  <a:tcPr marL="87994" marR="146657" marT="91661" marB="916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</a:pPr>
                      <a:r>
                        <a:rPr lang="en-PH" sz="1700" b="1">
                          <a:effectLst/>
                          <a:latin typeface="quote-cjk-patch"/>
                        </a:rPr>
                        <a:t>Recommendation</a:t>
                      </a:r>
                      <a:endParaRPr lang="en-PH" sz="1700" b="0">
                        <a:effectLst/>
                        <a:latin typeface="quote-cjk-patch"/>
                      </a:endParaRPr>
                    </a:p>
                  </a:txBody>
                  <a:tcPr marL="146657" marR="146657" marT="91661" marB="916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</a:pPr>
                      <a:r>
                        <a:rPr lang="en-PH" sz="1700" b="1">
                          <a:effectLst/>
                          <a:latin typeface="quote-cjk-patch"/>
                        </a:rPr>
                        <a:t>Purpose</a:t>
                      </a:r>
                      <a:endParaRPr lang="en-PH" sz="1700" b="0">
                        <a:effectLst/>
                        <a:latin typeface="quote-cjk-patch"/>
                      </a:endParaRPr>
                    </a:p>
                  </a:txBody>
                  <a:tcPr marL="146657" marR="146657" marT="91661" marB="916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414419"/>
                  </a:ext>
                </a:extLst>
              </a:tr>
              <a:tr h="915141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1700" b="1">
                          <a:effectLst/>
                          <a:latin typeface="quote-cjk-patch"/>
                        </a:rPr>
                        <a:t>Label Printer</a:t>
                      </a:r>
                      <a:endParaRPr lang="en-PH" sz="1700" b="0">
                        <a:effectLst/>
                        <a:latin typeface="quote-cjk-patch"/>
                      </a:endParaRPr>
                    </a:p>
                  </a:txBody>
                  <a:tcPr marL="87994" marR="146657" marT="91661" marB="916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sz="1700" b="1">
                          <a:effectLst/>
                          <a:latin typeface="quote-cjk-patch"/>
                        </a:rPr>
                        <a:t>Zebra GK420d</a:t>
                      </a:r>
                      <a:r>
                        <a:rPr lang="en-US" sz="1700" b="0">
                          <a:effectLst/>
                          <a:latin typeface="quote-cjk-patch"/>
                        </a:rPr>
                        <a:t> or </a:t>
                      </a:r>
                      <a:r>
                        <a:rPr lang="en-US" sz="1700" b="1">
                          <a:effectLst/>
                          <a:latin typeface="quote-cjk-patch"/>
                        </a:rPr>
                        <a:t>Brother QL-800</a:t>
                      </a:r>
                      <a:endParaRPr lang="en-US" sz="1700" b="0">
                        <a:effectLst/>
                        <a:latin typeface="quote-cjk-patch"/>
                      </a:endParaRPr>
                    </a:p>
                  </a:txBody>
                  <a:tcPr marL="146657" marR="146657" marT="91661" marB="916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1700" b="0">
                          <a:effectLst/>
                          <a:latin typeface="quote-cjk-patch"/>
                        </a:rPr>
                        <a:t>Print control number stickers</a:t>
                      </a:r>
                    </a:p>
                  </a:txBody>
                  <a:tcPr marL="146657" marR="87994" marT="91661" marB="916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0833628"/>
                  </a:ext>
                </a:extLst>
              </a:tr>
              <a:tr h="682934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1700" b="1">
                          <a:effectLst/>
                          <a:latin typeface="quote-cjk-patch"/>
                        </a:rPr>
                        <a:t>Label Type</a:t>
                      </a:r>
                      <a:endParaRPr lang="en-PH" sz="1700" b="0">
                        <a:effectLst/>
                        <a:latin typeface="quote-cjk-patch"/>
                      </a:endParaRPr>
                    </a:p>
                  </a:txBody>
                  <a:tcPr marL="87994" marR="146657" marT="91661" marB="916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sz="1700" b="0">
                          <a:effectLst/>
                          <a:latin typeface="quote-cjk-patch"/>
                        </a:rPr>
                        <a:t>Direct thermal labels (no ink/toner needed)</a:t>
                      </a:r>
                    </a:p>
                  </a:txBody>
                  <a:tcPr marL="146657" marR="146657" marT="91661" marB="916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1700" b="0">
                          <a:effectLst/>
                          <a:latin typeface="quote-cjk-patch"/>
                        </a:rPr>
                        <a:t>Cost-effective for stickers</a:t>
                      </a:r>
                    </a:p>
                  </a:txBody>
                  <a:tcPr marL="146657" marR="87994" marT="91661" marB="916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3995926"/>
                  </a:ext>
                </a:extLst>
              </a:tr>
              <a:tr h="1147348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1700" b="1">
                          <a:effectLst/>
                          <a:latin typeface="quote-cjk-patch"/>
                        </a:rPr>
                        <a:t>Transmittal Slip Printer</a:t>
                      </a:r>
                      <a:endParaRPr lang="en-PH" sz="1700" b="0">
                        <a:effectLst/>
                        <a:latin typeface="quote-cjk-patch"/>
                      </a:endParaRPr>
                    </a:p>
                  </a:txBody>
                  <a:tcPr marL="87994" marR="146657" marT="91661" marB="916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1700" b="0">
                          <a:effectLst/>
                          <a:latin typeface="quote-cjk-patch"/>
                        </a:rPr>
                        <a:t>Standard office laser printer (e.g., HP LaserJet)</a:t>
                      </a:r>
                    </a:p>
                  </a:txBody>
                  <a:tcPr marL="146657" marR="146657" marT="91661" marB="916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sz="1700" b="0">
                          <a:effectLst/>
                          <a:latin typeface="quote-cjk-patch"/>
                        </a:rPr>
                        <a:t>Print transmittal slips on plain paper</a:t>
                      </a:r>
                    </a:p>
                  </a:txBody>
                  <a:tcPr marL="146657" marR="87994" marT="91661" marB="916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47546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57111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58A2D6B-C61E-8265-E705-650F8B33B1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3810" y="2960716"/>
            <a:ext cx="4036334" cy="238760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1" fontAlgn="base" hangingPunct="1">
              <a:lnSpc>
                <a:spcPct val="90000"/>
              </a:lnSpc>
              <a:spcAft>
                <a:spcPts val="600"/>
              </a:spcAft>
              <a:buClrTx/>
              <a:buSzTx/>
              <a:tabLst/>
            </a:pPr>
            <a:r>
              <a:rPr kumimoji="0" lang="en-US" altLang="en-US" sz="5000" b="1" i="0" u="none" strike="noStrike" kern="1200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6. Networking Equipment</a:t>
            </a:r>
          </a:p>
          <a:p>
            <a:pPr marL="0" marR="0" lvl="0" indent="0" defTabSz="914400" eaLnBrk="1" fontAlgn="base" hangingPunct="1">
              <a:lnSpc>
                <a:spcPct val="90000"/>
              </a:lnSpc>
              <a:spcAft>
                <a:spcPts val="600"/>
              </a:spcAft>
              <a:buClrTx/>
              <a:buSzTx/>
              <a:tabLst/>
            </a:pPr>
            <a:endParaRPr kumimoji="0" lang="en-US" altLang="en-US" sz="5000" b="0" i="0" u="none" strike="noStrike" kern="1200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+mj-ea"/>
              <a:cs typeface="+mj-cs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84930C0-6A6A-6CA7-0603-F86A798375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714334"/>
              </p:ext>
            </p:extLst>
          </p:nvPr>
        </p:nvGraphicFramePr>
        <p:xfrm>
          <a:off x="5922492" y="1538567"/>
          <a:ext cx="5536002" cy="3722114"/>
        </p:xfrm>
        <a:graphic>
          <a:graphicData uri="http://schemas.openxmlformats.org/drawingml/2006/table">
            <a:tbl>
              <a:tblPr firstRow="1" bandRow="1"/>
              <a:tblGrid>
                <a:gridCol w="1542146">
                  <a:extLst>
                    <a:ext uri="{9D8B030D-6E8A-4147-A177-3AD203B41FA5}">
                      <a16:colId xmlns:a16="http://schemas.microsoft.com/office/drawing/2014/main" val="3754937646"/>
                    </a:ext>
                  </a:extLst>
                </a:gridCol>
                <a:gridCol w="2202923">
                  <a:extLst>
                    <a:ext uri="{9D8B030D-6E8A-4147-A177-3AD203B41FA5}">
                      <a16:colId xmlns:a16="http://schemas.microsoft.com/office/drawing/2014/main" val="4136593437"/>
                    </a:ext>
                  </a:extLst>
                </a:gridCol>
                <a:gridCol w="1790933">
                  <a:extLst>
                    <a:ext uri="{9D8B030D-6E8A-4147-A177-3AD203B41FA5}">
                      <a16:colId xmlns:a16="http://schemas.microsoft.com/office/drawing/2014/main" val="4168020884"/>
                    </a:ext>
                  </a:extLst>
                </a:gridCol>
              </a:tblGrid>
              <a:tr h="489347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</a:pPr>
                      <a:r>
                        <a:rPr lang="en-PH" sz="1900" b="1">
                          <a:effectLst/>
                          <a:latin typeface="quote-cjk-patch"/>
                        </a:rPr>
                        <a:t>Component</a:t>
                      </a:r>
                      <a:endParaRPr lang="en-PH" sz="1900" b="0">
                        <a:effectLst/>
                        <a:latin typeface="quote-cjk-patch"/>
                      </a:endParaRPr>
                    </a:p>
                  </a:txBody>
                  <a:tcPr marL="95534" marR="159223" marT="99515" marB="995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</a:pPr>
                      <a:r>
                        <a:rPr lang="en-PH" sz="1900" b="1">
                          <a:effectLst/>
                          <a:latin typeface="quote-cjk-patch"/>
                        </a:rPr>
                        <a:t>Recommendation</a:t>
                      </a:r>
                      <a:endParaRPr lang="en-PH" sz="1900" b="0">
                        <a:effectLst/>
                        <a:latin typeface="quote-cjk-patch"/>
                      </a:endParaRPr>
                    </a:p>
                  </a:txBody>
                  <a:tcPr marL="159223" marR="159223" marT="99515" marB="995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</a:pPr>
                      <a:r>
                        <a:rPr lang="en-PH" sz="1900" b="1">
                          <a:effectLst/>
                          <a:latin typeface="quote-cjk-patch"/>
                        </a:rPr>
                        <a:t>Purpose</a:t>
                      </a:r>
                      <a:endParaRPr lang="en-PH" sz="1900" b="0">
                        <a:effectLst/>
                        <a:latin typeface="quote-cjk-patch"/>
                      </a:endParaRPr>
                    </a:p>
                  </a:txBody>
                  <a:tcPr marL="159223" marR="159223" marT="99515" marB="995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3591411"/>
                  </a:ext>
                </a:extLst>
              </a:tr>
              <a:tr h="1245658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1900" b="1">
                          <a:effectLst/>
                          <a:latin typeface="quote-cjk-patch"/>
                        </a:rPr>
                        <a:t>Network Switch</a:t>
                      </a:r>
                      <a:endParaRPr lang="en-PH" sz="1900" b="0">
                        <a:effectLst/>
                        <a:latin typeface="quote-cjk-patch"/>
                      </a:endParaRPr>
                    </a:p>
                  </a:txBody>
                  <a:tcPr marL="95534" marR="159223" marT="99515" marB="995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sz="1900" b="0">
                          <a:effectLst/>
                          <a:latin typeface="quote-cjk-patch"/>
                        </a:rPr>
                        <a:t>Gigabit Ethernet switch (8+ ports)</a:t>
                      </a:r>
                    </a:p>
                  </a:txBody>
                  <a:tcPr marL="159223" marR="159223" marT="99515" marB="995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sz="1900" b="0">
                          <a:effectLst/>
                          <a:latin typeface="quote-cjk-patch"/>
                        </a:rPr>
                        <a:t>Connect server, workstations, scanner, printers</a:t>
                      </a:r>
                    </a:p>
                  </a:txBody>
                  <a:tcPr marL="159223" marR="95534" marT="99515" marB="995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8885909"/>
                  </a:ext>
                </a:extLst>
              </a:tr>
              <a:tr h="1245658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1900" b="1">
                          <a:effectLst/>
                          <a:latin typeface="quote-cjk-patch"/>
                        </a:rPr>
                        <a:t>Wi-Fi</a:t>
                      </a:r>
                      <a:endParaRPr lang="en-PH" sz="1900" b="0">
                        <a:effectLst/>
                        <a:latin typeface="quote-cjk-patch"/>
                      </a:endParaRPr>
                    </a:p>
                  </a:txBody>
                  <a:tcPr marL="95534" marR="159223" marT="99515" marB="995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sz="1900" b="0">
                          <a:effectLst/>
                          <a:latin typeface="quote-cjk-patch"/>
                        </a:rPr>
                        <a:t>Optional—wired recommended for reliability</a:t>
                      </a:r>
                    </a:p>
                  </a:txBody>
                  <a:tcPr marL="159223" marR="159223" marT="99515" marB="995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sz="1900" b="0">
                          <a:effectLst/>
                          <a:latin typeface="quote-cjk-patch"/>
                        </a:rPr>
                        <a:t>Wireless for staff convenience if needed</a:t>
                      </a:r>
                    </a:p>
                  </a:txBody>
                  <a:tcPr marL="159223" marR="95534" marT="99515" marB="995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4060215"/>
                  </a:ext>
                </a:extLst>
              </a:tr>
              <a:tr h="741451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1900" b="1">
                          <a:effectLst/>
                          <a:latin typeface="quote-cjk-patch"/>
                        </a:rPr>
                        <a:t>Cabling</a:t>
                      </a:r>
                      <a:endParaRPr lang="en-PH" sz="1900" b="0">
                        <a:effectLst/>
                        <a:latin typeface="quote-cjk-patch"/>
                      </a:endParaRPr>
                    </a:p>
                  </a:txBody>
                  <a:tcPr marL="95534" marR="159223" marT="99515" marB="995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1900" b="0">
                          <a:effectLst/>
                          <a:latin typeface="quote-cjk-patch"/>
                        </a:rPr>
                        <a:t>Cat5e or Cat6 Ethernet cables</a:t>
                      </a:r>
                    </a:p>
                  </a:txBody>
                  <a:tcPr marL="159223" marR="159223" marT="99515" marB="995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PH" sz="1900" b="0">
                          <a:effectLst/>
                          <a:latin typeface="quote-cjk-patch"/>
                        </a:rPr>
                        <a:t>Stable network connections</a:t>
                      </a:r>
                    </a:p>
                  </a:txBody>
                  <a:tcPr marL="159223" marR="95534" marT="99515" marB="995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19478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32701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A94805-9074-1BFA-F28E-DA81B80B7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496" y="1587970"/>
            <a:ext cx="11033008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TextBox 1">
            <a:extLst>
              <a:ext uri="{FF2B5EF4-FFF2-40B4-BE49-F238E27FC236}">
                <a16:creationId xmlns:a16="http://schemas.microsoft.com/office/drawing/2014/main" id="{F14E6BFA-8EAE-1808-6380-7894A38A630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18778999"/>
              </p:ext>
            </p:extLst>
          </p:nvPr>
        </p:nvGraphicFramePr>
        <p:xfrm>
          <a:off x="838200" y="1800911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199407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493</TotalTime>
  <Words>1841</Words>
  <Application>Microsoft Office PowerPoint</Application>
  <PresentationFormat>Widescreen</PresentationFormat>
  <Paragraphs>363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AngsanaUPC</vt:lpstr>
      <vt:lpstr>Aptos</vt:lpstr>
      <vt:lpstr>Aptos Display</vt:lpstr>
      <vt:lpstr>Arial</vt:lpstr>
      <vt:lpstr>quote-cjk-patch</vt:lpstr>
      <vt:lpstr>Wingdings</vt:lpstr>
      <vt:lpstr>Office Theme</vt:lpstr>
      <vt:lpstr>Records Process Flow Improvement </vt:lpstr>
      <vt:lpstr>Records Process Flow Improvement  Incoming Communications</vt:lpstr>
      <vt:lpstr>Records Process Flow Improvement  Outgoing Communications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Records Process Flow Improvement </dc:title>
  <dc:creator>Irish Gabrielle Hortillosa</dc:creator>
  <cp:lastModifiedBy>PMO NBB Records</cp:lastModifiedBy>
  <cp:revision>7</cp:revision>
  <dcterms:created xsi:type="dcterms:W3CDTF">2026-02-02T13:28:26Z</dcterms:created>
  <dcterms:modified xsi:type="dcterms:W3CDTF">2026-02-20T05:13:20Z</dcterms:modified>
</cp:coreProperties>
</file>